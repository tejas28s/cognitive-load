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E3821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E3821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19574" y="2800346"/>
            <a:ext cx="3752850" cy="1257300"/>
          </a:xfrm>
          <a:custGeom>
            <a:avLst/>
            <a:gdLst/>
            <a:ahLst/>
            <a:cxnLst/>
            <a:rect l="l" t="t" r="r" b="b"/>
            <a:pathLst>
              <a:path w="3752850" h="1257300">
                <a:moveTo>
                  <a:pt x="3672753" y="1257299"/>
                </a:moveTo>
                <a:lnTo>
                  <a:pt x="80096" y="1257299"/>
                </a:lnTo>
                <a:lnTo>
                  <a:pt x="74521" y="1256751"/>
                </a:lnTo>
                <a:lnTo>
                  <a:pt x="33418" y="1239710"/>
                </a:lnTo>
                <a:lnTo>
                  <a:pt x="8679" y="1209572"/>
                </a:lnTo>
                <a:lnTo>
                  <a:pt x="0" y="1177202"/>
                </a:lnTo>
                <a:lnTo>
                  <a:pt x="0" y="1171574"/>
                </a:lnTo>
                <a:lnTo>
                  <a:pt x="0" y="80097"/>
                </a:lnTo>
                <a:lnTo>
                  <a:pt x="11319" y="42769"/>
                </a:lnTo>
                <a:lnTo>
                  <a:pt x="42779" y="11310"/>
                </a:lnTo>
                <a:lnTo>
                  <a:pt x="80096" y="0"/>
                </a:lnTo>
                <a:lnTo>
                  <a:pt x="3672753" y="0"/>
                </a:lnTo>
                <a:lnTo>
                  <a:pt x="3710070" y="11310"/>
                </a:lnTo>
                <a:lnTo>
                  <a:pt x="3741529" y="42769"/>
                </a:lnTo>
                <a:lnTo>
                  <a:pt x="3752849" y="80097"/>
                </a:lnTo>
                <a:lnTo>
                  <a:pt x="3752849" y="1177202"/>
                </a:lnTo>
                <a:lnTo>
                  <a:pt x="3741528" y="1214511"/>
                </a:lnTo>
                <a:lnTo>
                  <a:pt x="3710070" y="1245969"/>
                </a:lnTo>
                <a:lnTo>
                  <a:pt x="3678327" y="1256751"/>
                </a:lnTo>
                <a:lnTo>
                  <a:pt x="3672753" y="12572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19574" y="2800346"/>
            <a:ext cx="3752850" cy="1257300"/>
          </a:xfrm>
          <a:custGeom>
            <a:avLst/>
            <a:gdLst/>
            <a:ahLst/>
            <a:cxnLst/>
            <a:rect l="l" t="t" r="r" b="b"/>
            <a:pathLst>
              <a:path w="3752850" h="1257300">
                <a:moveTo>
                  <a:pt x="0" y="1171574"/>
                </a:moveTo>
                <a:lnTo>
                  <a:pt x="0" y="85724"/>
                </a:lnTo>
                <a:lnTo>
                  <a:pt x="0" y="80097"/>
                </a:lnTo>
                <a:lnTo>
                  <a:pt x="549" y="74515"/>
                </a:lnTo>
                <a:lnTo>
                  <a:pt x="1647" y="68991"/>
                </a:lnTo>
                <a:lnTo>
                  <a:pt x="2745" y="63475"/>
                </a:lnTo>
                <a:lnTo>
                  <a:pt x="4370" y="58117"/>
                </a:lnTo>
                <a:lnTo>
                  <a:pt x="6525" y="52918"/>
                </a:lnTo>
                <a:lnTo>
                  <a:pt x="8679" y="47718"/>
                </a:lnTo>
                <a:lnTo>
                  <a:pt x="25108" y="25105"/>
                </a:lnTo>
                <a:lnTo>
                  <a:pt x="29088" y="21124"/>
                </a:lnTo>
                <a:lnTo>
                  <a:pt x="52919" y="6520"/>
                </a:lnTo>
                <a:lnTo>
                  <a:pt x="58119" y="4362"/>
                </a:lnTo>
                <a:lnTo>
                  <a:pt x="63480" y="2734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3667124" y="0"/>
                </a:lnTo>
                <a:lnTo>
                  <a:pt x="3672753" y="0"/>
                </a:lnTo>
                <a:lnTo>
                  <a:pt x="3678327" y="548"/>
                </a:lnTo>
                <a:lnTo>
                  <a:pt x="3683848" y="1646"/>
                </a:lnTo>
                <a:lnTo>
                  <a:pt x="3689369" y="2734"/>
                </a:lnTo>
                <a:lnTo>
                  <a:pt x="3694729" y="4362"/>
                </a:lnTo>
                <a:lnTo>
                  <a:pt x="3699929" y="6520"/>
                </a:lnTo>
                <a:lnTo>
                  <a:pt x="3705130" y="8669"/>
                </a:lnTo>
                <a:lnTo>
                  <a:pt x="3710070" y="11310"/>
                </a:lnTo>
                <a:lnTo>
                  <a:pt x="3714749" y="14445"/>
                </a:lnTo>
                <a:lnTo>
                  <a:pt x="3719430" y="17570"/>
                </a:lnTo>
                <a:lnTo>
                  <a:pt x="3723760" y="21124"/>
                </a:lnTo>
                <a:lnTo>
                  <a:pt x="3727741" y="25105"/>
                </a:lnTo>
                <a:lnTo>
                  <a:pt x="3731721" y="29076"/>
                </a:lnTo>
                <a:lnTo>
                  <a:pt x="3750103" y="63475"/>
                </a:lnTo>
                <a:lnTo>
                  <a:pt x="3752849" y="85724"/>
                </a:lnTo>
                <a:lnTo>
                  <a:pt x="3752849" y="1171574"/>
                </a:lnTo>
                <a:lnTo>
                  <a:pt x="3752849" y="1177202"/>
                </a:lnTo>
                <a:lnTo>
                  <a:pt x="3752300" y="1182774"/>
                </a:lnTo>
                <a:lnTo>
                  <a:pt x="3751201" y="1188290"/>
                </a:lnTo>
                <a:lnTo>
                  <a:pt x="3750103" y="1193815"/>
                </a:lnTo>
                <a:lnTo>
                  <a:pt x="3738401" y="1219190"/>
                </a:lnTo>
                <a:lnTo>
                  <a:pt x="3735274" y="1223869"/>
                </a:lnTo>
                <a:lnTo>
                  <a:pt x="3705130" y="1248612"/>
                </a:lnTo>
                <a:lnTo>
                  <a:pt x="3672753" y="1257299"/>
                </a:lnTo>
                <a:lnTo>
                  <a:pt x="3667124" y="1257299"/>
                </a:lnTo>
                <a:lnTo>
                  <a:pt x="85725" y="1257299"/>
                </a:lnTo>
                <a:lnTo>
                  <a:pt x="80096" y="1257299"/>
                </a:lnTo>
                <a:lnTo>
                  <a:pt x="74521" y="1256751"/>
                </a:lnTo>
                <a:lnTo>
                  <a:pt x="38098" y="1242844"/>
                </a:lnTo>
                <a:lnTo>
                  <a:pt x="14447" y="1219190"/>
                </a:lnTo>
                <a:lnTo>
                  <a:pt x="11319" y="1214511"/>
                </a:lnTo>
                <a:lnTo>
                  <a:pt x="8679" y="1209572"/>
                </a:lnTo>
                <a:lnTo>
                  <a:pt x="6525" y="1204373"/>
                </a:lnTo>
                <a:lnTo>
                  <a:pt x="4370" y="1199173"/>
                </a:lnTo>
                <a:lnTo>
                  <a:pt x="2745" y="1193815"/>
                </a:lnTo>
                <a:lnTo>
                  <a:pt x="1647" y="1188290"/>
                </a:lnTo>
                <a:lnTo>
                  <a:pt x="549" y="1182774"/>
                </a:lnTo>
                <a:lnTo>
                  <a:pt x="0" y="1177202"/>
                </a:lnTo>
                <a:lnTo>
                  <a:pt x="0" y="1171574"/>
                </a:lnTo>
                <a:close/>
              </a:path>
            </a:pathLst>
          </a:custGeom>
          <a:ln w="19049">
            <a:solidFill>
              <a:srgbClr val="E382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9069" y="479456"/>
            <a:ext cx="7713860" cy="485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9523" y="1330325"/>
            <a:ext cx="9778365" cy="4378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E3821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17056" y="936656"/>
            <a:ext cx="51574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UE22CS441A</a:t>
            </a:r>
            <a:r>
              <a:rPr sz="2200" spc="-170" dirty="0"/>
              <a:t> </a:t>
            </a:r>
            <a:r>
              <a:rPr sz="2200" dirty="0"/>
              <a:t>–</a:t>
            </a:r>
            <a:r>
              <a:rPr sz="2200" spc="-60" dirty="0"/>
              <a:t> </a:t>
            </a:r>
            <a:r>
              <a:rPr sz="2200" dirty="0"/>
              <a:t>Capstone</a:t>
            </a:r>
            <a:r>
              <a:rPr sz="2200" spc="-70" dirty="0"/>
              <a:t> </a:t>
            </a:r>
            <a:r>
              <a:rPr sz="2200" dirty="0"/>
              <a:t>Project</a:t>
            </a:r>
            <a:r>
              <a:rPr sz="2200" spc="-60" dirty="0"/>
              <a:t> </a:t>
            </a:r>
            <a:r>
              <a:rPr sz="2200" dirty="0"/>
              <a:t>Phase</a:t>
            </a:r>
            <a:r>
              <a:rPr sz="2200" spc="-70" dirty="0"/>
              <a:t> </a:t>
            </a:r>
            <a:r>
              <a:rPr sz="2200" dirty="0"/>
              <a:t>–</a:t>
            </a:r>
            <a:r>
              <a:rPr sz="2200" spc="-60" dirty="0"/>
              <a:t> </a:t>
            </a:r>
            <a:r>
              <a:rPr sz="2200" spc="-50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575694" y="1479581"/>
            <a:ext cx="504063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BD582B"/>
                </a:solidFill>
                <a:latin typeface="Trebuchet MS"/>
                <a:cs typeface="Trebuchet MS"/>
              </a:rPr>
              <a:t>Project</a:t>
            </a:r>
            <a:r>
              <a:rPr sz="2200" b="1" spc="-2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BD582B"/>
                </a:solidFill>
                <a:latin typeface="Trebuchet MS"/>
                <a:cs typeface="Trebuchet MS"/>
              </a:rPr>
              <a:t>Progress</a:t>
            </a:r>
            <a:r>
              <a:rPr sz="2200" b="1" spc="-1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BD582B"/>
                </a:solidFill>
                <a:latin typeface="Trebuchet MS"/>
                <a:cs typeface="Trebuchet MS"/>
              </a:rPr>
              <a:t>Review</a:t>
            </a:r>
            <a:r>
              <a:rPr sz="2200" b="1" spc="-1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BD582B"/>
                </a:solidFill>
                <a:latin typeface="Trebuchet MS"/>
                <a:cs typeface="Trebuchet MS"/>
              </a:rPr>
              <a:t>#</a:t>
            </a:r>
            <a:r>
              <a:rPr sz="2200" b="1" spc="-1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2200" b="1" spc="-50" dirty="0">
                <a:solidFill>
                  <a:srgbClr val="BD582B"/>
                </a:solidFill>
                <a:latin typeface="Trebuchet MS"/>
                <a:cs typeface="Trebuchet MS"/>
              </a:rPr>
              <a:t>1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200">
              <a:latin typeface="Trebuchet MS"/>
              <a:cs typeface="Trebuchet MS"/>
            </a:endParaRPr>
          </a:p>
          <a:p>
            <a:pPr marL="12700" marR="5080" algn="ctr">
              <a:lnSpc>
                <a:spcPct val="106600"/>
              </a:lnSpc>
            </a:pP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Cognitive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Load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Estimation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from</a:t>
            </a:r>
            <a:r>
              <a:rPr sz="1700" i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EEG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+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fNIRS</a:t>
            </a:r>
            <a:r>
              <a:rPr sz="1700" i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1A1A1A"/>
                </a:solidFill>
                <a:latin typeface="Trebuchet MS"/>
                <a:cs typeface="Trebuchet MS"/>
              </a:rPr>
              <a:t>Signals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z="1700" i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Hybrid</a:t>
            </a:r>
            <a:r>
              <a:rPr sz="1700" i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1A1A1A"/>
                </a:solidFill>
                <a:latin typeface="Trebuchet MS"/>
                <a:cs typeface="Trebuchet MS"/>
              </a:rPr>
              <a:t>Deep</a:t>
            </a:r>
            <a:r>
              <a:rPr sz="170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1A1A1A"/>
                </a:solidFill>
                <a:latin typeface="Trebuchet MS"/>
                <a:cs typeface="Trebuchet MS"/>
              </a:rPr>
              <a:t>Learning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100" y="4076058"/>
            <a:ext cx="1410970" cy="15208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53600"/>
              </a:lnSpc>
              <a:spcBef>
                <a:spcPts val="75"/>
              </a:spcBef>
            </a:pPr>
            <a:r>
              <a:rPr sz="1600" spc="-1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r>
              <a:rPr sz="1600" spc="-7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38212"/>
                </a:solidFill>
                <a:latin typeface="Trebuchet MS"/>
                <a:cs typeface="Trebuchet MS"/>
              </a:rPr>
              <a:t>Title</a:t>
            </a:r>
            <a:r>
              <a:rPr sz="1600" spc="38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E38212"/>
                </a:solidFill>
                <a:latin typeface="Trebuchet MS"/>
                <a:cs typeface="Trebuchet MS"/>
              </a:rPr>
              <a:t>: </a:t>
            </a:r>
            <a:r>
              <a:rPr sz="160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r>
              <a:rPr sz="16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38212"/>
                </a:solidFill>
                <a:latin typeface="Trebuchet MS"/>
                <a:cs typeface="Trebuchet MS"/>
              </a:rPr>
              <a:t>ID</a:t>
            </a:r>
            <a:r>
              <a:rPr sz="1600" spc="445" dirty="0">
                <a:solidFill>
                  <a:srgbClr val="E38212"/>
                </a:solidFill>
                <a:latin typeface="Trebuchet MS"/>
                <a:cs typeface="Trebuchet MS"/>
              </a:rPr>
              <a:t>   </a:t>
            </a:r>
            <a:r>
              <a:rPr sz="1600" spc="-50" dirty="0">
                <a:solidFill>
                  <a:srgbClr val="E38212"/>
                </a:solidFill>
                <a:latin typeface="Trebuchet MS"/>
                <a:cs typeface="Trebuchet MS"/>
              </a:rPr>
              <a:t>: </a:t>
            </a:r>
            <a:r>
              <a:rPr sz="160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r>
              <a:rPr sz="1600" spc="-8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38212"/>
                </a:solidFill>
                <a:latin typeface="Trebuchet MS"/>
                <a:cs typeface="Trebuchet MS"/>
              </a:rPr>
              <a:t>Guide</a:t>
            </a:r>
            <a:r>
              <a:rPr sz="1600" spc="-8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E38212"/>
                </a:solidFill>
                <a:latin typeface="Trebuchet MS"/>
                <a:cs typeface="Trebuchet MS"/>
              </a:rPr>
              <a:t>: </a:t>
            </a:r>
            <a:r>
              <a:rPr sz="1600" spc="-1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r>
              <a:rPr sz="1600" spc="-7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E38212"/>
                </a:solidFill>
                <a:latin typeface="Trebuchet MS"/>
                <a:cs typeface="Trebuchet MS"/>
              </a:rPr>
              <a:t>Team</a:t>
            </a:r>
            <a:r>
              <a:rPr sz="1600" spc="-50" dirty="0">
                <a:solidFill>
                  <a:srgbClr val="E38212"/>
                </a:solidFill>
                <a:latin typeface="Trebuchet MS"/>
                <a:cs typeface="Trebuchet MS"/>
              </a:rPr>
              <a:t> 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370" y="4203731"/>
            <a:ext cx="40093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Cognitive</a:t>
            </a:r>
            <a:r>
              <a:rPr sz="1600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Load</a:t>
            </a:r>
            <a:r>
              <a:rPr sz="160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Estimation</a:t>
            </a:r>
            <a:r>
              <a:rPr sz="1600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from</a:t>
            </a:r>
            <a:r>
              <a:rPr sz="160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EEG</a:t>
            </a:r>
            <a:r>
              <a:rPr sz="160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1A1A1A"/>
                </a:solidFill>
                <a:latin typeface="Trebuchet MS"/>
                <a:cs typeface="Trebuchet MS"/>
              </a:rPr>
              <a:t>+</a:t>
            </a:r>
            <a:r>
              <a:rPr sz="1600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Trebuchet MS"/>
                <a:cs typeface="Trebuchet MS"/>
              </a:rPr>
              <a:t>fNIRS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6" name="object 6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759205" y="425450"/>
            <a:ext cx="1028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Outline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349523" y="1358900"/>
            <a:ext cx="4558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Abstract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and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Scope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Summary</a:t>
            </a:r>
            <a:r>
              <a:rPr sz="1500" spc="-4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Work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Done</a:t>
            </a:r>
            <a:r>
              <a:rPr sz="1500" spc="-4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in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Capstone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Project</a:t>
            </a:r>
            <a:r>
              <a:rPr sz="1500" spc="-4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Phase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–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E38212"/>
                </a:solidFill>
                <a:latin typeface="Trebuchet MS"/>
                <a:cs typeface="Trebuchet MS"/>
              </a:rPr>
              <a:t>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8770" y="13684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770" y="17494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8731" y="2117756"/>
            <a:ext cx="49980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Preprocessing,</a:t>
            </a:r>
            <a:r>
              <a:rPr sz="1300" spc="-1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hybrid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model,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and</a:t>
            </a:r>
            <a:r>
              <a:rPr sz="1300" spc="-1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leakage-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audited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LOSO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 evaluation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Binary</a:t>
            </a:r>
            <a:r>
              <a:rPr sz="1300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reframing</a:t>
            </a:r>
            <a:r>
              <a:rPr sz="1300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and</a:t>
            </a:r>
            <a:r>
              <a:rPr sz="1300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42-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experiment</a:t>
            </a:r>
            <a:r>
              <a:rPr sz="1300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BD582B"/>
                </a:solidFill>
                <a:latin typeface="Trebuchet MS"/>
                <a:cs typeface="Trebuchet MS"/>
              </a:rPr>
              <a:t>improvement</a:t>
            </a:r>
            <a:r>
              <a:rPr sz="1300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BD582B"/>
                </a:solidFill>
                <a:latin typeface="Trebuchet MS"/>
                <a:cs typeface="Trebuchet MS"/>
              </a:rPr>
              <a:t>campaign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7829" y="2127281"/>
            <a:ext cx="704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7829" y="2470181"/>
            <a:ext cx="704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9523" y="2806700"/>
            <a:ext cx="5040630" cy="291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Inferences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Drawn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from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Literature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Survey</a:t>
            </a:r>
            <a:endParaRPr sz="1500">
              <a:latin typeface="Trebuchet MS"/>
              <a:cs typeface="Trebuchet MS"/>
            </a:endParaRPr>
          </a:p>
          <a:p>
            <a:pPr marL="12700" marR="645160">
              <a:lnSpc>
                <a:spcPct val="166700"/>
              </a:lnSpc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List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5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Tasks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Modules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with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Individual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Contribution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Design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Overall</a:t>
            </a:r>
            <a:r>
              <a:rPr sz="1500" spc="-9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Architecture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Demonstration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and</a:t>
            </a:r>
            <a:r>
              <a:rPr sz="1500" spc="-6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Testing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Completed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Modules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62500"/>
              </a:lnSpc>
              <a:spcBef>
                <a:spcPts val="75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Key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Results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Confusion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Matrix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&amp;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Per-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Subject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Performance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Explainability</a:t>
            </a:r>
            <a:r>
              <a:rPr sz="1500" spc="-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SHAP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&amp;</a:t>
            </a:r>
            <a:r>
              <a:rPr sz="1500" spc="-9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Attention</a:t>
            </a:r>
            <a:r>
              <a:rPr sz="1500" spc="-8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Analysis</a:t>
            </a:r>
            <a:endParaRPr sz="1500">
              <a:latin typeface="Trebuchet MS"/>
              <a:cs typeface="Trebuchet MS"/>
            </a:endParaRPr>
          </a:p>
          <a:p>
            <a:pPr marL="12700" marR="808355">
              <a:lnSpc>
                <a:spcPct val="166700"/>
              </a:lnSpc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Experiment</a:t>
            </a:r>
            <a:r>
              <a:rPr sz="1500" spc="-3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Campaign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Rigor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&amp;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Negative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Results References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770" y="2816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770" y="3197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770" y="3578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770" y="3959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8770" y="4340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8770" y="47117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8770" y="50927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8770" y="54737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9" name="object 19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2436495">
              <a:lnSpc>
                <a:spcPct val="100000"/>
              </a:lnSpc>
              <a:spcBef>
                <a:spcPts val="100"/>
              </a:spcBef>
            </a:pPr>
            <a:r>
              <a:rPr dirty="0"/>
              <a:t>Abstract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8770" y="1412906"/>
            <a:ext cx="5979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Mental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workload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cannot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be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measured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directly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—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it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has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to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be</a:t>
            </a:r>
            <a:r>
              <a:rPr sz="1300" spc="26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inferred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1A1A1A"/>
                </a:solidFill>
                <a:latin typeface="Trebuchet MS"/>
                <a:cs typeface="Trebuchet MS"/>
              </a:rPr>
              <a:t>from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8770" y="1601463"/>
            <a:ext cx="5980430" cy="167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18600"/>
              </a:lnSpc>
              <a:spcBef>
                <a:spcPts val="125"/>
              </a:spcBef>
            </a:pP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physiological</a:t>
            </a:r>
            <a:r>
              <a:rPr sz="1300" spc="22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signals.</a:t>
            </a:r>
            <a:r>
              <a:rPr sz="1300" spc="21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This</a:t>
            </a:r>
            <a:r>
              <a:rPr sz="1300" spc="22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project</a:t>
            </a:r>
            <a:r>
              <a:rPr sz="1300" spc="22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estimates</a:t>
            </a:r>
            <a:r>
              <a:rPr sz="1300" spc="225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cognitive</a:t>
            </a:r>
            <a:r>
              <a:rPr sz="1300" spc="22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load</a:t>
            </a:r>
            <a:r>
              <a:rPr sz="1300" spc="220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from</a:t>
            </a:r>
            <a:r>
              <a:rPr sz="1300" spc="225" dirty="0">
                <a:solidFill>
                  <a:srgbClr val="1A1A1A"/>
                </a:solidFill>
                <a:latin typeface="Trebuchet MS"/>
                <a:cs typeface="Trebuchet MS"/>
              </a:rPr>
              <a:t>  </a:t>
            </a:r>
            <a:r>
              <a:rPr sz="1300" spc="-25" dirty="0">
                <a:solidFill>
                  <a:srgbClr val="1A1A1A"/>
                </a:solidFill>
                <a:latin typeface="Trebuchet MS"/>
                <a:cs typeface="Trebuchet MS"/>
              </a:rPr>
              <a:t>two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complementary</a:t>
            </a:r>
            <a:r>
              <a:rPr sz="1300" spc="8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brain</a:t>
            </a:r>
            <a:r>
              <a:rPr sz="1300" spc="8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signals</a:t>
            </a:r>
            <a:r>
              <a:rPr sz="1300" spc="8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recorded</a:t>
            </a:r>
            <a:r>
              <a:rPr sz="1300" spc="8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simultaneously:</a:t>
            </a:r>
            <a:r>
              <a:rPr sz="1300" spc="8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E38212"/>
                </a:solidFill>
                <a:latin typeface="Trebuchet MS"/>
                <a:cs typeface="Trebuchet MS"/>
              </a:rPr>
              <a:t>EEG</a:t>
            </a:r>
            <a:r>
              <a:rPr sz="1300" b="1" spc="8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(electrical</a:t>
            </a:r>
            <a:r>
              <a:rPr sz="1300" spc="8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activity,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200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Hz,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fast</a:t>
            </a:r>
            <a:r>
              <a:rPr sz="1300" spc="27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but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noisy)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00" spc="27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E38212"/>
                </a:solidFill>
                <a:latin typeface="Trebuchet MS"/>
                <a:cs typeface="Trebuchet MS"/>
              </a:rPr>
              <a:t>fNIRS</a:t>
            </a:r>
            <a:r>
              <a:rPr sz="1300" b="1" spc="27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(hemodynamic/blood-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oxygenation</a:t>
            </a:r>
            <a:r>
              <a:rPr sz="1300" spc="2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activity,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10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Hz,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slower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but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stable),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the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open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A1A1A"/>
                </a:solidFill>
                <a:latin typeface="Trebuchet MS"/>
                <a:cs typeface="Trebuchet MS"/>
              </a:rPr>
              <a:t>TU</a:t>
            </a:r>
            <a:r>
              <a:rPr sz="1300"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A1A1A"/>
                </a:solidFill>
                <a:latin typeface="Trebuchet MS"/>
                <a:cs typeface="Trebuchet MS"/>
              </a:rPr>
              <a:t>Berlin</a:t>
            </a:r>
            <a:r>
              <a:rPr sz="1300"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A1A1A"/>
                </a:solidFill>
                <a:latin typeface="Trebuchet MS"/>
                <a:cs typeface="Trebuchet MS"/>
              </a:rPr>
              <a:t>n-back</a:t>
            </a:r>
            <a:r>
              <a:rPr sz="1300"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A1A1A"/>
                </a:solidFill>
                <a:latin typeface="Trebuchet MS"/>
                <a:cs typeface="Trebuchet MS"/>
              </a:rPr>
              <a:t>dataset</a:t>
            </a:r>
            <a:r>
              <a:rPr sz="1300"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(Shin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et</a:t>
            </a:r>
            <a:r>
              <a:rPr sz="130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1A1A1A"/>
                </a:solidFill>
                <a:latin typeface="Trebuchet MS"/>
                <a:cs typeface="Trebuchet MS"/>
              </a:rPr>
              <a:t>al.,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2018)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—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26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subjects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performing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0-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back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/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2-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back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/</a:t>
            </a:r>
            <a:r>
              <a:rPr sz="1300" spc="3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3-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back</a:t>
            </a:r>
            <a:r>
              <a:rPr sz="1300" spc="3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working-memory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tasks,</a:t>
            </a:r>
            <a:r>
              <a:rPr sz="1300" spc="1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z="1300" spc="19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experimentally</a:t>
            </a:r>
            <a:r>
              <a:rPr sz="1300" spc="1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imposed</a:t>
            </a:r>
            <a:r>
              <a:rPr sz="1300" spc="1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workload</a:t>
            </a:r>
            <a:r>
              <a:rPr sz="1300" spc="19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level</a:t>
            </a:r>
            <a:r>
              <a:rPr sz="1300" spc="1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that</a:t>
            </a:r>
            <a:r>
              <a:rPr sz="1300" spc="19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gives</a:t>
            </a:r>
            <a:r>
              <a:rPr sz="1300" spc="1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1A1A1A"/>
                </a:solidFill>
                <a:latin typeface="Trebuchet MS"/>
                <a:cs typeface="Trebuchet MS"/>
              </a:rPr>
              <a:t>objective</a:t>
            </a:r>
            <a:r>
              <a:rPr sz="1300" spc="19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1A1A1A"/>
                </a:solidFill>
                <a:latin typeface="Trebuchet MS"/>
                <a:cs typeface="Trebuchet MS"/>
              </a:rPr>
              <a:t>ground truth.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770" y="3392163"/>
            <a:ext cx="5979795" cy="730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17800"/>
              </a:lnSpc>
              <a:spcBef>
                <a:spcPts val="135"/>
              </a:spcBef>
            </a:pPr>
            <a:r>
              <a:rPr sz="1300" b="1"/>
              <a:t>A hybrid deep-learning network</a:t>
            </a:r>
            <a:r>
              <a:rPr sz="1300" b="0">
                <a:solidFill>
                  <a:srgbClr val="1A1A1A"/>
                </a:solidFill>
                <a:latin typeface="Trebuchet MS"/>
              </a:rPr>
              <a:t> — per-modality residual-MLP encoders fused through a learned attention gate — predicts Low / High cognitive load, a binary reframing of the dataset's original 0-back / 2-back / 3-back protocol (the clearest-contrast pair, 0-back vs 3-back).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770" y="4239888"/>
            <a:ext cx="5980430" cy="1196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17800"/>
              </a:lnSpc>
              <a:spcBef>
                <a:spcPts val="135"/>
              </a:spcBef>
            </a:pPr>
            <a:r>
              <a:rPr sz="1300" b="1"/>
              <a:t>Scope:</a:t>
            </a:r>
            <a:r>
              <a:rPr sz="1300" b="0">
                <a:solidFill>
                  <a:srgbClr val="1A1A1A"/>
                </a:solidFill>
                <a:latin typeface="Trebuchet MS"/>
              </a:rPr>
              <a:t> (1) an end-to-end, leakage-audited pipeline; (2) an honest headline metric — 26-fold leave-one-subject-out (LOSO) accuracy plus an 8-subject lockbox confirmed once, never used to pick a model (right); (3) a full-stack demo where every UI number traces to a committed artifact; (4) attention-gate explainability, with SHAP recomputation for the binary model pending; (5) a documented negative result — 42 controlled experiments, none beating the served baseline — as evidence of rigor, not hidden.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96149" y="1419224"/>
            <a:ext cx="3848100" cy="3257550"/>
            <a:chOff x="7296149" y="1419224"/>
            <a:chExt cx="3848100" cy="3257550"/>
          </a:xfrm>
        </p:grpSpPr>
        <p:sp>
          <p:nvSpPr>
            <p:cNvPr id="9" name="object 9"/>
            <p:cNvSpPr/>
            <p:nvPr/>
          </p:nvSpPr>
          <p:spPr>
            <a:xfrm>
              <a:off x="7300911" y="1423986"/>
              <a:ext cx="3838575" cy="3248025"/>
            </a:xfrm>
            <a:custGeom>
              <a:avLst/>
              <a:gdLst/>
              <a:ahLst/>
              <a:cxnLst/>
              <a:rect l="l" t="t" r="r" b="b"/>
              <a:pathLst>
                <a:path w="3838575" h="3248025">
                  <a:moveTo>
                    <a:pt x="3771828" y="3248023"/>
                  </a:moveTo>
                  <a:lnTo>
                    <a:pt x="66747" y="3248023"/>
                  </a:lnTo>
                  <a:lnTo>
                    <a:pt x="62100" y="3247565"/>
                  </a:lnTo>
                  <a:lnTo>
                    <a:pt x="24240" y="3230414"/>
                  </a:lnTo>
                  <a:lnTo>
                    <a:pt x="2287" y="3195121"/>
                  </a:lnTo>
                  <a:lnTo>
                    <a:pt x="0" y="3181277"/>
                  </a:lnTo>
                  <a:lnTo>
                    <a:pt x="0" y="3176587"/>
                  </a:lnTo>
                  <a:lnTo>
                    <a:pt x="0" y="66745"/>
                  </a:lnTo>
                  <a:lnTo>
                    <a:pt x="14645" y="27847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771828" y="0"/>
                  </a:lnTo>
                  <a:lnTo>
                    <a:pt x="3810725" y="14643"/>
                  </a:lnTo>
                  <a:lnTo>
                    <a:pt x="3834932" y="48431"/>
                  </a:lnTo>
                  <a:lnTo>
                    <a:pt x="3838575" y="66745"/>
                  </a:lnTo>
                  <a:lnTo>
                    <a:pt x="3838575" y="3181277"/>
                  </a:lnTo>
                  <a:lnTo>
                    <a:pt x="3823929" y="3220172"/>
                  </a:lnTo>
                  <a:lnTo>
                    <a:pt x="3790141" y="3244378"/>
                  </a:lnTo>
                  <a:lnTo>
                    <a:pt x="3776473" y="3247565"/>
                  </a:lnTo>
                  <a:lnTo>
                    <a:pt x="3771828" y="3248023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0911" y="1423986"/>
              <a:ext cx="3838575" cy="3248025"/>
            </a:xfrm>
            <a:custGeom>
              <a:avLst/>
              <a:gdLst/>
              <a:ahLst/>
              <a:cxnLst/>
              <a:rect l="l" t="t" r="r" b="b"/>
              <a:pathLst>
                <a:path w="3838575" h="3248025">
                  <a:moveTo>
                    <a:pt x="0" y="3176587"/>
                  </a:moveTo>
                  <a:lnTo>
                    <a:pt x="0" y="71437"/>
                  </a:lnTo>
                  <a:lnTo>
                    <a:pt x="0" y="66745"/>
                  </a:lnTo>
                  <a:lnTo>
                    <a:pt x="457" y="62099"/>
                  </a:lnTo>
                  <a:lnTo>
                    <a:pt x="1372" y="57498"/>
                  </a:lnTo>
                  <a:lnTo>
                    <a:pt x="2287" y="52897"/>
                  </a:lnTo>
                  <a:lnTo>
                    <a:pt x="3642" y="48431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3" y="35647"/>
                  </a:lnTo>
                  <a:lnTo>
                    <a:pt x="12038" y="31748"/>
                  </a:lnTo>
                  <a:lnTo>
                    <a:pt x="14645" y="27847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5"/>
                  </a:lnTo>
                  <a:lnTo>
                    <a:pt x="27848" y="14643"/>
                  </a:lnTo>
                  <a:lnTo>
                    <a:pt x="31749" y="12037"/>
                  </a:lnTo>
                  <a:lnTo>
                    <a:pt x="35648" y="9431"/>
                  </a:lnTo>
                  <a:lnTo>
                    <a:pt x="57500" y="1371"/>
                  </a:lnTo>
                  <a:lnTo>
                    <a:pt x="62100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767137" y="0"/>
                  </a:lnTo>
                  <a:lnTo>
                    <a:pt x="3771828" y="0"/>
                  </a:lnTo>
                  <a:lnTo>
                    <a:pt x="3776473" y="456"/>
                  </a:lnTo>
                  <a:lnTo>
                    <a:pt x="3781072" y="1371"/>
                  </a:lnTo>
                  <a:lnTo>
                    <a:pt x="3785673" y="2287"/>
                  </a:lnTo>
                  <a:lnTo>
                    <a:pt x="3817650" y="20923"/>
                  </a:lnTo>
                  <a:lnTo>
                    <a:pt x="3820968" y="24239"/>
                  </a:lnTo>
                  <a:lnTo>
                    <a:pt x="3823929" y="27847"/>
                  </a:lnTo>
                  <a:lnTo>
                    <a:pt x="3826535" y="31748"/>
                  </a:lnTo>
                  <a:lnTo>
                    <a:pt x="3829140" y="35647"/>
                  </a:lnTo>
                  <a:lnTo>
                    <a:pt x="3837202" y="57498"/>
                  </a:lnTo>
                  <a:lnTo>
                    <a:pt x="3838117" y="62099"/>
                  </a:lnTo>
                  <a:lnTo>
                    <a:pt x="3838575" y="66745"/>
                  </a:lnTo>
                  <a:lnTo>
                    <a:pt x="3838575" y="71437"/>
                  </a:lnTo>
                  <a:lnTo>
                    <a:pt x="3838575" y="3176587"/>
                  </a:lnTo>
                  <a:lnTo>
                    <a:pt x="3838575" y="3181277"/>
                  </a:lnTo>
                  <a:lnTo>
                    <a:pt x="3838117" y="3185922"/>
                  </a:lnTo>
                  <a:lnTo>
                    <a:pt x="3826535" y="3216272"/>
                  </a:lnTo>
                  <a:lnTo>
                    <a:pt x="3823929" y="3220172"/>
                  </a:lnTo>
                  <a:lnTo>
                    <a:pt x="3806824" y="3235982"/>
                  </a:lnTo>
                  <a:lnTo>
                    <a:pt x="3802923" y="3238589"/>
                  </a:lnTo>
                  <a:lnTo>
                    <a:pt x="3798807" y="3240790"/>
                  </a:lnTo>
                  <a:lnTo>
                    <a:pt x="3794474" y="3242584"/>
                  </a:lnTo>
                  <a:lnTo>
                    <a:pt x="3790141" y="3244378"/>
                  </a:lnTo>
                  <a:lnTo>
                    <a:pt x="3785673" y="3245733"/>
                  </a:lnTo>
                  <a:lnTo>
                    <a:pt x="3781072" y="3246649"/>
                  </a:lnTo>
                  <a:lnTo>
                    <a:pt x="3776473" y="3247565"/>
                  </a:lnTo>
                  <a:lnTo>
                    <a:pt x="3771828" y="3248023"/>
                  </a:lnTo>
                  <a:lnTo>
                    <a:pt x="3767137" y="3248024"/>
                  </a:lnTo>
                  <a:lnTo>
                    <a:pt x="71438" y="3248024"/>
                  </a:lnTo>
                  <a:lnTo>
                    <a:pt x="66747" y="3248023"/>
                  </a:lnTo>
                  <a:lnTo>
                    <a:pt x="62100" y="3247565"/>
                  </a:lnTo>
                  <a:lnTo>
                    <a:pt x="57500" y="3246649"/>
                  </a:lnTo>
                  <a:lnTo>
                    <a:pt x="52900" y="3245733"/>
                  </a:lnTo>
                  <a:lnTo>
                    <a:pt x="48433" y="3244378"/>
                  </a:lnTo>
                  <a:lnTo>
                    <a:pt x="44099" y="3242584"/>
                  </a:lnTo>
                  <a:lnTo>
                    <a:pt x="39766" y="3240790"/>
                  </a:lnTo>
                  <a:lnTo>
                    <a:pt x="35649" y="3238589"/>
                  </a:lnTo>
                  <a:lnTo>
                    <a:pt x="31749" y="3235982"/>
                  </a:lnTo>
                  <a:lnTo>
                    <a:pt x="27848" y="3233377"/>
                  </a:lnTo>
                  <a:lnTo>
                    <a:pt x="3642" y="3199589"/>
                  </a:lnTo>
                  <a:lnTo>
                    <a:pt x="1372" y="3190522"/>
                  </a:lnTo>
                  <a:lnTo>
                    <a:pt x="457" y="3185922"/>
                  </a:lnTo>
                  <a:lnTo>
                    <a:pt x="0" y="3181277"/>
                  </a:lnTo>
                  <a:lnTo>
                    <a:pt x="0" y="3176587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84505" y="1533588"/>
            <a:ext cx="1269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The</a:t>
            </a:r>
            <a:r>
              <a:rPr sz="1100" b="1" spc="-5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central</a:t>
            </a:r>
            <a:r>
              <a:rPr sz="1100" b="1" spc="-4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BD582B"/>
                </a:solidFill>
                <a:latin typeface="Trebuchet MS"/>
                <a:cs typeface="Trebuchet MS"/>
              </a:rPr>
              <a:t>finding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05677" y="1892550"/>
            <a:ext cx="3084195" cy="2004695"/>
            <a:chOff x="7805677" y="1892550"/>
            <a:chExt cx="3084195" cy="2004695"/>
          </a:xfrm>
        </p:grpSpPr>
        <p:sp>
          <p:nvSpPr>
            <p:cNvPr id="13" name="object 13"/>
            <p:cNvSpPr/>
            <p:nvPr/>
          </p:nvSpPr>
          <p:spPr>
            <a:xfrm>
              <a:off x="7811075" y="1897947"/>
              <a:ext cx="3073400" cy="1993900"/>
            </a:xfrm>
            <a:custGeom>
              <a:avLst/>
              <a:gdLst/>
              <a:ahLst/>
              <a:cxnLst/>
              <a:rect l="l" t="t" r="r" b="b"/>
              <a:pathLst>
                <a:path w="3073400" h="1993900">
                  <a:moveTo>
                    <a:pt x="0" y="0"/>
                  </a:moveTo>
                  <a:lnTo>
                    <a:pt x="0" y="1993344"/>
                  </a:lnTo>
                </a:path>
                <a:path w="3073400" h="1993900">
                  <a:moveTo>
                    <a:pt x="0" y="1993344"/>
                  </a:moveTo>
                  <a:lnTo>
                    <a:pt x="3073072" y="1993344"/>
                  </a:lnTo>
                </a:path>
              </a:pathLst>
            </a:custGeom>
            <a:ln w="10382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11075" y="1897947"/>
              <a:ext cx="3073400" cy="1993900"/>
            </a:xfrm>
            <a:custGeom>
              <a:avLst/>
              <a:gdLst/>
              <a:ahLst/>
              <a:cxnLst/>
              <a:rect l="l" t="t" r="r" b="b"/>
              <a:pathLst>
                <a:path w="3073400" h="1993900">
                  <a:moveTo>
                    <a:pt x="0" y="1993344"/>
                  </a:moveTo>
                  <a:lnTo>
                    <a:pt x="3073072" y="1993344"/>
                  </a:lnTo>
                </a:path>
                <a:path w="3073400" h="1993900">
                  <a:moveTo>
                    <a:pt x="0" y="1594675"/>
                  </a:moveTo>
                  <a:lnTo>
                    <a:pt x="3073072" y="1594675"/>
                  </a:lnTo>
                </a:path>
                <a:path w="3073400" h="1993900">
                  <a:moveTo>
                    <a:pt x="0" y="1196006"/>
                  </a:moveTo>
                  <a:lnTo>
                    <a:pt x="3073072" y="1196006"/>
                  </a:lnTo>
                </a:path>
                <a:path w="3073400" h="1993900">
                  <a:moveTo>
                    <a:pt x="0" y="797337"/>
                  </a:moveTo>
                  <a:lnTo>
                    <a:pt x="3073072" y="797337"/>
                  </a:lnTo>
                </a:path>
                <a:path w="3073400" h="1993900">
                  <a:moveTo>
                    <a:pt x="0" y="398668"/>
                  </a:moveTo>
                  <a:lnTo>
                    <a:pt x="3073072" y="398668"/>
                  </a:lnTo>
                </a:path>
                <a:path w="3073400" h="1993900">
                  <a:moveTo>
                    <a:pt x="0" y="0"/>
                  </a:moveTo>
                  <a:lnTo>
                    <a:pt x="3073072" y="0"/>
                  </a:lnTo>
                </a:path>
              </a:pathLst>
            </a:custGeom>
            <a:ln w="10382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11071" y="2830000"/>
              <a:ext cx="3073400" cy="10795"/>
            </a:xfrm>
            <a:custGeom>
              <a:avLst/>
              <a:gdLst/>
              <a:ahLst/>
              <a:cxnLst/>
              <a:rect l="l" t="t" r="r" b="b"/>
              <a:pathLst>
                <a:path w="3073400" h="10794">
                  <a:moveTo>
                    <a:pt x="41529" y="0"/>
                  </a:moveTo>
                  <a:lnTo>
                    <a:pt x="0" y="0"/>
                  </a:lnTo>
                  <a:lnTo>
                    <a:pt x="0" y="10388"/>
                  </a:lnTo>
                  <a:lnTo>
                    <a:pt x="41529" y="10388"/>
                  </a:lnTo>
                  <a:lnTo>
                    <a:pt x="41529" y="0"/>
                  </a:lnTo>
                  <a:close/>
                </a:path>
                <a:path w="3073400" h="10794">
                  <a:moveTo>
                    <a:pt x="114198" y="0"/>
                  </a:moveTo>
                  <a:lnTo>
                    <a:pt x="72669" y="0"/>
                  </a:lnTo>
                  <a:lnTo>
                    <a:pt x="72669" y="10388"/>
                  </a:lnTo>
                  <a:lnTo>
                    <a:pt x="114198" y="10388"/>
                  </a:lnTo>
                  <a:lnTo>
                    <a:pt x="114198" y="0"/>
                  </a:lnTo>
                  <a:close/>
                </a:path>
                <a:path w="3073400" h="10794">
                  <a:moveTo>
                    <a:pt x="186867" y="0"/>
                  </a:moveTo>
                  <a:lnTo>
                    <a:pt x="145351" y="0"/>
                  </a:lnTo>
                  <a:lnTo>
                    <a:pt x="145351" y="10388"/>
                  </a:lnTo>
                  <a:lnTo>
                    <a:pt x="186867" y="10388"/>
                  </a:lnTo>
                  <a:lnTo>
                    <a:pt x="186867" y="0"/>
                  </a:lnTo>
                  <a:close/>
                </a:path>
                <a:path w="3073400" h="10794">
                  <a:moveTo>
                    <a:pt x="259549" y="0"/>
                  </a:moveTo>
                  <a:lnTo>
                    <a:pt x="218020" y="0"/>
                  </a:lnTo>
                  <a:lnTo>
                    <a:pt x="218020" y="10388"/>
                  </a:lnTo>
                  <a:lnTo>
                    <a:pt x="259549" y="10388"/>
                  </a:lnTo>
                  <a:lnTo>
                    <a:pt x="259549" y="0"/>
                  </a:lnTo>
                  <a:close/>
                </a:path>
                <a:path w="3073400" h="10794">
                  <a:moveTo>
                    <a:pt x="332219" y="0"/>
                  </a:moveTo>
                  <a:lnTo>
                    <a:pt x="290690" y="0"/>
                  </a:lnTo>
                  <a:lnTo>
                    <a:pt x="290690" y="10388"/>
                  </a:lnTo>
                  <a:lnTo>
                    <a:pt x="332219" y="10388"/>
                  </a:lnTo>
                  <a:lnTo>
                    <a:pt x="332219" y="0"/>
                  </a:lnTo>
                  <a:close/>
                </a:path>
                <a:path w="3073400" h="10794">
                  <a:moveTo>
                    <a:pt x="404901" y="0"/>
                  </a:moveTo>
                  <a:lnTo>
                    <a:pt x="363372" y="0"/>
                  </a:lnTo>
                  <a:lnTo>
                    <a:pt x="363372" y="10388"/>
                  </a:lnTo>
                  <a:lnTo>
                    <a:pt x="404901" y="10388"/>
                  </a:lnTo>
                  <a:lnTo>
                    <a:pt x="404901" y="0"/>
                  </a:lnTo>
                  <a:close/>
                </a:path>
                <a:path w="3073400" h="10794">
                  <a:moveTo>
                    <a:pt x="477570" y="0"/>
                  </a:moveTo>
                  <a:lnTo>
                    <a:pt x="436041" y="0"/>
                  </a:lnTo>
                  <a:lnTo>
                    <a:pt x="436041" y="10388"/>
                  </a:lnTo>
                  <a:lnTo>
                    <a:pt x="477570" y="10388"/>
                  </a:lnTo>
                  <a:lnTo>
                    <a:pt x="477570" y="0"/>
                  </a:lnTo>
                  <a:close/>
                </a:path>
                <a:path w="3073400" h="10794">
                  <a:moveTo>
                    <a:pt x="550240" y="0"/>
                  </a:moveTo>
                  <a:lnTo>
                    <a:pt x="508711" y="0"/>
                  </a:lnTo>
                  <a:lnTo>
                    <a:pt x="508711" y="10388"/>
                  </a:lnTo>
                  <a:lnTo>
                    <a:pt x="550240" y="10388"/>
                  </a:lnTo>
                  <a:lnTo>
                    <a:pt x="550240" y="0"/>
                  </a:lnTo>
                  <a:close/>
                </a:path>
                <a:path w="3073400" h="10794">
                  <a:moveTo>
                    <a:pt x="622922" y="0"/>
                  </a:moveTo>
                  <a:lnTo>
                    <a:pt x="581393" y="0"/>
                  </a:lnTo>
                  <a:lnTo>
                    <a:pt x="581393" y="10388"/>
                  </a:lnTo>
                  <a:lnTo>
                    <a:pt x="622922" y="10388"/>
                  </a:lnTo>
                  <a:lnTo>
                    <a:pt x="622922" y="0"/>
                  </a:lnTo>
                  <a:close/>
                </a:path>
                <a:path w="3073400" h="10794">
                  <a:moveTo>
                    <a:pt x="695591" y="0"/>
                  </a:moveTo>
                  <a:lnTo>
                    <a:pt x="654062" y="0"/>
                  </a:lnTo>
                  <a:lnTo>
                    <a:pt x="654062" y="10388"/>
                  </a:lnTo>
                  <a:lnTo>
                    <a:pt x="695591" y="10388"/>
                  </a:lnTo>
                  <a:lnTo>
                    <a:pt x="695591" y="0"/>
                  </a:lnTo>
                  <a:close/>
                </a:path>
                <a:path w="3073400" h="10794">
                  <a:moveTo>
                    <a:pt x="768261" y="0"/>
                  </a:moveTo>
                  <a:lnTo>
                    <a:pt x="726732" y="0"/>
                  </a:lnTo>
                  <a:lnTo>
                    <a:pt x="726732" y="10388"/>
                  </a:lnTo>
                  <a:lnTo>
                    <a:pt x="768261" y="10388"/>
                  </a:lnTo>
                  <a:lnTo>
                    <a:pt x="768261" y="0"/>
                  </a:lnTo>
                  <a:close/>
                </a:path>
                <a:path w="3073400" h="10794">
                  <a:moveTo>
                    <a:pt x="840943" y="0"/>
                  </a:moveTo>
                  <a:lnTo>
                    <a:pt x="799414" y="0"/>
                  </a:lnTo>
                  <a:lnTo>
                    <a:pt x="799414" y="10388"/>
                  </a:lnTo>
                  <a:lnTo>
                    <a:pt x="840943" y="10388"/>
                  </a:lnTo>
                  <a:lnTo>
                    <a:pt x="840943" y="0"/>
                  </a:lnTo>
                  <a:close/>
                </a:path>
                <a:path w="3073400" h="10794">
                  <a:moveTo>
                    <a:pt x="913612" y="0"/>
                  </a:moveTo>
                  <a:lnTo>
                    <a:pt x="872083" y="0"/>
                  </a:lnTo>
                  <a:lnTo>
                    <a:pt x="872083" y="10388"/>
                  </a:lnTo>
                  <a:lnTo>
                    <a:pt x="913612" y="10388"/>
                  </a:lnTo>
                  <a:lnTo>
                    <a:pt x="913612" y="0"/>
                  </a:lnTo>
                  <a:close/>
                </a:path>
                <a:path w="3073400" h="10794">
                  <a:moveTo>
                    <a:pt x="986282" y="0"/>
                  </a:moveTo>
                  <a:lnTo>
                    <a:pt x="944765" y="0"/>
                  </a:lnTo>
                  <a:lnTo>
                    <a:pt x="944765" y="10388"/>
                  </a:lnTo>
                  <a:lnTo>
                    <a:pt x="986282" y="10388"/>
                  </a:lnTo>
                  <a:lnTo>
                    <a:pt x="986282" y="0"/>
                  </a:lnTo>
                  <a:close/>
                </a:path>
                <a:path w="3073400" h="10794">
                  <a:moveTo>
                    <a:pt x="1058964" y="0"/>
                  </a:moveTo>
                  <a:lnTo>
                    <a:pt x="1017435" y="0"/>
                  </a:lnTo>
                  <a:lnTo>
                    <a:pt x="1017435" y="10388"/>
                  </a:lnTo>
                  <a:lnTo>
                    <a:pt x="1058964" y="10388"/>
                  </a:lnTo>
                  <a:lnTo>
                    <a:pt x="1058964" y="0"/>
                  </a:lnTo>
                  <a:close/>
                </a:path>
                <a:path w="3073400" h="10794">
                  <a:moveTo>
                    <a:pt x="1131633" y="0"/>
                  </a:moveTo>
                  <a:lnTo>
                    <a:pt x="1090104" y="0"/>
                  </a:lnTo>
                  <a:lnTo>
                    <a:pt x="1090104" y="10388"/>
                  </a:lnTo>
                  <a:lnTo>
                    <a:pt x="1131633" y="10388"/>
                  </a:lnTo>
                  <a:lnTo>
                    <a:pt x="1131633" y="0"/>
                  </a:lnTo>
                  <a:close/>
                </a:path>
                <a:path w="3073400" h="10794">
                  <a:moveTo>
                    <a:pt x="1204315" y="0"/>
                  </a:moveTo>
                  <a:lnTo>
                    <a:pt x="1162786" y="0"/>
                  </a:lnTo>
                  <a:lnTo>
                    <a:pt x="1162786" y="10388"/>
                  </a:lnTo>
                  <a:lnTo>
                    <a:pt x="1204315" y="10388"/>
                  </a:lnTo>
                  <a:lnTo>
                    <a:pt x="1204315" y="0"/>
                  </a:lnTo>
                  <a:close/>
                </a:path>
                <a:path w="3073400" h="10794">
                  <a:moveTo>
                    <a:pt x="1276985" y="0"/>
                  </a:moveTo>
                  <a:lnTo>
                    <a:pt x="1235456" y="0"/>
                  </a:lnTo>
                  <a:lnTo>
                    <a:pt x="1235456" y="10388"/>
                  </a:lnTo>
                  <a:lnTo>
                    <a:pt x="1276985" y="10388"/>
                  </a:lnTo>
                  <a:lnTo>
                    <a:pt x="1276985" y="0"/>
                  </a:lnTo>
                  <a:close/>
                </a:path>
                <a:path w="3073400" h="10794">
                  <a:moveTo>
                    <a:pt x="1349654" y="0"/>
                  </a:moveTo>
                  <a:lnTo>
                    <a:pt x="1308125" y="0"/>
                  </a:lnTo>
                  <a:lnTo>
                    <a:pt x="1308125" y="10388"/>
                  </a:lnTo>
                  <a:lnTo>
                    <a:pt x="1349654" y="10388"/>
                  </a:lnTo>
                  <a:lnTo>
                    <a:pt x="1349654" y="0"/>
                  </a:lnTo>
                  <a:close/>
                </a:path>
                <a:path w="3073400" h="10794">
                  <a:moveTo>
                    <a:pt x="1422336" y="0"/>
                  </a:moveTo>
                  <a:lnTo>
                    <a:pt x="1380807" y="0"/>
                  </a:lnTo>
                  <a:lnTo>
                    <a:pt x="1380807" y="10388"/>
                  </a:lnTo>
                  <a:lnTo>
                    <a:pt x="1422336" y="10388"/>
                  </a:lnTo>
                  <a:lnTo>
                    <a:pt x="1422336" y="0"/>
                  </a:lnTo>
                  <a:close/>
                </a:path>
                <a:path w="3073400" h="10794">
                  <a:moveTo>
                    <a:pt x="1495005" y="0"/>
                  </a:moveTo>
                  <a:lnTo>
                    <a:pt x="1453476" y="0"/>
                  </a:lnTo>
                  <a:lnTo>
                    <a:pt x="1453476" y="10388"/>
                  </a:lnTo>
                  <a:lnTo>
                    <a:pt x="1495005" y="10388"/>
                  </a:lnTo>
                  <a:lnTo>
                    <a:pt x="1495005" y="0"/>
                  </a:lnTo>
                  <a:close/>
                </a:path>
                <a:path w="3073400" h="10794">
                  <a:moveTo>
                    <a:pt x="1567675" y="0"/>
                  </a:moveTo>
                  <a:lnTo>
                    <a:pt x="1526146" y="0"/>
                  </a:lnTo>
                  <a:lnTo>
                    <a:pt x="1526146" y="10388"/>
                  </a:lnTo>
                  <a:lnTo>
                    <a:pt x="1567675" y="10388"/>
                  </a:lnTo>
                  <a:lnTo>
                    <a:pt x="1567675" y="0"/>
                  </a:lnTo>
                  <a:close/>
                </a:path>
                <a:path w="3073400" h="10794">
                  <a:moveTo>
                    <a:pt x="1640357" y="0"/>
                  </a:moveTo>
                  <a:lnTo>
                    <a:pt x="1598828" y="0"/>
                  </a:lnTo>
                  <a:lnTo>
                    <a:pt x="1598828" y="10388"/>
                  </a:lnTo>
                  <a:lnTo>
                    <a:pt x="1640357" y="10388"/>
                  </a:lnTo>
                  <a:lnTo>
                    <a:pt x="1640357" y="0"/>
                  </a:lnTo>
                  <a:close/>
                </a:path>
                <a:path w="3073400" h="10794">
                  <a:moveTo>
                    <a:pt x="1713026" y="0"/>
                  </a:moveTo>
                  <a:lnTo>
                    <a:pt x="1671497" y="0"/>
                  </a:lnTo>
                  <a:lnTo>
                    <a:pt x="1671497" y="10388"/>
                  </a:lnTo>
                  <a:lnTo>
                    <a:pt x="1713026" y="10388"/>
                  </a:lnTo>
                  <a:lnTo>
                    <a:pt x="1713026" y="0"/>
                  </a:lnTo>
                  <a:close/>
                </a:path>
                <a:path w="3073400" h="10794">
                  <a:moveTo>
                    <a:pt x="1785696" y="0"/>
                  </a:moveTo>
                  <a:lnTo>
                    <a:pt x="1744179" y="0"/>
                  </a:lnTo>
                  <a:lnTo>
                    <a:pt x="1744179" y="10388"/>
                  </a:lnTo>
                  <a:lnTo>
                    <a:pt x="1785696" y="10388"/>
                  </a:lnTo>
                  <a:lnTo>
                    <a:pt x="1785696" y="0"/>
                  </a:lnTo>
                  <a:close/>
                </a:path>
                <a:path w="3073400" h="10794">
                  <a:moveTo>
                    <a:pt x="1858378" y="0"/>
                  </a:moveTo>
                  <a:lnTo>
                    <a:pt x="1816849" y="0"/>
                  </a:lnTo>
                  <a:lnTo>
                    <a:pt x="1816849" y="10388"/>
                  </a:lnTo>
                  <a:lnTo>
                    <a:pt x="1858378" y="10388"/>
                  </a:lnTo>
                  <a:lnTo>
                    <a:pt x="1858378" y="0"/>
                  </a:lnTo>
                  <a:close/>
                </a:path>
                <a:path w="3073400" h="10794">
                  <a:moveTo>
                    <a:pt x="1931047" y="0"/>
                  </a:moveTo>
                  <a:lnTo>
                    <a:pt x="1889518" y="0"/>
                  </a:lnTo>
                  <a:lnTo>
                    <a:pt x="1889518" y="10388"/>
                  </a:lnTo>
                  <a:lnTo>
                    <a:pt x="1931047" y="10388"/>
                  </a:lnTo>
                  <a:lnTo>
                    <a:pt x="1931047" y="0"/>
                  </a:lnTo>
                  <a:close/>
                </a:path>
                <a:path w="3073400" h="10794">
                  <a:moveTo>
                    <a:pt x="2003729" y="0"/>
                  </a:moveTo>
                  <a:lnTo>
                    <a:pt x="1962200" y="0"/>
                  </a:lnTo>
                  <a:lnTo>
                    <a:pt x="1962200" y="10388"/>
                  </a:lnTo>
                  <a:lnTo>
                    <a:pt x="2003729" y="10388"/>
                  </a:lnTo>
                  <a:lnTo>
                    <a:pt x="2003729" y="0"/>
                  </a:lnTo>
                  <a:close/>
                </a:path>
                <a:path w="3073400" h="10794">
                  <a:moveTo>
                    <a:pt x="2076399" y="0"/>
                  </a:moveTo>
                  <a:lnTo>
                    <a:pt x="2034870" y="0"/>
                  </a:lnTo>
                  <a:lnTo>
                    <a:pt x="2034870" y="10388"/>
                  </a:lnTo>
                  <a:lnTo>
                    <a:pt x="2076399" y="10388"/>
                  </a:lnTo>
                  <a:lnTo>
                    <a:pt x="2076399" y="0"/>
                  </a:lnTo>
                  <a:close/>
                </a:path>
                <a:path w="3073400" h="10794">
                  <a:moveTo>
                    <a:pt x="2149068" y="0"/>
                  </a:moveTo>
                  <a:lnTo>
                    <a:pt x="2107539" y="0"/>
                  </a:lnTo>
                  <a:lnTo>
                    <a:pt x="2107539" y="10388"/>
                  </a:lnTo>
                  <a:lnTo>
                    <a:pt x="2149068" y="10388"/>
                  </a:lnTo>
                  <a:lnTo>
                    <a:pt x="2149068" y="0"/>
                  </a:lnTo>
                  <a:close/>
                </a:path>
                <a:path w="3073400" h="10794">
                  <a:moveTo>
                    <a:pt x="2221750" y="0"/>
                  </a:moveTo>
                  <a:lnTo>
                    <a:pt x="2180221" y="0"/>
                  </a:lnTo>
                  <a:lnTo>
                    <a:pt x="2180221" y="10388"/>
                  </a:lnTo>
                  <a:lnTo>
                    <a:pt x="2221750" y="10388"/>
                  </a:lnTo>
                  <a:lnTo>
                    <a:pt x="2221750" y="0"/>
                  </a:lnTo>
                  <a:close/>
                </a:path>
                <a:path w="3073400" h="10794">
                  <a:moveTo>
                    <a:pt x="2294420" y="0"/>
                  </a:moveTo>
                  <a:lnTo>
                    <a:pt x="2252891" y="0"/>
                  </a:lnTo>
                  <a:lnTo>
                    <a:pt x="2252891" y="10388"/>
                  </a:lnTo>
                  <a:lnTo>
                    <a:pt x="2294420" y="10388"/>
                  </a:lnTo>
                  <a:lnTo>
                    <a:pt x="2294420" y="0"/>
                  </a:lnTo>
                  <a:close/>
                </a:path>
                <a:path w="3073400" h="10794">
                  <a:moveTo>
                    <a:pt x="2367089" y="0"/>
                  </a:moveTo>
                  <a:lnTo>
                    <a:pt x="2325560" y="0"/>
                  </a:lnTo>
                  <a:lnTo>
                    <a:pt x="2325560" y="10388"/>
                  </a:lnTo>
                  <a:lnTo>
                    <a:pt x="2367089" y="10388"/>
                  </a:lnTo>
                  <a:lnTo>
                    <a:pt x="2367089" y="0"/>
                  </a:lnTo>
                  <a:close/>
                </a:path>
                <a:path w="3073400" h="10794">
                  <a:moveTo>
                    <a:pt x="2439771" y="0"/>
                  </a:moveTo>
                  <a:lnTo>
                    <a:pt x="2398242" y="0"/>
                  </a:lnTo>
                  <a:lnTo>
                    <a:pt x="2398242" y="10388"/>
                  </a:lnTo>
                  <a:lnTo>
                    <a:pt x="2439771" y="10388"/>
                  </a:lnTo>
                  <a:lnTo>
                    <a:pt x="2439771" y="0"/>
                  </a:lnTo>
                  <a:close/>
                </a:path>
                <a:path w="3073400" h="10794">
                  <a:moveTo>
                    <a:pt x="2512441" y="0"/>
                  </a:moveTo>
                  <a:lnTo>
                    <a:pt x="2470912" y="0"/>
                  </a:lnTo>
                  <a:lnTo>
                    <a:pt x="2470912" y="10388"/>
                  </a:lnTo>
                  <a:lnTo>
                    <a:pt x="2512441" y="10388"/>
                  </a:lnTo>
                  <a:lnTo>
                    <a:pt x="2512441" y="0"/>
                  </a:lnTo>
                  <a:close/>
                </a:path>
                <a:path w="3073400" h="10794">
                  <a:moveTo>
                    <a:pt x="2585110" y="0"/>
                  </a:moveTo>
                  <a:lnTo>
                    <a:pt x="2543594" y="0"/>
                  </a:lnTo>
                  <a:lnTo>
                    <a:pt x="2543594" y="10388"/>
                  </a:lnTo>
                  <a:lnTo>
                    <a:pt x="2585110" y="10388"/>
                  </a:lnTo>
                  <a:lnTo>
                    <a:pt x="2585110" y="0"/>
                  </a:lnTo>
                  <a:close/>
                </a:path>
                <a:path w="3073400" h="10794">
                  <a:moveTo>
                    <a:pt x="2657792" y="0"/>
                  </a:moveTo>
                  <a:lnTo>
                    <a:pt x="2616263" y="0"/>
                  </a:lnTo>
                  <a:lnTo>
                    <a:pt x="2616263" y="10388"/>
                  </a:lnTo>
                  <a:lnTo>
                    <a:pt x="2657792" y="10388"/>
                  </a:lnTo>
                  <a:lnTo>
                    <a:pt x="2657792" y="0"/>
                  </a:lnTo>
                  <a:close/>
                </a:path>
                <a:path w="3073400" h="10794">
                  <a:moveTo>
                    <a:pt x="2730462" y="0"/>
                  </a:moveTo>
                  <a:lnTo>
                    <a:pt x="2688933" y="0"/>
                  </a:lnTo>
                  <a:lnTo>
                    <a:pt x="2688933" y="10388"/>
                  </a:lnTo>
                  <a:lnTo>
                    <a:pt x="2730462" y="10388"/>
                  </a:lnTo>
                  <a:lnTo>
                    <a:pt x="2730462" y="0"/>
                  </a:lnTo>
                  <a:close/>
                </a:path>
                <a:path w="3073400" h="10794">
                  <a:moveTo>
                    <a:pt x="2803144" y="0"/>
                  </a:moveTo>
                  <a:lnTo>
                    <a:pt x="2761615" y="0"/>
                  </a:lnTo>
                  <a:lnTo>
                    <a:pt x="2761615" y="10388"/>
                  </a:lnTo>
                  <a:lnTo>
                    <a:pt x="2803144" y="10388"/>
                  </a:lnTo>
                  <a:lnTo>
                    <a:pt x="2803144" y="0"/>
                  </a:lnTo>
                  <a:close/>
                </a:path>
                <a:path w="3073400" h="10794">
                  <a:moveTo>
                    <a:pt x="2875813" y="0"/>
                  </a:moveTo>
                  <a:lnTo>
                    <a:pt x="2834284" y="0"/>
                  </a:lnTo>
                  <a:lnTo>
                    <a:pt x="2834284" y="10388"/>
                  </a:lnTo>
                  <a:lnTo>
                    <a:pt x="2875813" y="10388"/>
                  </a:lnTo>
                  <a:lnTo>
                    <a:pt x="2875813" y="0"/>
                  </a:lnTo>
                  <a:close/>
                </a:path>
                <a:path w="3073400" h="10794">
                  <a:moveTo>
                    <a:pt x="2948482" y="0"/>
                  </a:moveTo>
                  <a:lnTo>
                    <a:pt x="2906953" y="0"/>
                  </a:lnTo>
                  <a:lnTo>
                    <a:pt x="2906953" y="10388"/>
                  </a:lnTo>
                  <a:lnTo>
                    <a:pt x="2948482" y="10388"/>
                  </a:lnTo>
                  <a:lnTo>
                    <a:pt x="2948482" y="0"/>
                  </a:lnTo>
                  <a:close/>
                </a:path>
                <a:path w="3073400" h="10794">
                  <a:moveTo>
                    <a:pt x="3021165" y="0"/>
                  </a:moveTo>
                  <a:lnTo>
                    <a:pt x="2979636" y="0"/>
                  </a:lnTo>
                  <a:lnTo>
                    <a:pt x="2979636" y="10388"/>
                  </a:lnTo>
                  <a:lnTo>
                    <a:pt x="3021165" y="10388"/>
                  </a:lnTo>
                  <a:lnTo>
                    <a:pt x="3021165" y="0"/>
                  </a:lnTo>
                  <a:close/>
                </a:path>
                <a:path w="3073400" h="10794">
                  <a:moveTo>
                    <a:pt x="3073069" y="0"/>
                  </a:moveTo>
                  <a:lnTo>
                    <a:pt x="3052305" y="0"/>
                  </a:lnTo>
                  <a:lnTo>
                    <a:pt x="3052305" y="10388"/>
                  </a:lnTo>
                  <a:lnTo>
                    <a:pt x="3073069" y="10388"/>
                  </a:lnTo>
                  <a:lnTo>
                    <a:pt x="307306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56423" y="2569064"/>
              <a:ext cx="457200" cy="1257638"/>
            </a:xfrm>
            <a:custGeom>
              <a:avLst/>
              <a:gdLst/>
              <a:ahLst/>
              <a:cxnLst/>
              <a:rect l="l" t="t" r="r" b="b"/>
              <a:pathLst>
                <a:path w="457200" h="1701800">
                  <a:moveTo>
                    <a:pt x="438797" y="1701609"/>
                  </a:moveTo>
                  <a:lnTo>
                    <a:pt x="18010" y="1701609"/>
                  </a:lnTo>
                  <a:lnTo>
                    <a:pt x="15361" y="1701082"/>
                  </a:lnTo>
                  <a:lnTo>
                    <a:pt x="0" y="1683599"/>
                  </a:lnTo>
                  <a:lnTo>
                    <a:pt x="0" y="18010"/>
                  </a:lnTo>
                  <a:lnTo>
                    <a:pt x="18010" y="0"/>
                  </a:lnTo>
                  <a:lnTo>
                    <a:pt x="20764" y="0"/>
                  </a:lnTo>
                  <a:lnTo>
                    <a:pt x="438797" y="0"/>
                  </a:lnTo>
                  <a:lnTo>
                    <a:pt x="456807" y="18010"/>
                  </a:lnTo>
                  <a:lnTo>
                    <a:pt x="456807" y="1683599"/>
                  </a:lnTo>
                  <a:lnTo>
                    <a:pt x="441446" y="1701082"/>
                  </a:lnTo>
                  <a:lnTo>
                    <a:pt x="438797" y="1701609"/>
                  </a:lnTo>
                  <a:close/>
                </a:path>
              </a:pathLst>
            </a:custGeom>
            <a:solidFill>
              <a:srgbClr val="BD5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18474" y="3826702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0.0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8474" y="3427991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0.2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8474" y="3029429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0.4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8474" y="2630719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0.6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8474" y="2232009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0.8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18474" y="1833298"/>
            <a:ext cx="1428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999999"/>
                </a:solidFill>
                <a:latin typeface="Trebuchet MS"/>
                <a:cs typeface="Trebuchet MS"/>
              </a:rPr>
              <a:t>1.0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33556" y="2405864"/>
            <a:ext cx="30289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1A1A1A"/>
                </a:solidFill>
                <a:latin typeface="Trebuchet MS"/>
                <a:cs typeface="Trebuchet MS"/>
              </a:rPr>
              <a:t>63.09%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68815" y="3927440"/>
            <a:ext cx="431800" cy="233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910" marR="5080" indent="-29845">
              <a:lnSpc>
                <a:spcPct val="104700"/>
              </a:lnSpc>
              <a:spcBef>
                <a:spcPts val="90"/>
              </a:spcBef>
            </a:pPr>
            <a:r>
              <a:rPr sz="650" dirty="0">
                <a:solidFill>
                  <a:srgbClr val="1A1A1A"/>
                </a:solidFill>
                <a:latin typeface="Trebuchet MS"/>
                <a:cs typeface="Trebuchet MS"/>
              </a:rPr>
              <a:t>LOSO</a:t>
            </a:r>
            <a:endParaRPr sz="650">
              <a:latin typeface="Trebuchet MS"/>
              <a:cs typeface="Trebuchet MS"/>
            </a:endParaRPr>
          </a:p>
          <a:p>
            <a:r>
              <a:t>Accuracy</a:t>
            </a:r>
          </a:p>
        </p:txBody>
      </p:sp>
      <p:sp>
        <p:nvSpPr>
          <p:cNvPr id="25" name="object 25"/>
          <p:cNvSpPr/>
          <p:nvPr/>
        </p:nvSpPr>
        <p:spPr>
          <a:xfrm>
            <a:off x="8620871" y="2579828"/>
            <a:ext cx="457200" cy="1246874"/>
          </a:xfrm>
          <a:custGeom>
            <a:avLst/>
            <a:gdLst/>
            <a:ahLst/>
            <a:cxnLst/>
            <a:rect l="l" t="t" r="r" b="b"/>
            <a:pathLst>
              <a:path w="457200" h="1621154">
                <a:moveTo>
                  <a:pt x="438797" y="1620630"/>
                </a:moveTo>
                <a:lnTo>
                  <a:pt x="18010" y="1620630"/>
                </a:lnTo>
                <a:lnTo>
                  <a:pt x="15361" y="1620103"/>
                </a:lnTo>
                <a:lnTo>
                  <a:pt x="0" y="1602619"/>
                </a:lnTo>
                <a:lnTo>
                  <a:pt x="0" y="18010"/>
                </a:lnTo>
                <a:lnTo>
                  <a:pt x="18010" y="0"/>
                </a:lnTo>
                <a:lnTo>
                  <a:pt x="20764" y="0"/>
                </a:lnTo>
                <a:lnTo>
                  <a:pt x="438797" y="0"/>
                </a:lnTo>
                <a:lnTo>
                  <a:pt x="456807" y="18010"/>
                </a:lnTo>
                <a:lnTo>
                  <a:pt x="456807" y="1602619"/>
                </a:lnTo>
                <a:lnTo>
                  <a:pt x="441445" y="1620103"/>
                </a:lnTo>
                <a:lnTo>
                  <a:pt x="438797" y="1620630"/>
                </a:lnTo>
                <a:close/>
              </a:path>
            </a:pathLst>
          </a:custGeom>
          <a:solidFill>
            <a:srgbClr val="BD5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98073" y="2416628"/>
            <a:ext cx="30289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1A1A1A"/>
                </a:solidFill>
                <a:latin typeface="Trebuchet MS"/>
                <a:cs typeface="Trebuchet MS"/>
              </a:rPr>
              <a:t>62.55%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3333" y="3927440"/>
            <a:ext cx="431800" cy="233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180" marR="5080" indent="-31115">
              <a:lnSpc>
                <a:spcPct val="104700"/>
              </a:lnSpc>
              <a:spcBef>
                <a:spcPts val="90"/>
              </a:spcBef>
            </a:pPr>
            <a:r>
              <a:rPr sz="650" dirty="0">
                <a:solidFill>
                  <a:srgbClr val="1A1A1A"/>
                </a:solidFill>
                <a:latin typeface="Trebuchet MS"/>
                <a:cs typeface="Trebuchet MS"/>
              </a:rPr>
              <a:t>LOSO</a:t>
            </a:r>
            <a:endParaRPr sz="650">
              <a:latin typeface="Trebuchet MS"/>
              <a:cs typeface="Trebuchet MS"/>
            </a:endParaRPr>
          </a:p>
          <a:p>
            <a:r>
              <a:t>Macro F1</a:t>
            </a:r>
          </a:p>
        </p:txBody>
      </p:sp>
      <p:sp>
        <p:nvSpPr>
          <p:cNvPr id="28" name="object 28"/>
          <p:cNvSpPr/>
          <p:nvPr/>
        </p:nvSpPr>
        <p:spPr>
          <a:xfrm>
            <a:off x="9347611" y="2556705"/>
            <a:ext cx="457200" cy="1269997"/>
          </a:xfrm>
          <a:custGeom>
            <a:avLst/>
            <a:gdLst/>
            <a:ahLst/>
            <a:cxnLst/>
            <a:rect l="l" t="t" r="r" b="b"/>
            <a:pathLst>
              <a:path w="457200" h="1587500">
                <a:moveTo>
                  <a:pt x="438797" y="1587407"/>
                </a:moveTo>
                <a:lnTo>
                  <a:pt x="18010" y="1587407"/>
                </a:lnTo>
                <a:lnTo>
                  <a:pt x="15361" y="1586880"/>
                </a:lnTo>
                <a:lnTo>
                  <a:pt x="0" y="1569397"/>
                </a:lnTo>
                <a:lnTo>
                  <a:pt x="0" y="18010"/>
                </a:lnTo>
                <a:lnTo>
                  <a:pt x="18010" y="0"/>
                </a:lnTo>
                <a:lnTo>
                  <a:pt x="20764" y="0"/>
                </a:lnTo>
                <a:lnTo>
                  <a:pt x="438797" y="0"/>
                </a:lnTo>
                <a:lnTo>
                  <a:pt x="456808" y="18010"/>
                </a:lnTo>
                <a:lnTo>
                  <a:pt x="456808" y="1569397"/>
                </a:lnTo>
                <a:lnTo>
                  <a:pt x="441446" y="1586880"/>
                </a:lnTo>
                <a:lnTo>
                  <a:pt x="438797" y="1587407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424801" y="2393505"/>
            <a:ext cx="30289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1A1A1A"/>
                </a:solidFill>
                <a:latin typeface="Trebuchet MS"/>
                <a:cs typeface="Trebuchet MS"/>
              </a:rPr>
              <a:t>63.71%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89826" y="3927440"/>
            <a:ext cx="372745" cy="233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1A1A1A"/>
                </a:solidFill>
                <a:latin typeface="Trebuchet MS"/>
                <a:cs typeface="Trebuchet MS"/>
              </a:rPr>
              <a:t>Lockbox</a:t>
            </a:r>
            <a:endParaRPr sz="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solidFill>
                  <a:srgbClr val="1A1A1A"/>
                </a:solidFill>
                <a:latin typeface="Trebuchet MS"/>
                <a:cs typeface="Trebuchet MS"/>
              </a:rPr>
              <a:t>Accuracy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012059" y="2575841"/>
            <a:ext cx="457200" cy="1250861"/>
          </a:xfrm>
          <a:custGeom>
            <a:avLst/>
            <a:gdLst/>
            <a:ahLst/>
            <a:cxnLst/>
            <a:rect l="l" t="t" r="r" b="b"/>
            <a:pathLst>
              <a:path w="457200" h="1452879">
                <a:moveTo>
                  <a:pt x="438797" y="1452441"/>
                </a:moveTo>
                <a:lnTo>
                  <a:pt x="18010" y="1452441"/>
                </a:lnTo>
                <a:lnTo>
                  <a:pt x="15361" y="1451914"/>
                </a:lnTo>
                <a:lnTo>
                  <a:pt x="0" y="1434431"/>
                </a:lnTo>
                <a:lnTo>
                  <a:pt x="0" y="18010"/>
                </a:lnTo>
                <a:lnTo>
                  <a:pt x="18010" y="0"/>
                </a:lnTo>
                <a:lnTo>
                  <a:pt x="20764" y="0"/>
                </a:lnTo>
                <a:lnTo>
                  <a:pt x="438797" y="0"/>
                </a:lnTo>
                <a:lnTo>
                  <a:pt x="456807" y="18010"/>
                </a:lnTo>
                <a:lnTo>
                  <a:pt x="456807" y="1434431"/>
                </a:lnTo>
                <a:lnTo>
                  <a:pt x="441445" y="1451914"/>
                </a:lnTo>
                <a:lnTo>
                  <a:pt x="438797" y="1452441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89170" y="2412641"/>
            <a:ext cx="30289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1A1A1A"/>
                </a:solidFill>
                <a:latin typeface="Trebuchet MS"/>
                <a:cs typeface="Trebuchet MS"/>
              </a:rPr>
              <a:t>62.75%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55237" y="3927440"/>
            <a:ext cx="370840" cy="233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1A1A1A"/>
                </a:solidFill>
                <a:latin typeface="Trebuchet MS"/>
                <a:cs typeface="Trebuchet MS"/>
              </a:rPr>
              <a:t>Lockbox</a:t>
            </a:r>
            <a:endParaRPr sz="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solidFill>
                  <a:srgbClr val="1A1A1A"/>
                </a:solidFill>
                <a:latin typeface="Trebuchet MS"/>
                <a:cs typeface="Trebuchet MS"/>
              </a:rPr>
              <a:t>Macro F1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94947" y="4298981"/>
            <a:ext cx="3248660" cy="2882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767080" marR="5080" indent="-755015">
              <a:lnSpc>
                <a:spcPct val="102899"/>
              </a:lnSpc>
              <a:spcBef>
                <a:spcPts val="70"/>
              </a:spcBef>
            </a:pP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Binary protocol (Low vs High) · dashed line = chance (50%) · LOSO = 26-fold cross-subject · Lockbox = 8 unseen subjects, evaluated once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35" name="object 35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Summary</a:t>
            </a:r>
            <a:r>
              <a:rPr sz="2200" spc="-60" dirty="0"/>
              <a:t> </a:t>
            </a:r>
            <a:r>
              <a:rPr sz="2200" dirty="0"/>
              <a:t>of</a:t>
            </a:r>
            <a:r>
              <a:rPr sz="2200" spc="-55" dirty="0"/>
              <a:t> </a:t>
            </a:r>
            <a:r>
              <a:rPr sz="2200" dirty="0"/>
              <a:t>Work</a:t>
            </a:r>
            <a:r>
              <a:rPr sz="2200" spc="-55" dirty="0"/>
              <a:t> </a:t>
            </a:r>
            <a:r>
              <a:rPr sz="2200" dirty="0"/>
              <a:t>Done</a:t>
            </a:r>
            <a:r>
              <a:rPr sz="2200" spc="-65" dirty="0"/>
              <a:t> </a:t>
            </a:r>
            <a:r>
              <a:rPr sz="2200" dirty="0"/>
              <a:t>in</a:t>
            </a:r>
            <a:r>
              <a:rPr sz="2200" spc="-55" dirty="0"/>
              <a:t> </a:t>
            </a:r>
            <a:r>
              <a:rPr sz="2200" dirty="0"/>
              <a:t>Capstone</a:t>
            </a:r>
            <a:r>
              <a:rPr sz="2200" spc="-65" dirty="0"/>
              <a:t> </a:t>
            </a:r>
            <a:r>
              <a:rPr sz="2200" dirty="0"/>
              <a:t>Project</a:t>
            </a:r>
            <a:r>
              <a:rPr sz="2200" spc="-55" dirty="0"/>
              <a:t> </a:t>
            </a:r>
            <a:r>
              <a:rPr sz="2200" dirty="0"/>
              <a:t>Phase</a:t>
            </a:r>
            <a:r>
              <a:rPr sz="2200" spc="-65" dirty="0"/>
              <a:t> </a:t>
            </a:r>
            <a:r>
              <a:rPr sz="2200" dirty="0"/>
              <a:t>–</a:t>
            </a:r>
            <a:r>
              <a:rPr sz="2200" spc="-55" dirty="0"/>
              <a:t> </a:t>
            </a:r>
            <a:r>
              <a:rPr sz="2200" spc="-60" dirty="0"/>
              <a:t>2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349523" y="1330325"/>
            <a:ext cx="9778365" cy="44310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430530">
              <a:lnSpc>
                <a:spcPct val="112500"/>
              </a:lnSpc>
              <a:spcBef>
                <a:spcPts val="100"/>
              </a:spcBef>
            </a:pPr>
            <a:r>
              <a:rPr dirty="0">
                <a:latin typeface="Trebuchet MS"/>
                <a:cs typeface="Trebuchet MS"/>
              </a:rPr>
              <a:t>Built the full preprocessing pipeline: raw .mat recordings → band-power / hemodynamic features → sliding-window extraction, with EEG epoched on NIRS markers to keep both modalities aligned.</a:t>
            </a:r>
          </a:p>
          <a:p>
            <a:pPr marL="12700" marR="5715">
              <a:lnSpc>
                <a:spcPct val="108300"/>
              </a:lnSpc>
              <a:spcBef>
                <a:spcPts val="1050"/>
              </a:spcBef>
            </a:pPr>
            <a:r>
              <a:rPr spc="-20" dirty="0">
                <a:latin typeface="Trebuchet MS"/>
                <a:cs typeface="Trebuchet MS"/>
              </a:rPr>
              <a:t>Trained and evaluated the Hybrid network under a strict subject-grouped LOSO protocol from the outset, avoiding the fixed-split leakage pitfall entirely.</a:t>
            </a:r>
          </a:p>
          <a:p>
            <a:pPr marL="12700" marR="819785">
              <a:lnSpc>
                <a:spcPct val="112500"/>
              </a:lnSpc>
              <a:spcBef>
                <a:spcPts val="975"/>
              </a:spcBef>
            </a:pPr>
            <a:r>
              <a:rPr dirty="0">
                <a:latin typeface="Trebuchet MS"/>
                <a:cs typeface="Trebuchet MS"/>
              </a:rPr>
              <a:t>Adopted per-subject z-score + log-compression preprocessing; ran a 26-fold LOSO rigor pass with paired significance tests.</a:t>
            </a:r>
          </a:p>
          <a:p>
            <a:pPr marL="12700" marR="565785">
              <a:lnSpc>
                <a:spcPct val="112500"/>
              </a:lnSpc>
              <a:spcBef>
                <a:spcPts val="900"/>
              </a:spcBef>
            </a:pPr>
            <a:r>
              <a:rPr dirty="0">
                <a:latin typeface="Trebuchet MS"/>
                <a:cs typeface="Trebuchet MS"/>
              </a:rPr>
              <a:t>Reframed the task as Binary (Low vs High) with sliding-window augmentation, reaching 63.09% LOSO accuracy — well above the 50% chance baseline.</a:t>
            </a:r>
          </a:p>
          <a:p>
            <a:pPr marL="12700" marR="146050">
              <a:lnSpc>
                <a:spcPct val="108300"/>
              </a:lnSpc>
              <a:spcBef>
                <a:spcPts val="1050"/>
              </a:spcBef>
            </a:pPr>
            <a:r>
              <a:rPr dirty="0">
                <a:latin typeface="Trebuchet MS"/>
                <a:cs typeface="Trebuchet MS"/>
              </a:rPr>
              <a:t>Confirmed the result on an 8-subject lockbox, evaluated exactly once (63.71% accuracy) — never used to pick between candidates.</a:t>
            </a:r>
          </a:p>
          <a:p>
            <a:pPr marL="12700" marR="235585">
              <a:lnSpc>
                <a:spcPct val="112500"/>
              </a:lnSpc>
              <a:spcBef>
                <a:spcPts val="975"/>
              </a:spcBef>
            </a:pPr>
            <a:r>
              <a:rPr dirty="0">
                <a:latin typeface="Trebuchet MS"/>
                <a:cs typeface="Trebuchet MS"/>
              </a:rPr>
              <a:t>Built a leakage-audited experiment framework (research/) and ran 42 controlled experiments — including Domain-Adversarial (DANN) subject-invariant variants — against the binary baseline; none beat it within one standard error, a documented negative result.</a:t>
            </a:r>
          </a:p>
          <a:p>
            <a:pPr marL="12700" marR="5080">
              <a:lnSpc>
                <a:spcPct val="116700"/>
              </a:lnSpc>
              <a:spcBef>
                <a:spcPts val="900"/>
              </a:spcBef>
            </a:pPr>
            <a:r>
              <a:rPr dirty="0">
                <a:latin typeface="Trebuchet MS"/>
                <a:cs typeface="Trebuchet MS"/>
              </a:rPr>
              <a:t>Exported the frozen binary model to a portable serving/ bundle and built the FastAPI backend + React frontend demo, including a CSV-upload endpoint verified byte-exact against the training pipeline.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8770" y="141605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770" y="20542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770" y="268287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770" y="33115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770" y="39497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770" y="457835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770" y="52165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2" name="object 12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29286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81249" y="1600198"/>
            <a:ext cx="1447800" cy="704850"/>
            <a:chOff x="2381249" y="1600198"/>
            <a:chExt cx="1447800" cy="704850"/>
          </a:xfrm>
        </p:grpSpPr>
        <p:sp>
          <p:nvSpPr>
            <p:cNvPr id="5" name="object 5"/>
            <p:cNvSpPr/>
            <p:nvPr/>
          </p:nvSpPr>
          <p:spPr>
            <a:xfrm>
              <a:off x="2390774" y="1609723"/>
              <a:ext cx="1428750" cy="685800"/>
            </a:xfrm>
            <a:custGeom>
              <a:avLst/>
              <a:gdLst/>
              <a:ahLst/>
              <a:cxnLst/>
              <a:rect l="l" t="t" r="r" b="b"/>
              <a:pathLst>
                <a:path w="1428750" h="685800">
                  <a:moveTo>
                    <a:pt x="1387440" y="685798"/>
                  </a:moveTo>
                  <a:lnTo>
                    <a:pt x="41309" y="685798"/>
                  </a:lnTo>
                  <a:lnTo>
                    <a:pt x="35234" y="684586"/>
                  </a:lnTo>
                  <a:lnTo>
                    <a:pt x="1208" y="650560"/>
                  </a:lnTo>
                  <a:lnTo>
                    <a:pt x="0" y="644488"/>
                  </a:lnTo>
                  <a:lnTo>
                    <a:pt x="0" y="638174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1387440" y="0"/>
                  </a:lnTo>
                  <a:lnTo>
                    <a:pt x="1422707" y="23561"/>
                  </a:lnTo>
                  <a:lnTo>
                    <a:pt x="1428749" y="41307"/>
                  </a:lnTo>
                  <a:lnTo>
                    <a:pt x="1428749" y="644488"/>
                  </a:lnTo>
                  <a:lnTo>
                    <a:pt x="1405184" y="679753"/>
                  </a:lnTo>
                  <a:lnTo>
                    <a:pt x="1393515" y="684586"/>
                  </a:lnTo>
                  <a:lnTo>
                    <a:pt x="1387440" y="685798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90774" y="1609723"/>
              <a:ext cx="1428750" cy="685800"/>
            </a:xfrm>
            <a:custGeom>
              <a:avLst/>
              <a:gdLst/>
              <a:ahLst/>
              <a:cxnLst/>
              <a:rect l="l" t="t" r="r" b="b"/>
              <a:pathLst>
                <a:path w="1428750" h="685800">
                  <a:moveTo>
                    <a:pt x="0" y="638174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0"/>
                  </a:lnTo>
                  <a:lnTo>
                    <a:pt x="3625" y="29396"/>
                  </a:lnTo>
                  <a:lnTo>
                    <a:pt x="6041" y="23561"/>
                  </a:lnTo>
                  <a:lnTo>
                    <a:pt x="9483" y="18412"/>
                  </a:lnTo>
                  <a:lnTo>
                    <a:pt x="13949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0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381125" y="0"/>
                  </a:lnTo>
                  <a:lnTo>
                    <a:pt x="1387440" y="0"/>
                  </a:lnTo>
                  <a:lnTo>
                    <a:pt x="1393515" y="1206"/>
                  </a:lnTo>
                  <a:lnTo>
                    <a:pt x="1399350" y="3620"/>
                  </a:lnTo>
                  <a:lnTo>
                    <a:pt x="1405184" y="6038"/>
                  </a:lnTo>
                  <a:lnTo>
                    <a:pt x="1410334" y="9481"/>
                  </a:lnTo>
                  <a:lnTo>
                    <a:pt x="1414800" y="13948"/>
                  </a:lnTo>
                  <a:lnTo>
                    <a:pt x="1419266" y="18412"/>
                  </a:lnTo>
                  <a:lnTo>
                    <a:pt x="1422707" y="23561"/>
                  </a:lnTo>
                  <a:lnTo>
                    <a:pt x="1425124" y="29396"/>
                  </a:lnTo>
                  <a:lnTo>
                    <a:pt x="1427541" y="35230"/>
                  </a:lnTo>
                  <a:lnTo>
                    <a:pt x="1428749" y="41307"/>
                  </a:lnTo>
                  <a:lnTo>
                    <a:pt x="1428750" y="47624"/>
                  </a:lnTo>
                  <a:lnTo>
                    <a:pt x="1428750" y="638174"/>
                  </a:lnTo>
                  <a:lnTo>
                    <a:pt x="1428749" y="644488"/>
                  </a:lnTo>
                  <a:lnTo>
                    <a:pt x="1427541" y="650560"/>
                  </a:lnTo>
                  <a:lnTo>
                    <a:pt x="1425124" y="656394"/>
                  </a:lnTo>
                  <a:lnTo>
                    <a:pt x="1422707" y="662229"/>
                  </a:lnTo>
                  <a:lnTo>
                    <a:pt x="1387440" y="685798"/>
                  </a:lnTo>
                  <a:lnTo>
                    <a:pt x="1381125" y="685799"/>
                  </a:lnTo>
                  <a:lnTo>
                    <a:pt x="47625" y="685799"/>
                  </a:lnTo>
                  <a:lnTo>
                    <a:pt x="41309" y="685798"/>
                  </a:lnTo>
                  <a:lnTo>
                    <a:pt x="35234" y="684586"/>
                  </a:lnTo>
                  <a:lnTo>
                    <a:pt x="29399" y="682169"/>
                  </a:lnTo>
                  <a:lnTo>
                    <a:pt x="23564" y="679753"/>
                  </a:lnTo>
                  <a:lnTo>
                    <a:pt x="3625" y="656394"/>
                  </a:lnTo>
                  <a:lnTo>
                    <a:pt x="1208" y="650560"/>
                  </a:lnTo>
                  <a:lnTo>
                    <a:pt x="0" y="644488"/>
                  </a:lnTo>
                  <a:lnTo>
                    <a:pt x="0" y="638174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2856" y="1689131"/>
            <a:ext cx="1148715" cy="52451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248920">
              <a:lnSpc>
                <a:spcPts val="1280"/>
              </a:lnSpc>
              <a:spcBef>
                <a:spcPts val="225"/>
              </a:spcBef>
            </a:pP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Raw</a:t>
            </a:r>
            <a:r>
              <a:rPr sz="11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1A1A1A"/>
                </a:solidFill>
                <a:latin typeface="Trebuchet MS"/>
                <a:cs typeface="Trebuchet MS"/>
              </a:rPr>
              <a:t>.mat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EEG</a:t>
            </a:r>
            <a:r>
              <a:rPr sz="115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30ch@200Hz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fNIRS</a:t>
            </a:r>
            <a:r>
              <a:rPr sz="11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36ch@10Hz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0650" y="1822481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29099" y="1685923"/>
            <a:ext cx="1590675" cy="542925"/>
            <a:chOff x="4229099" y="1685923"/>
            <a:chExt cx="1590675" cy="542925"/>
          </a:xfrm>
        </p:grpSpPr>
        <p:sp>
          <p:nvSpPr>
            <p:cNvPr id="10" name="object 10"/>
            <p:cNvSpPr/>
            <p:nvPr/>
          </p:nvSpPr>
          <p:spPr>
            <a:xfrm>
              <a:off x="4238624" y="1695448"/>
              <a:ext cx="1571625" cy="523875"/>
            </a:xfrm>
            <a:custGeom>
              <a:avLst/>
              <a:gdLst/>
              <a:ahLst/>
              <a:cxnLst/>
              <a:rect l="l" t="t" r="r" b="b"/>
              <a:pathLst>
                <a:path w="1571625" h="523875">
                  <a:moveTo>
                    <a:pt x="1530315" y="523873"/>
                  </a:moveTo>
                  <a:lnTo>
                    <a:pt x="41309" y="523873"/>
                  </a:lnTo>
                  <a:lnTo>
                    <a:pt x="35234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1530315" y="0"/>
                  </a:lnTo>
                  <a:lnTo>
                    <a:pt x="1565582" y="23561"/>
                  </a:lnTo>
                  <a:lnTo>
                    <a:pt x="1571624" y="41307"/>
                  </a:lnTo>
                  <a:lnTo>
                    <a:pt x="1571624" y="482563"/>
                  </a:lnTo>
                  <a:lnTo>
                    <a:pt x="1548059" y="517828"/>
                  </a:lnTo>
                  <a:lnTo>
                    <a:pt x="1536390" y="522663"/>
                  </a:lnTo>
                  <a:lnTo>
                    <a:pt x="1530315" y="5238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8624" y="1695448"/>
              <a:ext cx="1571625" cy="523875"/>
            </a:xfrm>
            <a:custGeom>
              <a:avLst/>
              <a:gdLst/>
              <a:ahLst/>
              <a:cxnLst/>
              <a:rect l="l" t="t" r="r" b="b"/>
              <a:pathLst>
                <a:path w="1571625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4" y="29397"/>
                  </a:lnTo>
                  <a:lnTo>
                    <a:pt x="6041" y="23561"/>
                  </a:lnTo>
                  <a:lnTo>
                    <a:pt x="9482" y="18410"/>
                  </a:lnTo>
                  <a:lnTo>
                    <a:pt x="13948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524000" y="0"/>
                  </a:lnTo>
                  <a:lnTo>
                    <a:pt x="1530315" y="0"/>
                  </a:lnTo>
                  <a:lnTo>
                    <a:pt x="1536390" y="1206"/>
                  </a:lnTo>
                  <a:lnTo>
                    <a:pt x="1542225" y="3623"/>
                  </a:lnTo>
                  <a:lnTo>
                    <a:pt x="1548059" y="6038"/>
                  </a:lnTo>
                  <a:lnTo>
                    <a:pt x="1553209" y="9481"/>
                  </a:lnTo>
                  <a:lnTo>
                    <a:pt x="1557675" y="13948"/>
                  </a:lnTo>
                  <a:lnTo>
                    <a:pt x="1562141" y="18410"/>
                  </a:lnTo>
                  <a:lnTo>
                    <a:pt x="1565582" y="23561"/>
                  </a:lnTo>
                  <a:lnTo>
                    <a:pt x="1567999" y="29396"/>
                  </a:lnTo>
                  <a:lnTo>
                    <a:pt x="1570415" y="35230"/>
                  </a:lnTo>
                  <a:lnTo>
                    <a:pt x="1571624" y="41307"/>
                  </a:lnTo>
                  <a:lnTo>
                    <a:pt x="1571625" y="47624"/>
                  </a:lnTo>
                  <a:lnTo>
                    <a:pt x="1571625" y="476249"/>
                  </a:lnTo>
                  <a:lnTo>
                    <a:pt x="1553209" y="514387"/>
                  </a:lnTo>
                  <a:lnTo>
                    <a:pt x="1524000" y="523874"/>
                  </a:lnTo>
                  <a:lnTo>
                    <a:pt x="47625" y="523874"/>
                  </a:lnTo>
                  <a:lnTo>
                    <a:pt x="9482" y="505457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81003" y="1765331"/>
            <a:ext cx="1282700" cy="362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279400">
              <a:lnSpc>
                <a:spcPts val="1280"/>
              </a:lnSpc>
              <a:spcBef>
                <a:spcPts val="225"/>
              </a:spcBef>
            </a:pP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Preprocess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filter</a:t>
            </a:r>
            <a:r>
              <a:rPr sz="1150" spc="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+</a:t>
            </a:r>
            <a:r>
              <a:rPr sz="1150" spc="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epoch-</a:t>
            </a:r>
            <a:r>
              <a:rPr sz="1150" spc="-20" dirty="0">
                <a:solidFill>
                  <a:srgbClr val="1A1A1A"/>
                </a:solidFill>
                <a:latin typeface="Trebuchet MS"/>
                <a:cs typeface="Trebuchet MS"/>
              </a:rPr>
              <a:t>align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3189" y="1822481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10298" y="1685923"/>
            <a:ext cx="1333500" cy="542925"/>
            <a:chOff x="6210298" y="1685923"/>
            <a:chExt cx="1333500" cy="542925"/>
          </a:xfrm>
        </p:grpSpPr>
        <p:sp>
          <p:nvSpPr>
            <p:cNvPr id="15" name="object 15"/>
            <p:cNvSpPr/>
            <p:nvPr/>
          </p:nvSpPr>
          <p:spPr>
            <a:xfrm>
              <a:off x="6219823" y="1695448"/>
              <a:ext cx="1314450" cy="523875"/>
            </a:xfrm>
            <a:custGeom>
              <a:avLst/>
              <a:gdLst/>
              <a:ahLst/>
              <a:cxnLst/>
              <a:rect l="l" t="t" r="r" b="b"/>
              <a:pathLst>
                <a:path w="1314450" h="523875">
                  <a:moveTo>
                    <a:pt x="1273140" y="523873"/>
                  </a:moveTo>
                  <a:lnTo>
                    <a:pt x="41309" y="523873"/>
                  </a:lnTo>
                  <a:lnTo>
                    <a:pt x="35234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1273140" y="0"/>
                  </a:lnTo>
                  <a:lnTo>
                    <a:pt x="1308407" y="23561"/>
                  </a:lnTo>
                  <a:lnTo>
                    <a:pt x="1314450" y="41307"/>
                  </a:lnTo>
                  <a:lnTo>
                    <a:pt x="1314450" y="482563"/>
                  </a:lnTo>
                  <a:lnTo>
                    <a:pt x="1290885" y="517828"/>
                  </a:lnTo>
                  <a:lnTo>
                    <a:pt x="1279215" y="522663"/>
                  </a:lnTo>
                  <a:lnTo>
                    <a:pt x="1273140" y="5238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9823" y="1695448"/>
              <a:ext cx="1314450" cy="523875"/>
            </a:xfrm>
            <a:custGeom>
              <a:avLst/>
              <a:gdLst/>
              <a:ahLst/>
              <a:cxnLst/>
              <a:rect l="l" t="t" r="r" b="b"/>
              <a:pathLst>
                <a:path w="1314450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4" y="29397"/>
                  </a:lnTo>
                  <a:lnTo>
                    <a:pt x="6041" y="23561"/>
                  </a:lnTo>
                  <a:lnTo>
                    <a:pt x="9483" y="18410"/>
                  </a:lnTo>
                  <a:lnTo>
                    <a:pt x="13949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266825" y="0"/>
                  </a:lnTo>
                  <a:lnTo>
                    <a:pt x="1273140" y="0"/>
                  </a:lnTo>
                  <a:lnTo>
                    <a:pt x="1279215" y="1206"/>
                  </a:lnTo>
                  <a:lnTo>
                    <a:pt x="1285050" y="3623"/>
                  </a:lnTo>
                  <a:lnTo>
                    <a:pt x="1290885" y="6038"/>
                  </a:lnTo>
                  <a:lnTo>
                    <a:pt x="1296035" y="9481"/>
                  </a:lnTo>
                  <a:lnTo>
                    <a:pt x="1300501" y="13948"/>
                  </a:lnTo>
                  <a:lnTo>
                    <a:pt x="1304966" y="18410"/>
                  </a:lnTo>
                  <a:lnTo>
                    <a:pt x="1308407" y="23561"/>
                  </a:lnTo>
                  <a:lnTo>
                    <a:pt x="1310824" y="29396"/>
                  </a:lnTo>
                  <a:lnTo>
                    <a:pt x="1313241" y="35230"/>
                  </a:lnTo>
                  <a:lnTo>
                    <a:pt x="1314450" y="41307"/>
                  </a:lnTo>
                  <a:lnTo>
                    <a:pt x="1314450" y="47624"/>
                  </a:lnTo>
                  <a:lnTo>
                    <a:pt x="1314450" y="476249"/>
                  </a:lnTo>
                  <a:lnTo>
                    <a:pt x="1314450" y="482563"/>
                  </a:lnTo>
                  <a:lnTo>
                    <a:pt x="1313241" y="488637"/>
                  </a:lnTo>
                  <a:lnTo>
                    <a:pt x="1285050" y="520246"/>
                  </a:lnTo>
                  <a:lnTo>
                    <a:pt x="1266825" y="523874"/>
                  </a:lnTo>
                  <a:lnTo>
                    <a:pt x="47625" y="523874"/>
                  </a:lnTo>
                  <a:lnTo>
                    <a:pt x="9483" y="505457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63542" y="1765331"/>
            <a:ext cx="1026794" cy="362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8890">
              <a:lnSpc>
                <a:spcPts val="1280"/>
              </a:lnSpc>
              <a:spcBef>
                <a:spcPts val="225"/>
              </a:spcBef>
            </a:pP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Sliding-window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features</a:t>
            </a:r>
            <a:r>
              <a:rPr sz="1150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(1476)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9744" y="1822481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34323" y="1685923"/>
            <a:ext cx="1876425" cy="542925"/>
            <a:chOff x="7934323" y="1685923"/>
            <a:chExt cx="1876425" cy="542925"/>
          </a:xfrm>
        </p:grpSpPr>
        <p:sp>
          <p:nvSpPr>
            <p:cNvPr id="20" name="object 20"/>
            <p:cNvSpPr/>
            <p:nvPr/>
          </p:nvSpPr>
          <p:spPr>
            <a:xfrm>
              <a:off x="7943848" y="1695448"/>
              <a:ext cx="1857375" cy="523875"/>
            </a:xfrm>
            <a:custGeom>
              <a:avLst/>
              <a:gdLst/>
              <a:ahLst/>
              <a:cxnLst/>
              <a:rect l="l" t="t" r="r" b="b"/>
              <a:pathLst>
                <a:path w="1857375" h="523875">
                  <a:moveTo>
                    <a:pt x="1816065" y="523873"/>
                  </a:moveTo>
                  <a:lnTo>
                    <a:pt x="41309" y="523873"/>
                  </a:lnTo>
                  <a:lnTo>
                    <a:pt x="35233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1816065" y="0"/>
                  </a:lnTo>
                  <a:lnTo>
                    <a:pt x="1851331" y="23561"/>
                  </a:lnTo>
                  <a:lnTo>
                    <a:pt x="1857374" y="41307"/>
                  </a:lnTo>
                  <a:lnTo>
                    <a:pt x="1857374" y="482563"/>
                  </a:lnTo>
                  <a:lnTo>
                    <a:pt x="1833808" y="517828"/>
                  </a:lnTo>
                  <a:lnTo>
                    <a:pt x="1822139" y="522663"/>
                  </a:lnTo>
                  <a:lnTo>
                    <a:pt x="1816065" y="5238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43848" y="1695448"/>
              <a:ext cx="1857375" cy="523875"/>
            </a:xfrm>
            <a:custGeom>
              <a:avLst/>
              <a:gdLst/>
              <a:ahLst/>
              <a:cxnLst/>
              <a:rect l="l" t="t" r="r" b="b"/>
              <a:pathLst>
                <a:path w="1857375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4" y="29397"/>
                  </a:lnTo>
                  <a:lnTo>
                    <a:pt x="6041" y="23561"/>
                  </a:lnTo>
                  <a:lnTo>
                    <a:pt x="9483" y="18410"/>
                  </a:lnTo>
                  <a:lnTo>
                    <a:pt x="13949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3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809750" y="0"/>
                  </a:lnTo>
                  <a:lnTo>
                    <a:pt x="1816065" y="0"/>
                  </a:lnTo>
                  <a:lnTo>
                    <a:pt x="1822139" y="1206"/>
                  </a:lnTo>
                  <a:lnTo>
                    <a:pt x="1827973" y="3623"/>
                  </a:lnTo>
                  <a:lnTo>
                    <a:pt x="1833808" y="6038"/>
                  </a:lnTo>
                  <a:lnTo>
                    <a:pt x="1838959" y="9481"/>
                  </a:lnTo>
                  <a:lnTo>
                    <a:pt x="1843425" y="13948"/>
                  </a:lnTo>
                  <a:lnTo>
                    <a:pt x="1847889" y="18410"/>
                  </a:lnTo>
                  <a:lnTo>
                    <a:pt x="1851331" y="23561"/>
                  </a:lnTo>
                  <a:lnTo>
                    <a:pt x="1853748" y="29396"/>
                  </a:lnTo>
                  <a:lnTo>
                    <a:pt x="1856166" y="35230"/>
                  </a:lnTo>
                  <a:lnTo>
                    <a:pt x="1857374" y="41307"/>
                  </a:lnTo>
                  <a:lnTo>
                    <a:pt x="1857375" y="47624"/>
                  </a:lnTo>
                  <a:lnTo>
                    <a:pt x="1857375" y="476249"/>
                  </a:lnTo>
                  <a:lnTo>
                    <a:pt x="1838959" y="514387"/>
                  </a:lnTo>
                  <a:lnTo>
                    <a:pt x="1809750" y="523874"/>
                  </a:lnTo>
                  <a:lnTo>
                    <a:pt x="47625" y="523874"/>
                  </a:lnTo>
                  <a:lnTo>
                    <a:pt x="9483" y="505457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090098" y="1765331"/>
            <a:ext cx="1569085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25"/>
              </a:lnSpc>
              <a:spcBef>
                <a:spcPts val="100"/>
              </a:spcBef>
            </a:pPr>
            <a:r>
              <a:rPr sz="1150" spc="-25" dirty="0">
                <a:solidFill>
                  <a:srgbClr val="1A1A1A"/>
                </a:solidFill>
                <a:latin typeface="Trebuchet MS"/>
                <a:cs typeface="Trebuchet MS"/>
              </a:rPr>
              <a:t>Per-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subject</a:t>
            </a:r>
            <a:r>
              <a:rPr sz="1150" spc="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z-</a:t>
            </a:r>
            <a:r>
              <a:rPr sz="1150" spc="-20" dirty="0">
                <a:solidFill>
                  <a:srgbClr val="1A1A1A"/>
                </a:solidFill>
                <a:latin typeface="Trebuchet MS"/>
                <a:cs typeface="Trebuchet MS"/>
              </a:rPr>
              <a:t>score</a:t>
            </a:r>
            <a:endParaRPr sz="1150">
              <a:latin typeface="Trebuchet MS"/>
              <a:cs typeface="Trebuchet MS"/>
            </a:endParaRPr>
          </a:p>
          <a:p>
            <a:pPr algn="ctr">
              <a:lnSpc>
                <a:spcPts val="1330"/>
              </a:lnSpc>
            </a:pP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+</a:t>
            </a:r>
            <a:r>
              <a:rPr sz="1150" spc="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log,</a:t>
            </a:r>
            <a:r>
              <a:rPr sz="1150" spc="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train-</a:t>
            </a: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only</a:t>
            </a:r>
            <a:r>
              <a:rPr sz="1150" spc="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scalers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48024" y="2581273"/>
            <a:ext cx="1047750" cy="542925"/>
            <a:chOff x="3248024" y="2581273"/>
            <a:chExt cx="1047750" cy="542925"/>
          </a:xfrm>
        </p:grpSpPr>
        <p:sp>
          <p:nvSpPr>
            <p:cNvPr id="24" name="object 24"/>
            <p:cNvSpPr/>
            <p:nvPr/>
          </p:nvSpPr>
          <p:spPr>
            <a:xfrm>
              <a:off x="3257549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987390" y="523873"/>
                  </a:moveTo>
                  <a:lnTo>
                    <a:pt x="41309" y="523873"/>
                  </a:lnTo>
                  <a:lnTo>
                    <a:pt x="35234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987390" y="0"/>
                  </a:lnTo>
                  <a:lnTo>
                    <a:pt x="1022657" y="23563"/>
                  </a:lnTo>
                  <a:lnTo>
                    <a:pt x="1028699" y="41307"/>
                  </a:lnTo>
                  <a:lnTo>
                    <a:pt x="1028699" y="482563"/>
                  </a:lnTo>
                  <a:lnTo>
                    <a:pt x="1005134" y="517831"/>
                  </a:lnTo>
                  <a:lnTo>
                    <a:pt x="993465" y="522663"/>
                  </a:lnTo>
                  <a:lnTo>
                    <a:pt x="987390" y="523873"/>
                  </a:lnTo>
                  <a:close/>
                </a:path>
              </a:pathLst>
            </a:custGeom>
            <a:solidFill>
              <a:srgbClr val="FAE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57549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5" y="29397"/>
                  </a:lnTo>
                  <a:lnTo>
                    <a:pt x="6042" y="23563"/>
                  </a:lnTo>
                  <a:lnTo>
                    <a:pt x="9483" y="18412"/>
                  </a:lnTo>
                  <a:lnTo>
                    <a:pt x="13949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81075" y="0"/>
                  </a:lnTo>
                  <a:lnTo>
                    <a:pt x="987390" y="0"/>
                  </a:lnTo>
                  <a:lnTo>
                    <a:pt x="993465" y="1206"/>
                  </a:lnTo>
                  <a:lnTo>
                    <a:pt x="999299" y="3623"/>
                  </a:lnTo>
                  <a:lnTo>
                    <a:pt x="1005134" y="6038"/>
                  </a:lnTo>
                  <a:lnTo>
                    <a:pt x="1010285" y="9481"/>
                  </a:lnTo>
                  <a:lnTo>
                    <a:pt x="1014751" y="13948"/>
                  </a:lnTo>
                  <a:lnTo>
                    <a:pt x="1019216" y="18412"/>
                  </a:lnTo>
                  <a:lnTo>
                    <a:pt x="1028700" y="47624"/>
                  </a:lnTo>
                  <a:lnTo>
                    <a:pt x="1028700" y="476249"/>
                  </a:lnTo>
                  <a:lnTo>
                    <a:pt x="1010285" y="514389"/>
                  </a:lnTo>
                  <a:lnTo>
                    <a:pt x="999299" y="520246"/>
                  </a:lnTo>
                  <a:lnTo>
                    <a:pt x="993465" y="522663"/>
                  </a:lnTo>
                  <a:lnTo>
                    <a:pt x="987390" y="523873"/>
                  </a:lnTo>
                  <a:lnTo>
                    <a:pt x="981075" y="523874"/>
                  </a:lnTo>
                  <a:lnTo>
                    <a:pt x="47625" y="523874"/>
                  </a:lnTo>
                  <a:lnTo>
                    <a:pt x="41309" y="523873"/>
                  </a:lnTo>
                  <a:lnTo>
                    <a:pt x="35234" y="522663"/>
                  </a:lnTo>
                  <a:lnTo>
                    <a:pt x="29399" y="520246"/>
                  </a:lnTo>
                  <a:lnTo>
                    <a:pt x="23564" y="517831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BD58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71068" y="2670206"/>
            <a:ext cx="604520" cy="362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62230">
              <a:lnSpc>
                <a:spcPts val="1280"/>
              </a:lnSpc>
              <a:spcBef>
                <a:spcPts val="225"/>
              </a:spcBef>
            </a:pPr>
            <a:r>
              <a:rPr sz="1150" b="1" spc="-10" dirty="0">
                <a:solidFill>
                  <a:srgbClr val="BD582B"/>
                </a:solidFill>
                <a:latin typeface="Trebuchet MS"/>
                <a:cs typeface="Trebuchet MS"/>
              </a:rPr>
              <a:t>Hybrid Network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95886" y="2727356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95824" y="2657473"/>
            <a:ext cx="1352550" cy="390525"/>
            <a:chOff x="4695824" y="2657473"/>
            <a:chExt cx="1352550" cy="390525"/>
          </a:xfrm>
        </p:grpSpPr>
        <p:sp>
          <p:nvSpPr>
            <p:cNvPr id="29" name="object 29"/>
            <p:cNvSpPr/>
            <p:nvPr/>
          </p:nvSpPr>
          <p:spPr>
            <a:xfrm>
              <a:off x="4705349" y="2666998"/>
              <a:ext cx="1333500" cy="371475"/>
            </a:xfrm>
            <a:custGeom>
              <a:avLst/>
              <a:gdLst/>
              <a:ahLst/>
              <a:cxnLst/>
              <a:rect l="l" t="t" r="r" b="b"/>
              <a:pathLst>
                <a:path w="1333500" h="371475">
                  <a:moveTo>
                    <a:pt x="1292189" y="371473"/>
                  </a:moveTo>
                  <a:lnTo>
                    <a:pt x="41309" y="371473"/>
                  </a:lnTo>
                  <a:lnTo>
                    <a:pt x="35233" y="370261"/>
                  </a:lnTo>
                  <a:lnTo>
                    <a:pt x="1208" y="336237"/>
                  </a:lnTo>
                  <a:lnTo>
                    <a:pt x="0" y="330163"/>
                  </a:lnTo>
                  <a:lnTo>
                    <a:pt x="0" y="3238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1292189" y="0"/>
                  </a:lnTo>
                  <a:lnTo>
                    <a:pt x="1327456" y="23559"/>
                  </a:lnTo>
                  <a:lnTo>
                    <a:pt x="1333499" y="41307"/>
                  </a:lnTo>
                  <a:lnTo>
                    <a:pt x="1333499" y="330163"/>
                  </a:lnTo>
                  <a:lnTo>
                    <a:pt x="1309934" y="365428"/>
                  </a:lnTo>
                  <a:lnTo>
                    <a:pt x="1298264" y="370263"/>
                  </a:lnTo>
                  <a:lnTo>
                    <a:pt x="1292189" y="3714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05349" y="2666998"/>
              <a:ext cx="1333500" cy="371475"/>
            </a:xfrm>
            <a:custGeom>
              <a:avLst/>
              <a:gdLst/>
              <a:ahLst/>
              <a:cxnLst/>
              <a:rect l="l" t="t" r="r" b="b"/>
              <a:pathLst>
                <a:path w="1333500" h="371475">
                  <a:moveTo>
                    <a:pt x="0" y="3238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0"/>
                  </a:lnTo>
                  <a:lnTo>
                    <a:pt x="3624" y="29393"/>
                  </a:lnTo>
                  <a:lnTo>
                    <a:pt x="6041" y="23559"/>
                  </a:lnTo>
                  <a:lnTo>
                    <a:pt x="9483" y="18408"/>
                  </a:lnTo>
                  <a:lnTo>
                    <a:pt x="13948" y="13945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285875" y="0"/>
                  </a:lnTo>
                  <a:lnTo>
                    <a:pt x="1292189" y="0"/>
                  </a:lnTo>
                  <a:lnTo>
                    <a:pt x="1298264" y="1206"/>
                  </a:lnTo>
                  <a:lnTo>
                    <a:pt x="1304099" y="3623"/>
                  </a:lnTo>
                  <a:lnTo>
                    <a:pt x="1309934" y="6038"/>
                  </a:lnTo>
                  <a:lnTo>
                    <a:pt x="1315084" y="9481"/>
                  </a:lnTo>
                  <a:lnTo>
                    <a:pt x="1319550" y="13945"/>
                  </a:lnTo>
                  <a:lnTo>
                    <a:pt x="1324015" y="18408"/>
                  </a:lnTo>
                  <a:lnTo>
                    <a:pt x="1333500" y="47624"/>
                  </a:lnTo>
                  <a:lnTo>
                    <a:pt x="1333500" y="323849"/>
                  </a:lnTo>
                  <a:lnTo>
                    <a:pt x="1315084" y="361987"/>
                  </a:lnTo>
                  <a:lnTo>
                    <a:pt x="1285875" y="371474"/>
                  </a:lnTo>
                  <a:lnTo>
                    <a:pt x="47625" y="371474"/>
                  </a:lnTo>
                  <a:lnTo>
                    <a:pt x="9483" y="353057"/>
                  </a:lnTo>
                  <a:lnTo>
                    <a:pt x="0" y="330163"/>
                  </a:lnTo>
                  <a:lnTo>
                    <a:pt x="0" y="3238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46240" y="2746406"/>
            <a:ext cx="105283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A1A1A"/>
                </a:solidFill>
                <a:latin typeface="Trebuchet MS"/>
                <a:cs typeface="Trebuchet MS"/>
              </a:rPr>
              <a:t>serving/</a:t>
            </a: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 bundle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48635" y="2727356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48424" y="2581273"/>
            <a:ext cx="1047750" cy="542925"/>
            <a:chOff x="6448424" y="2581273"/>
            <a:chExt cx="1047750" cy="542925"/>
          </a:xfrm>
        </p:grpSpPr>
        <p:sp>
          <p:nvSpPr>
            <p:cNvPr id="34" name="object 34"/>
            <p:cNvSpPr/>
            <p:nvPr/>
          </p:nvSpPr>
          <p:spPr>
            <a:xfrm>
              <a:off x="6457949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987389" y="523873"/>
                  </a:moveTo>
                  <a:lnTo>
                    <a:pt x="41309" y="523873"/>
                  </a:lnTo>
                  <a:lnTo>
                    <a:pt x="35234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987389" y="0"/>
                  </a:lnTo>
                  <a:lnTo>
                    <a:pt x="1022656" y="23563"/>
                  </a:lnTo>
                  <a:lnTo>
                    <a:pt x="1028699" y="41307"/>
                  </a:lnTo>
                  <a:lnTo>
                    <a:pt x="1028699" y="482563"/>
                  </a:lnTo>
                  <a:lnTo>
                    <a:pt x="1005133" y="517831"/>
                  </a:lnTo>
                  <a:lnTo>
                    <a:pt x="993464" y="522663"/>
                  </a:lnTo>
                  <a:lnTo>
                    <a:pt x="987389" y="5238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57949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4" y="29397"/>
                  </a:lnTo>
                  <a:lnTo>
                    <a:pt x="6041" y="23563"/>
                  </a:lnTo>
                  <a:lnTo>
                    <a:pt x="9482" y="18412"/>
                  </a:lnTo>
                  <a:lnTo>
                    <a:pt x="13949" y="13948"/>
                  </a:lnTo>
                  <a:lnTo>
                    <a:pt x="18414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4" y="0"/>
                  </a:lnTo>
                  <a:lnTo>
                    <a:pt x="981074" y="0"/>
                  </a:lnTo>
                  <a:lnTo>
                    <a:pt x="987389" y="0"/>
                  </a:lnTo>
                  <a:lnTo>
                    <a:pt x="993464" y="1206"/>
                  </a:lnTo>
                  <a:lnTo>
                    <a:pt x="999298" y="3623"/>
                  </a:lnTo>
                  <a:lnTo>
                    <a:pt x="1005133" y="6038"/>
                  </a:lnTo>
                  <a:lnTo>
                    <a:pt x="1010284" y="9481"/>
                  </a:lnTo>
                  <a:lnTo>
                    <a:pt x="1014750" y="13948"/>
                  </a:lnTo>
                  <a:lnTo>
                    <a:pt x="1019215" y="18412"/>
                  </a:lnTo>
                  <a:lnTo>
                    <a:pt x="1028699" y="47624"/>
                  </a:lnTo>
                  <a:lnTo>
                    <a:pt x="1028699" y="476249"/>
                  </a:lnTo>
                  <a:lnTo>
                    <a:pt x="1028699" y="482563"/>
                  </a:lnTo>
                  <a:lnTo>
                    <a:pt x="1027490" y="488637"/>
                  </a:lnTo>
                  <a:lnTo>
                    <a:pt x="1025072" y="494472"/>
                  </a:lnTo>
                  <a:lnTo>
                    <a:pt x="1022656" y="500306"/>
                  </a:lnTo>
                  <a:lnTo>
                    <a:pt x="999298" y="520246"/>
                  </a:lnTo>
                  <a:lnTo>
                    <a:pt x="993464" y="522663"/>
                  </a:lnTo>
                  <a:lnTo>
                    <a:pt x="987389" y="523873"/>
                  </a:lnTo>
                  <a:lnTo>
                    <a:pt x="981074" y="523874"/>
                  </a:lnTo>
                  <a:lnTo>
                    <a:pt x="47624" y="523874"/>
                  </a:lnTo>
                  <a:lnTo>
                    <a:pt x="41309" y="523873"/>
                  </a:lnTo>
                  <a:lnTo>
                    <a:pt x="35234" y="522663"/>
                  </a:lnTo>
                  <a:lnTo>
                    <a:pt x="29399" y="520246"/>
                  </a:lnTo>
                  <a:lnTo>
                    <a:pt x="23564" y="517831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686946" y="2670206"/>
            <a:ext cx="570230" cy="362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3020">
              <a:lnSpc>
                <a:spcPts val="1280"/>
              </a:lnSpc>
              <a:spcBef>
                <a:spcPts val="225"/>
              </a:spcBef>
            </a:pP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FastAPI backend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94798" y="2727356"/>
            <a:ext cx="2012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38212"/>
                </a:solidFill>
                <a:latin typeface="Segoe UI"/>
                <a:cs typeface="Segoe UI"/>
              </a:rPr>
              <a:t>→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896223" y="2581273"/>
            <a:ext cx="1047750" cy="542925"/>
            <a:chOff x="7896223" y="2581273"/>
            <a:chExt cx="1047750" cy="542925"/>
          </a:xfrm>
        </p:grpSpPr>
        <p:sp>
          <p:nvSpPr>
            <p:cNvPr id="39" name="object 39"/>
            <p:cNvSpPr/>
            <p:nvPr/>
          </p:nvSpPr>
          <p:spPr>
            <a:xfrm>
              <a:off x="7905748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987390" y="523873"/>
                  </a:moveTo>
                  <a:lnTo>
                    <a:pt x="41309" y="523873"/>
                  </a:lnTo>
                  <a:lnTo>
                    <a:pt x="35234" y="522663"/>
                  </a:lnTo>
                  <a:lnTo>
                    <a:pt x="1208" y="488637"/>
                  </a:lnTo>
                  <a:lnTo>
                    <a:pt x="0" y="482563"/>
                  </a:lnTo>
                  <a:lnTo>
                    <a:pt x="0" y="4762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987390" y="0"/>
                  </a:lnTo>
                  <a:lnTo>
                    <a:pt x="1022657" y="23563"/>
                  </a:lnTo>
                  <a:lnTo>
                    <a:pt x="1028699" y="41307"/>
                  </a:lnTo>
                  <a:lnTo>
                    <a:pt x="1028699" y="482563"/>
                  </a:lnTo>
                  <a:lnTo>
                    <a:pt x="1005134" y="517831"/>
                  </a:lnTo>
                  <a:lnTo>
                    <a:pt x="993464" y="522663"/>
                  </a:lnTo>
                  <a:lnTo>
                    <a:pt x="987390" y="523873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905748" y="2590798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0" y="476249"/>
                  </a:moveTo>
                  <a:lnTo>
                    <a:pt x="0" y="47624"/>
                  </a:lnTo>
                  <a:lnTo>
                    <a:pt x="0" y="41307"/>
                  </a:lnTo>
                  <a:lnTo>
                    <a:pt x="1208" y="35232"/>
                  </a:lnTo>
                  <a:lnTo>
                    <a:pt x="3625" y="29397"/>
                  </a:lnTo>
                  <a:lnTo>
                    <a:pt x="6042" y="23563"/>
                  </a:lnTo>
                  <a:lnTo>
                    <a:pt x="9483" y="18412"/>
                  </a:lnTo>
                  <a:lnTo>
                    <a:pt x="13949" y="13948"/>
                  </a:lnTo>
                  <a:lnTo>
                    <a:pt x="18415" y="9481"/>
                  </a:lnTo>
                  <a:lnTo>
                    <a:pt x="23564" y="6038"/>
                  </a:lnTo>
                  <a:lnTo>
                    <a:pt x="29399" y="3623"/>
                  </a:lnTo>
                  <a:lnTo>
                    <a:pt x="35234" y="1206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81075" y="0"/>
                  </a:lnTo>
                  <a:lnTo>
                    <a:pt x="987390" y="0"/>
                  </a:lnTo>
                  <a:lnTo>
                    <a:pt x="993464" y="1206"/>
                  </a:lnTo>
                  <a:lnTo>
                    <a:pt x="999299" y="3623"/>
                  </a:lnTo>
                  <a:lnTo>
                    <a:pt x="1005134" y="6038"/>
                  </a:lnTo>
                  <a:lnTo>
                    <a:pt x="1010284" y="9481"/>
                  </a:lnTo>
                  <a:lnTo>
                    <a:pt x="1014750" y="13948"/>
                  </a:lnTo>
                  <a:lnTo>
                    <a:pt x="1019216" y="18412"/>
                  </a:lnTo>
                  <a:lnTo>
                    <a:pt x="1022657" y="23563"/>
                  </a:lnTo>
                  <a:lnTo>
                    <a:pt x="1025073" y="29397"/>
                  </a:lnTo>
                  <a:lnTo>
                    <a:pt x="1027491" y="35232"/>
                  </a:lnTo>
                  <a:lnTo>
                    <a:pt x="1028699" y="41307"/>
                  </a:lnTo>
                  <a:lnTo>
                    <a:pt x="1028700" y="47624"/>
                  </a:lnTo>
                  <a:lnTo>
                    <a:pt x="1028700" y="476249"/>
                  </a:lnTo>
                  <a:lnTo>
                    <a:pt x="1028699" y="482563"/>
                  </a:lnTo>
                  <a:lnTo>
                    <a:pt x="1027491" y="488637"/>
                  </a:lnTo>
                  <a:lnTo>
                    <a:pt x="1025073" y="494472"/>
                  </a:lnTo>
                  <a:lnTo>
                    <a:pt x="1022657" y="500306"/>
                  </a:lnTo>
                  <a:lnTo>
                    <a:pt x="999299" y="520246"/>
                  </a:lnTo>
                  <a:lnTo>
                    <a:pt x="993464" y="522663"/>
                  </a:lnTo>
                  <a:lnTo>
                    <a:pt x="987390" y="523873"/>
                  </a:lnTo>
                  <a:lnTo>
                    <a:pt x="981075" y="523874"/>
                  </a:lnTo>
                  <a:lnTo>
                    <a:pt x="47625" y="523874"/>
                  </a:lnTo>
                  <a:lnTo>
                    <a:pt x="41309" y="523873"/>
                  </a:lnTo>
                  <a:lnTo>
                    <a:pt x="35234" y="522663"/>
                  </a:lnTo>
                  <a:lnTo>
                    <a:pt x="29399" y="520246"/>
                  </a:lnTo>
                  <a:lnTo>
                    <a:pt x="23564" y="517831"/>
                  </a:lnTo>
                  <a:lnTo>
                    <a:pt x="0" y="482563"/>
                  </a:lnTo>
                  <a:lnTo>
                    <a:pt x="0" y="476249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21650" y="2670206"/>
            <a:ext cx="593090" cy="362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00965">
              <a:lnSpc>
                <a:spcPts val="1280"/>
              </a:lnSpc>
              <a:spcBef>
                <a:spcPts val="225"/>
              </a:spcBef>
            </a:pPr>
            <a:r>
              <a:rPr sz="1150" spc="-10" dirty="0">
                <a:solidFill>
                  <a:srgbClr val="1A1A1A"/>
                </a:solidFill>
                <a:latin typeface="Trebuchet MS"/>
                <a:cs typeface="Trebuchet MS"/>
              </a:rPr>
              <a:t>React frontend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838449" y="3409948"/>
            <a:ext cx="1181100" cy="504825"/>
          </a:xfrm>
          <a:custGeom>
            <a:avLst/>
            <a:gdLst/>
            <a:ahLst/>
            <a:cxnLst/>
            <a:rect l="l" t="t" r="r" b="b"/>
            <a:pathLst>
              <a:path w="1181100" h="504825">
                <a:moveTo>
                  <a:pt x="0" y="457199"/>
                </a:moveTo>
                <a:lnTo>
                  <a:pt x="0" y="47624"/>
                </a:lnTo>
                <a:lnTo>
                  <a:pt x="0" y="41307"/>
                </a:lnTo>
                <a:lnTo>
                  <a:pt x="1208" y="35230"/>
                </a:lnTo>
                <a:lnTo>
                  <a:pt x="3625" y="29396"/>
                </a:lnTo>
                <a:lnTo>
                  <a:pt x="6041" y="23561"/>
                </a:lnTo>
                <a:lnTo>
                  <a:pt x="9483" y="18412"/>
                </a:lnTo>
                <a:lnTo>
                  <a:pt x="13949" y="13948"/>
                </a:lnTo>
                <a:lnTo>
                  <a:pt x="18414" y="9481"/>
                </a:lnTo>
                <a:lnTo>
                  <a:pt x="23565" y="6038"/>
                </a:lnTo>
                <a:lnTo>
                  <a:pt x="29399" y="3620"/>
                </a:lnTo>
                <a:lnTo>
                  <a:pt x="35234" y="1206"/>
                </a:lnTo>
                <a:lnTo>
                  <a:pt x="41309" y="0"/>
                </a:lnTo>
                <a:lnTo>
                  <a:pt x="47625" y="0"/>
                </a:lnTo>
                <a:lnTo>
                  <a:pt x="1133475" y="0"/>
                </a:lnTo>
                <a:lnTo>
                  <a:pt x="1139790" y="0"/>
                </a:lnTo>
                <a:lnTo>
                  <a:pt x="1145865" y="1206"/>
                </a:lnTo>
                <a:lnTo>
                  <a:pt x="1151699" y="3620"/>
                </a:lnTo>
                <a:lnTo>
                  <a:pt x="1157534" y="6038"/>
                </a:lnTo>
                <a:lnTo>
                  <a:pt x="1162685" y="9481"/>
                </a:lnTo>
                <a:lnTo>
                  <a:pt x="1167150" y="13948"/>
                </a:lnTo>
                <a:lnTo>
                  <a:pt x="1171616" y="18412"/>
                </a:lnTo>
                <a:lnTo>
                  <a:pt x="1175057" y="23561"/>
                </a:lnTo>
                <a:lnTo>
                  <a:pt x="1177474" y="29396"/>
                </a:lnTo>
                <a:lnTo>
                  <a:pt x="1179891" y="35230"/>
                </a:lnTo>
                <a:lnTo>
                  <a:pt x="1181099" y="41307"/>
                </a:lnTo>
                <a:lnTo>
                  <a:pt x="1181100" y="47624"/>
                </a:lnTo>
                <a:lnTo>
                  <a:pt x="1181100" y="457199"/>
                </a:lnTo>
                <a:lnTo>
                  <a:pt x="1181099" y="463513"/>
                </a:lnTo>
                <a:lnTo>
                  <a:pt x="1179891" y="469585"/>
                </a:lnTo>
                <a:lnTo>
                  <a:pt x="1177474" y="475419"/>
                </a:lnTo>
                <a:lnTo>
                  <a:pt x="1175057" y="481254"/>
                </a:lnTo>
                <a:lnTo>
                  <a:pt x="1151699" y="501194"/>
                </a:lnTo>
                <a:lnTo>
                  <a:pt x="1145865" y="503611"/>
                </a:lnTo>
                <a:lnTo>
                  <a:pt x="1139790" y="504823"/>
                </a:lnTo>
                <a:lnTo>
                  <a:pt x="1133475" y="504824"/>
                </a:lnTo>
                <a:lnTo>
                  <a:pt x="47625" y="504824"/>
                </a:lnTo>
                <a:lnTo>
                  <a:pt x="41309" y="504823"/>
                </a:lnTo>
                <a:lnTo>
                  <a:pt x="35234" y="503611"/>
                </a:lnTo>
                <a:lnTo>
                  <a:pt x="29399" y="501194"/>
                </a:lnTo>
                <a:lnTo>
                  <a:pt x="23565" y="498778"/>
                </a:lnTo>
                <a:lnTo>
                  <a:pt x="3625" y="475422"/>
                </a:lnTo>
                <a:lnTo>
                  <a:pt x="1208" y="469587"/>
                </a:lnTo>
                <a:lnTo>
                  <a:pt x="0" y="463513"/>
                </a:lnTo>
                <a:lnTo>
                  <a:pt x="0" y="457199"/>
                </a:lnTo>
                <a:close/>
              </a:path>
            </a:pathLst>
          </a:custGeom>
          <a:ln w="19049">
            <a:solidFill>
              <a:srgbClr val="BD5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014463" y="3486213"/>
            <a:ext cx="831850" cy="354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0" marR="5080" indent="-24193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A1A1A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features </a:t>
            </a:r>
            <a:r>
              <a:rPr sz="1100" spc="-20" dirty="0">
                <a:solidFill>
                  <a:srgbClr val="1A1A1A"/>
                </a:solidFill>
                <a:latin typeface="Trebuchet MS"/>
                <a:cs typeface="Trebuchet MS"/>
              </a:rPr>
              <a:t>(540)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838449" y="4067173"/>
            <a:ext cx="1181100" cy="504825"/>
          </a:xfrm>
          <a:custGeom>
            <a:avLst/>
            <a:gdLst/>
            <a:ahLst/>
            <a:cxnLst/>
            <a:rect l="l" t="t" r="r" b="b"/>
            <a:pathLst>
              <a:path w="1181100" h="504825">
                <a:moveTo>
                  <a:pt x="0" y="457199"/>
                </a:moveTo>
                <a:lnTo>
                  <a:pt x="0" y="47624"/>
                </a:lnTo>
                <a:lnTo>
                  <a:pt x="0" y="41307"/>
                </a:lnTo>
                <a:lnTo>
                  <a:pt x="1208" y="35232"/>
                </a:lnTo>
                <a:lnTo>
                  <a:pt x="3625" y="29397"/>
                </a:lnTo>
                <a:lnTo>
                  <a:pt x="6041" y="23563"/>
                </a:lnTo>
                <a:lnTo>
                  <a:pt x="9483" y="18414"/>
                </a:lnTo>
                <a:lnTo>
                  <a:pt x="13949" y="13948"/>
                </a:lnTo>
                <a:lnTo>
                  <a:pt x="18414" y="9481"/>
                </a:lnTo>
                <a:lnTo>
                  <a:pt x="23565" y="6038"/>
                </a:lnTo>
                <a:lnTo>
                  <a:pt x="29399" y="3623"/>
                </a:lnTo>
                <a:lnTo>
                  <a:pt x="35234" y="1206"/>
                </a:lnTo>
                <a:lnTo>
                  <a:pt x="41309" y="0"/>
                </a:lnTo>
                <a:lnTo>
                  <a:pt x="47625" y="0"/>
                </a:lnTo>
                <a:lnTo>
                  <a:pt x="1133475" y="0"/>
                </a:lnTo>
                <a:lnTo>
                  <a:pt x="1139790" y="0"/>
                </a:lnTo>
                <a:lnTo>
                  <a:pt x="1145865" y="1206"/>
                </a:lnTo>
                <a:lnTo>
                  <a:pt x="1151699" y="3623"/>
                </a:lnTo>
                <a:lnTo>
                  <a:pt x="1157534" y="6038"/>
                </a:lnTo>
                <a:lnTo>
                  <a:pt x="1162685" y="9481"/>
                </a:lnTo>
                <a:lnTo>
                  <a:pt x="1167150" y="13948"/>
                </a:lnTo>
                <a:lnTo>
                  <a:pt x="1171616" y="18414"/>
                </a:lnTo>
                <a:lnTo>
                  <a:pt x="1175057" y="23563"/>
                </a:lnTo>
                <a:lnTo>
                  <a:pt x="1177474" y="29397"/>
                </a:lnTo>
                <a:lnTo>
                  <a:pt x="1179891" y="35232"/>
                </a:lnTo>
                <a:lnTo>
                  <a:pt x="1181099" y="41307"/>
                </a:lnTo>
                <a:lnTo>
                  <a:pt x="1181100" y="47624"/>
                </a:lnTo>
                <a:lnTo>
                  <a:pt x="1181100" y="457199"/>
                </a:lnTo>
                <a:lnTo>
                  <a:pt x="1162685" y="495337"/>
                </a:lnTo>
                <a:lnTo>
                  <a:pt x="1133475" y="504824"/>
                </a:lnTo>
                <a:lnTo>
                  <a:pt x="47625" y="504824"/>
                </a:lnTo>
                <a:lnTo>
                  <a:pt x="9483" y="486407"/>
                </a:lnTo>
                <a:lnTo>
                  <a:pt x="3625" y="475422"/>
                </a:lnTo>
                <a:lnTo>
                  <a:pt x="1208" y="469587"/>
                </a:lnTo>
                <a:lnTo>
                  <a:pt x="0" y="463513"/>
                </a:lnTo>
                <a:lnTo>
                  <a:pt x="0" y="457199"/>
                </a:lnTo>
                <a:close/>
              </a:path>
            </a:pathLst>
          </a:custGeom>
          <a:ln w="19049">
            <a:solidFill>
              <a:srgbClr val="BD5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972494" y="4133913"/>
            <a:ext cx="915669" cy="354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5910" marR="5080" indent="-28384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A1A1A"/>
                </a:solidFill>
                <a:latin typeface="Trebuchet MS"/>
                <a:cs typeface="Trebuchet MS"/>
              </a:rPr>
              <a:t>fNIRS</a:t>
            </a: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 features (936)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238624" y="3409948"/>
            <a:ext cx="1095375" cy="504825"/>
          </a:xfrm>
          <a:custGeom>
            <a:avLst/>
            <a:gdLst/>
            <a:ahLst/>
            <a:cxnLst/>
            <a:rect l="l" t="t" r="r" b="b"/>
            <a:pathLst>
              <a:path w="1095375" h="504825">
                <a:moveTo>
                  <a:pt x="0" y="457199"/>
                </a:moveTo>
                <a:lnTo>
                  <a:pt x="0" y="47624"/>
                </a:lnTo>
                <a:lnTo>
                  <a:pt x="0" y="41307"/>
                </a:lnTo>
                <a:lnTo>
                  <a:pt x="1208" y="35230"/>
                </a:lnTo>
                <a:lnTo>
                  <a:pt x="3624" y="29396"/>
                </a:lnTo>
                <a:lnTo>
                  <a:pt x="6041" y="23561"/>
                </a:lnTo>
                <a:lnTo>
                  <a:pt x="9482" y="18412"/>
                </a:lnTo>
                <a:lnTo>
                  <a:pt x="13948" y="13948"/>
                </a:lnTo>
                <a:lnTo>
                  <a:pt x="18414" y="9481"/>
                </a:lnTo>
                <a:lnTo>
                  <a:pt x="23564" y="6038"/>
                </a:lnTo>
                <a:lnTo>
                  <a:pt x="29399" y="3620"/>
                </a:lnTo>
                <a:lnTo>
                  <a:pt x="35234" y="1206"/>
                </a:lnTo>
                <a:lnTo>
                  <a:pt x="41309" y="0"/>
                </a:lnTo>
                <a:lnTo>
                  <a:pt x="47625" y="0"/>
                </a:lnTo>
                <a:lnTo>
                  <a:pt x="1047750" y="0"/>
                </a:lnTo>
                <a:lnTo>
                  <a:pt x="1054065" y="0"/>
                </a:lnTo>
                <a:lnTo>
                  <a:pt x="1060140" y="1206"/>
                </a:lnTo>
                <a:lnTo>
                  <a:pt x="1065975" y="3620"/>
                </a:lnTo>
                <a:lnTo>
                  <a:pt x="1071810" y="6038"/>
                </a:lnTo>
                <a:lnTo>
                  <a:pt x="1076960" y="9481"/>
                </a:lnTo>
                <a:lnTo>
                  <a:pt x="1081426" y="13948"/>
                </a:lnTo>
                <a:lnTo>
                  <a:pt x="1085891" y="18412"/>
                </a:lnTo>
                <a:lnTo>
                  <a:pt x="1089332" y="23561"/>
                </a:lnTo>
                <a:lnTo>
                  <a:pt x="1091749" y="29396"/>
                </a:lnTo>
                <a:lnTo>
                  <a:pt x="1094166" y="35230"/>
                </a:lnTo>
                <a:lnTo>
                  <a:pt x="1095374" y="41307"/>
                </a:lnTo>
                <a:lnTo>
                  <a:pt x="1095375" y="47624"/>
                </a:lnTo>
                <a:lnTo>
                  <a:pt x="1095375" y="457199"/>
                </a:lnTo>
                <a:lnTo>
                  <a:pt x="1095374" y="463513"/>
                </a:lnTo>
                <a:lnTo>
                  <a:pt x="1094166" y="469585"/>
                </a:lnTo>
                <a:lnTo>
                  <a:pt x="1091749" y="475419"/>
                </a:lnTo>
                <a:lnTo>
                  <a:pt x="1089332" y="481254"/>
                </a:lnTo>
                <a:lnTo>
                  <a:pt x="1065975" y="501194"/>
                </a:lnTo>
                <a:lnTo>
                  <a:pt x="1060140" y="503611"/>
                </a:lnTo>
                <a:lnTo>
                  <a:pt x="1054065" y="504823"/>
                </a:lnTo>
                <a:lnTo>
                  <a:pt x="1047750" y="504824"/>
                </a:lnTo>
                <a:lnTo>
                  <a:pt x="47625" y="504824"/>
                </a:lnTo>
                <a:lnTo>
                  <a:pt x="41309" y="504823"/>
                </a:lnTo>
                <a:lnTo>
                  <a:pt x="35234" y="503611"/>
                </a:lnTo>
                <a:lnTo>
                  <a:pt x="29399" y="501194"/>
                </a:lnTo>
                <a:lnTo>
                  <a:pt x="23564" y="498778"/>
                </a:lnTo>
                <a:lnTo>
                  <a:pt x="0" y="463513"/>
                </a:lnTo>
                <a:lnTo>
                  <a:pt x="0" y="457199"/>
                </a:lnTo>
                <a:close/>
              </a:path>
            </a:pathLst>
          </a:custGeom>
          <a:ln w="19049">
            <a:solidFill>
              <a:srgbClr val="BD5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375646" y="3470683"/>
            <a:ext cx="826769" cy="3670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220"/>
              </a:spcBef>
            </a:pP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ModalityMLP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878787"/>
                </a:solidFill>
                <a:latin typeface="Trebuchet MS"/>
                <a:cs typeface="Trebuchet MS"/>
              </a:rPr>
              <a:t>residual</a:t>
            </a:r>
            <a:r>
              <a:rPr sz="950" spc="-3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878787"/>
                </a:solidFill>
                <a:latin typeface="Trebuchet MS"/>
                <a:cs typeface="Trebuchet MS"/>
              </a:rPr>
              <a:t>blocks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238624" y="4067173"/>
            <a:ext cx="1095375" cy="504825"/>
          </a:xfrm>
          <a:custGeom>
            <a:avLst/>
            <a:gdLst/>
            <a:ahLst/>
            <a:cxnLst/>
            <a:rect l="l" t="t" r="r" b="b"/>
            <a:pathLst>
              <a:path w="1095375" h="504825">
                <a:moveTo>
                  <a:pt x="0" y="457199"/>
                </a:moveTo>
                <a:lnTo>
                  <a:pt x="0" y="47624"/>
                </a:lnTo>
                <a:lnTo>
                  <a:pt x="0" y="41307"/>
                </a:lnTo>
                <a:lnTo>
                  <a:pt x="1208" y="35232"/>
                </a:lnTo>
                <a:lnTo>
                  <a:pt x="3624" y="29397"/>
                </a:lnTo>
                <a:lnTo>
                  <a:pt x="6041" y="23563"/>
                </a:lnTo>
                <a:lnTo>
                  <a:pt x="9482" y="18414"/>
                </a:lnTo>
                <a:lnTo>
                  <a:pt x="13948" y="13948"/>
                </a:lnTo>
                <a:lnTo>
                  <a:pt x="18414" y="9481"/>
                </a:lnTo>
                <a:lnTo>
                  <a:pt x="23564" y="6038"/>
                </a:lnTo>
                <a:lnTo>
                  <a:pt x="29399" y="3623"/>
                </a:lnTo>
                <a:lnTo>
                  <a:pt x="35234" y="1206"/>
                </a:lnTo>
                <a:lnTo>
                  <a:pt x="41309" y="0"/>
                </a:lnTo>
                <a:lnTo>
                  <a:pt x="47625" y="0"/>
                </a:lnTo>
                <a:lnTo>
                  <a:pt x="1047750" y="0"/>
                </a:lnTo>
                <a:lnTo>
                  <a:pt x="1054065" y="0"/>
                </a:lnTo>
                <a:lnTo>
                  <a:pt x="1060140" y="1206"/>
                </a:lnTo>
                <a:lnTo>
                  <a:pt x="1065975" y="3623"/>
                </a:lnTo>
                <a:lnTo>
                  <a:pt x="1071810" y="6038"/>
                </a:lnTo>
                <a:lnTo>
                  <a:pt x="1076960" y="9481"/>
                </a:lnTo>
                <a:lnTo>
                  <a:pt x="1081426" y="13948"/>
                </a:lnTo>
                <a:lnTo>
                  <a:pt x="1085891" y="18414"/>
                </a:lnTo>
                <a:lnTo>
                  <a:pt x="1095375" y="47624"/>
                </a:lnTo>
                <a:lnTo>
                  <a:pt x="1095375" y="457199"/>
                </a:lnTo>
                <a:lnTo>
                  <a:pt x="1076960" y="495337"/>
                </a:lnTo>
                <a:lnTo>
                  <a:pt x="1047750" y="504824"/>
                </a:lnTo>
                <a:lnTo>
                  <a:pt x="47625" y="504824"/>
                </a:lnTo>
                <a:lnTo>
                  <a:pt x="9482" y="486407"/>
                </a:lnTo>
                <a:lnTo>
                  <a:pt x="0" y="463513"/>
                </a:lnTo>
                <a:lnTo>
                  <a:pt x="0" y="457199"/>
                </a:lnTo>
                <a:close/>
              </a:path>
            </a:pathLst>
          </a:custGeom>
          <a:ln w="19049">
            <a:solidFill>
              <a:srgbClr val="BD5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375646" y="4118383"/>
            <a:ext cx="826769" cy="3670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220"/>
              </a:spcBef>
            </a:pP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ModalityMLP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878787"/>
                </a:solidFill>
                <a:latin typeface="Trebuchet MS"/>
                <a:cs typeface="Trebuchet MS"/>
              </a:rPr>
              <a:t>residual</a:t>
            </a:r>
            <a:r>
              <a:rPr sz="950" spc="-3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878787"/>
                </a:solidFill>
                <a:latin typeface="Trebuchet MS"/>
                <a:cs typeface="Trebuchet MS"/>
              </a:rPr>
              <a:t>blocks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33826" y="3863975"/>
            <a:ext cx="1898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BD582B"/>
                </a:solidFill>
                <a:latin typeface="Segoe UI"/>
                <a:cs typeface="Segoe UI"/>
              </a:rPr>
              <a:t>→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915023" y="3571873"/>
            <a:ext cx="1781175" cy="838200"/>
            <a:chOff x="5915023" y="3571873"/>
            <a:chExt cx="1781175" cy="838200"/>
          </a:xfrm>
        </p:grpSpPr>
        <p:sp>
          <p:nvSpPr>
            <p:cNvPr id="52" name="object 52"/>
            <p:cNvSpPr/>
            <p:nvPr/>
          </p:nvSpPr>
          <p:spPr>
            <a:xfrm>
              <a:off x="5924548" y="3581398"/>
              <a:ext cx="1762125" cy="819150"/>
            </a:xfrm>
            <a:custGeom>
              <a:avLst/>
              <a:gdLst/>
              <a:ahLst/>
              <a:cxnLst/>
              <a:rect l="l" t="t" r="r" b="b"/>
              <a:pathLst>
                <a:path w="1762125" h="819150">
                  <a:moveTo>
                    <a:pt x="1699828" y="819148"/>
                  </a:moveTo>
                  <a:lnTo>
                    <a:pt x="62297" y="819148"/>
                  </a:lnTo>
                  <a:lnTo>
                    <a:pt x="57961" y="818719"/>
                  </a:lnTo>
                  <a:lnTo>
                    <a:pt x="22624" y="802713"/>
                  </a:lnTo>
                  <a:lnTo>
                    <a:pt x="2135" y="769774"/>
                  </a:lnTo>
                  <a:lnTo>
                    <a:pt x="0" y="756853"/>
                  </a:lnTo>
                  <a:lnTo>
                    <a:pt x="0" y="752474"/>
                  </a:lnTo>
                  <a:lnTo>
                    <a:pt x="0" y="62296"/>
                  </a:lnTo>
                  <a:lnTo>
                    <a:pt x="13669" y="25988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699828" y="0"/>
                  </a:lnTo>
                  <a:lnTo>
                    <a:pt x="1736133" y="13666"/>
                  </a:lnTo>
                  <a:lnTo>
                    <a:pt x="1758725" y="45201"/>
                  </a:lnTo>
                  <a:lnTo>
                    <a:pt x="1762124" y="62296"/>
                  </a:lnTo>
                  <a:lnTo>
                    <a:pt x="1762124" y="756853"/>
                  </a:lnTo>
                  <a:lnTo>
                    <a:pt x="1748455" y="793154"/>
                  </a:lnTo>
                  <a:lnTo>
                    <a:pt x="1716920" y="815747"/>
                  </a:lnTo>
                  <a:lnTo>
                    <a:pt x="1704164" y="818719"/>
                  </a:lnTo>
                  <a:lnTo>
                    <a:pt x="1699828" y="819148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24548" y="3581398"/>
              <a:ext cx="1762125" cy="819150"/>
            </a:xfrm>
            <a:custGeom>
              <a:avLst/>
              <a:gdLst/>
              <a:ahLst/>
              <a:cxnLst/>
              <a:rect l="l" t="t" r="r" b="b"/>
              <a:pathLst>
                <a:path w="1762125" h="819150">
                  <a:moveTo>
                    <a:pt x="0" y="7524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59"/>
                  </a:lnTo>
                  <a:lnTo>
                    <a:pt x="1281" y="53666"/>
                  </a:lnTo>
                  <a:lnTo>
                    <a:pt x="2135" y="49370"/>
                  </a:lnTo>
                  <a:lnTo>
                    <a:pt x="3399" y="45201"/>
                  </a:lnTo>
                  <a:lnTo>
                    <a:pt x="25992" y="1366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95450" y="0"/>
                  </a:lnTo>
                  <a:lnTo>
                    <a:pt x="1699828" y="0"/>
                  </a:lnTo>
                  <a:lnTo>
                    <a:pt x="1704164" y="425"/>
                  </a:lnTo>
                  <a:lnTo>
                    <a:pt x="1739501" y="16431"/>
                  </a:lnTo>
                  <a:lnTo>
                    <a:pt x="1759990" y="49370"/>
                  </a:lnTo>
                  <a:lnTo>
                    <a:pt x="1760844" y="53666"/>
                  </a:lnTo>
                  <a:lnTo>
                    <a:pt x="1761698" y="57959"/>
                  </a:lnTo>
                  <a:lnTo>
                    <a:pt x="1762124" y="62296"/>
                  </a:lnTo>
                  <a:lnTo>
                    <a:pt x="1762125" y="66674"/>
                  </a:lnTo>
                  <a:lnTo>
                    <a:pt x="1762125" y="752474"/>
                  </a:lnTo>
                  <a:lnTo>
                    <a:pt x="1750887" y="789514"/>
                  </a:lnTo>
                  <a:lnTo>
                    <a:pt x="1748455" y="793154"/>
                  </a:lnTo>
                  <a:lnTo>
                    <a:pt x="1732492" y="807908"/>
                  </a:lnTo>
                  <a:lnTo>
                    <a:pt x="1728852" y="810341"/>
                  </a:lnTo>
                  <a:lnTo>
                    <a:pt x="1708457" y="817865"/>
                  </a:lnTo>
                  <a:lnTo>
                    <a:pt x="1704164" y="818719"/>
                  </a:lnTo>
                  <a:lnTo>
                    <a:pt x="1699828" y="819148"/>
                  </a:lnTo>
                  <a:lnTo>
                    <a:pt x="1695450" y="819149"/>
                  </a:lnTo>
                  <a:lnTo>
                    <a:pt x="66675" y="819149"/>
                  </a:lnTo>
                  <a:lnTo>
                    <a:pt x="62297" y="819148"/>
                  </a:lnTo>
                  <a:lnTo>
                    <a:pt x="57961" y="818719"/>
                  </a:lnTo>
                  <a:lnTo>
                    <a:pt x="53667" y="817865"/>
                  </a:lnTo>
                  <a:lnTo>
                    <a:pt x="49373" y="817012"/>
                  </a:lnTo>
                  <a:lnTo>
                    <a:pt x="29633" y="807908"/>
                  </a:lnTo>
                  <a:lnTo>
                    <a:pt x="25992" y="805478"/>
                  </a:lnTo>
                  <a:lnTo>
                    <a:pt x="11237" y="789514"/>
                  </a:lnTo>
                  <a:lnTo>
                    <a:pt x="8804" y="785875"/>
                  </a:lnTo>
                  <a:lnTo>
                    <a:pt x="0" y="756853"/>
                  </a:lnTo>
                  <a:lnTo>
                    <a:pt x="0" y="752474"/>
                  </a:lnTo>
                  <a:close/>
                </a:path>
              </a:pathLst>
            </a:custGeom>
            <a:ln w="19049">
              <a:solidFill>
                <a:srgbClr val="E38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082853" y="3692525"/>
            <a:ext cx="1442720" cy="5638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2270" marR="374650" algn="ctr">
              <a:lnSpc>
                <a:spcPts val="1430"/>
              </a:lnSpc>
              <a:spcBef>
                <a:spcPts val="155"/>
              </a:spcBef>
            </a:pPr>
            <a:r>
              <a:rPr sz="1200" b="1" spc="-10" dirty="0">
                <a:solidFill>
                  <a:srgbClr val="E38212"/>
                </a:solidFill>
                <a:latin typeface="Trebuchet MS"/>
                <a:cs typeface="Trebuchet MS"/>
              </a:rPr>
              <a:t>Attention Fusion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950" dirty="0">
                <a:solidFill>
                  <a:srgbClr val="E38212"/>
                </a:solidFill>
                <a:latin typeface="Trebuchet MS"/>
                <a:cs typeface="Trebuchet MS"/>
              </a:rPr>
              <a:t>learned</a:t>
            </a:r>
            <a:r>
              <a:rPr sz="950" spc="-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E38212"/>
                </a:solidFill>
                <a:latin typeface="Trebuchet MS"/>
                <a:cs typeface="Trebuchet MS"/>
              </a:rPr>
              <a:t>per-</a:t>
            </a:r>
            <a:r>
              <a:rPr sz="950" dirty="0">
                <a:solidFill>
                  <a:srgbClr val="E38212"/>
                </a:solidFill>
                <a:latin typeface="Trebuchet MS"/>
                <a:cs typeface="Trebuchet MS"/>
              </a:rPr>
              <a:t>modality </a:t>
            </a:r>
            <a:r>
              <a:rPr sz="950" spc="-20" dirty="0">
                <a:solidFill>
                  <a:srgbClr val="E38212"/>
                </a:solidFill>
                <a:latin typeface="Trebuchet MS"/>
                <a:cs typeface="Trebuchet MS"/>
              </a:rPr>
              <a:t>gate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84715" y="3863975"/>
            <a:ext cx="1898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BD582B"/>
                </a:solidFill>
                <a:latin typeface="Segoe UI"/>
                <a:cs typeface="Segoe UI"/>
              </a:rPr>
              <a:t>→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277223" y="3562348"/>
            <a:ext cx="1076325" cy="857250"/>
          </a:xfrm>
          <a:custGeom>
            <a:avLst/>
            <a:gdLst/>
            <a:ahLst/>
            <a:cxnLst/>
            <a:rect l="l" t="t" r="r" b="b"/>
            <a:pathLst>
              <a:path w="1076325" h="857250">
                <a:moveTo>
                  <a:pt x="0" y="809624"/>
                </a:moveTo>
                <a:lnTo>
                  <a:pt x="0" y="47624"/>
                </a:lnTo>
                <a:lnTo>
                  <a:pt x="0" y="41307"/>
                </a:lnTo>
                <a:lnTo>
                  <a:pt x="1208" y="35230"/>
                </a:lnTo>
                <a:lnTo>
                  <a:pt x="3624" y="29396"/>
                </a:lnTo>
                <a:lnTo>
                  <a:pt x="6041" y="23561"/>
                </a:lnTo>
                <a:lnTo>
                  <a:pt x="9482" y="18412"/>
                </a:lnTo>
                <a:lnTo>
                  <a:pt x="13949" y="13948"/>
                </a:lnTo>
                <a:lnTo>
                  <a:pt x="18414" y="9481"/>
                </a:lnTo>
                <a:lnTo>
                  <a:pt x="23564" y="6038"/>
                </a:lnTo>
                <a:lnTo>
                  <a:pt x="29399" y="3623"/>
                </a:lnTo>
                <a:lnTo>
                  <a:pt x="35235" y="1206"/>
                </a:lnTo>
                <a:lnTo>
                  <a:pt x="41310" y="0"/>
                </a:lnTo>
                <a:lnTo>
                  <a:pt x="47625" y="0"/>
                </a:lnTo>
                <a:lnTo>
                  <a:pt x="1028700" y="0"/>
                </a:lnTo>
                <a:lnTo>
                  <a:pt x="1035015" y="0"/>
                </a:lnTo>
                <a:lnTo>
                  <a:pt x="1041089" y="1206"/>
                </a:lnTo>
                <a:lnTo>
                  <a:pt x="1046924" y="3623"/>
                </a:lnTo>
                <a:lnTo>
                  <a:pt x="1052759" y="6038"/>
                </a:lnTo>
                <a:lnTo>
                  <a:pt x="1057909" y="9481"/>
                </a:lnTo>
                <a:lnTo>
                  <a:pt x="1062376" y="13948"/>
                </a:lnTo>
                <a:lnTo>
                  <a:pt x="1066841" y="18412"/>
                </a:lnTo>
                <a:lnTo>
                  <a:pt x="1070282" y="23561"/>
                </a:lnTo>
                <a:lnTo>
                  <a:pt x="1072699" y="29396"/>
                </a:lnTo>
                <a:lnTo>
                  <a:pt x="1075116" y="35230"/>
                </a:lnTo>
                <a:lnTo>
                  <a:pt x="1076324" y="41307"/>
                </a:lnTo>
                <a:lnTo>
                  <a:pt x="1076325" y="47624"/>
                </a:lnTo>
                <a:lnTo>
                  <a:pt x="1076325" y="809624"/>
                </a:lnTo>
                <a:lnTo>
                  <a:pt x="1057909" y="847762"/>
                </a:lnTo>
                <a:lnTo>
                  <a:pt x="1046924" y="853619"/>
                </a:lnTo>
                <a:lnTo>
                  <a:pt x="1041089" y="856038"/>
                </a:lnTo>
                <a:lnTo>
                  <a:pt x="1035015" y="857248"/>
                </a:lnTo>
                <a:lnTo>
                  <a:pt x="1028700" y="857249"/>
                </a:lnTo>
                <a:lnTo>
                  <a:pt x="47625" y="857249"/>
                </a:lnTo>
                <a:lnTo>
                  <a:pt x="41310" y="857248"/>
                </a:lnTo>
                <a:lnTo>
                  <a:pt x="35235" y="856038"/>
                </a:lnTo>
                <a:lnTo>
                  <a:pt x="29399" y="853619"/>
                </a:lnTo>
                <a:lnTo>
                  <a:pt x="23564" y="851203"/>
                </a:lnTo>
                <a:lnTo>
                  <a:pt x="0" y="815938"/>
                </a:lnTo>
                <a:lnTo>
                  <a:pt x="0" y="809624"/>
                </a:lnTo>
                <a:close/>
              </a:path>
            </a:pathLst>
          </a:custGeom>
          <a:ln w="19049">
            <a:solidFill>
              <a:srgbClr val="BD5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406358" y="3615676"/>
            <a:ext cx="812800" cy="7207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100" dirty="0">
                <a:solidFill>
                  <a:srgbClr val="1A1A1A"/>
                </a:solidFill>
                <a:latin typeface="Trebuchet MS"/>
                <a:cs typeface="Trebuchet MS"/>
              </a:rPr>
              <a:t>FC</a:t>
            </a:r>
            <a:r>
              <a:rPr sz="1100" spc="-20" dirty="0">
                <a:solidFill>
                  <a:srgbClr val="1A1A1A"/>
                </a:solidFill>
                <a:latin typeface="Trebuchet MS"/>
                <a:cs typeface="Trebuchet MS"/>
              </a:rPr>
              <a:t> head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1A1A1A"/>
                </a:solidFill>
                <a:latin typeface="Segoe UI"/>
                <a:cs typeface="Segoe UI"/>
              </a:rPr>
              <a:t>↓</a:t>
            </a:r>
            <a:endParaRPr sz="1100">
              <a:latin typeface="Segoe UI"/>
              <a:cs typeface="Segoe UI"/>
            </a:endParaRPr>
          </a:p>
          <a:p>
            <a:pPr marL="12065" marR="5080" indent="-635" algn="ctr">
              <a:lnSpc>
                <a:spcPts val="1280"/>
              </a:lnSpc>
              <a:spcBef>
                <a:spcPts val="105"/>
              </a:spcBef>
            </a:pP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softmax </a:t>
            </a:r>
            <a:r>
              <a:rPr sz="1100" dirty="0">
                <a:solidFill>
                  <a:srgbClr val="1A1A1A"/>
                </a:solidFill>
                <a:latin typeface="Trebuchet MS"/>
                <a:cs typeface="Trebuchet MS"/>
              </a:rPr>
              <a:t>(Low</a:t>
            </a: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1A1A1A"/>
                </a:solidFill>
                <a:latin typeface="Trebuchet MS"/>
                <a:cs typeface="Trebuchet MS"/>
              </a:rPr>
              <a:t>/</a:t>
            </a:r>
            <a:r>
              <a:rPr sz="1100" spc="-10" dirty="0">
                <a:solidFill>
                  <a:srgbClr val="1A1A1A"/>
                </a:solidFill>
                <a:latin typeface="Trebuchet MS"/>
                <a:cs typeface="Trebuchet MS"/>
              </a:rPr>
              <a:t> High)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45182" y="4695888"/>
            <a:ext cx="9901555" cy="354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4578350" marR="5080" indent="-456628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attention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gate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is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exposed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in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every</a:t>
            </a:r>
            <a:r>
              <a:rPr sz="1100" spc="-7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API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response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—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it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is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what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app's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modality-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contribution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bar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shows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(how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much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model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trusts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vs.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for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that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prediction).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9" name="object 59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2188845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4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45" dirty="0"/>
              <a:t>Tasks</a:t>
            </a:r>
            <a:r>
              <a:rPr spc="-40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spc="-10" dirty="0"/>
              <a:t>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8770" y="5829363"/>
            <a:ext cx="89204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Tools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/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technologies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(all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open-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source):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Python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3.14,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PyTorch,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scikit-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learn,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45" dirty="0">
                <a:solidFill>
                  <a:srgbClr val="878787"/>
                </a:solidFill>
                <a:latin typeface="Trebuchet MS"/>
                <a:cs typeface="Trebuchet MS"/>
              </a:rPr>
              <a:t>SHAP,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pandas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/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NumPy,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FastAPI,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Pydantic,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React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18,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Vite,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Recharts.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Data Preparation</a:t>
            </a:r>
            <a:r>
              <a:rPr b="1" spc="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spc="-10" dirty="0"/>
              <a:t>preprocess_tuberlin.py</a:t>
            </a:r>
            <a:r>
              <a:rPr spc="-10" dirty="0">
                <a:latin typeface="Trebuchet MS"/>
                <a:cs typeface="Trebuchet MS"/>
              </a:rPr>
              <a:t>,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/>
              <a:t>sliding_window_extractor.py</a:t>
            </a:r>
            <a:r>
              <a:rPr spc="-10" dirty="0">
                <a:latin typeface="Trebuchet MS"/>
                <a:cs typeface="Trebuchet MS"/>
              </a:rPr>
              <a:t>,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spc="-10" dirty="0"/>
              <a:t>data_loader.py</a:t>
            </a:r>
            <a:r>
              <a:rPr spc="-10" dirty="0">
                <a:latin typeface="Trebuchet MS"/>
                <a:cs typeface="Trebuchet MS"/>
              </a:rPr>
              <a:t>: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raw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spc="-10" dirty="0"/>
              <a:t>.mat</a:t>
            </a:r>
            <a:r>
              <a:rPr spc="-375" dirty="0"/>
              <a:t> </a:t>
            </a:r>
            <a:r>
              <a:rPr spc="-50" dirty="0">
                <a:latin typeface="Segoe UI"/>
                <a:cs typeface="Segoe UI"/>
              </a:rPr>
              <a:t>→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>
                <a:latin typeface="Trebuchet MS"/>
                <a:cs typeface="Trebuchet MS"/>
              </a:rPr>
              <a:t>filtered,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epoch-aligned,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per-subject-</a:t>
            </a:r>
            <a:r>
              <a:rPr dirty="0">
                <a:latin typeface="Trebuchet MS"/>
                <a:cs typeface="Trebuchet MS"/>
              </a:rPr>
              <a:t>normalized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feature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tensors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(1476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features/window).</a:t>
            </a:r>
          </a:p>
          <a:p>
            <a:pPr marL="12700" marR="314960">
              <a:lnSpc>
                <a:spcPct val="116700"/>
              </a:lnSpc>
              <a:spcBef>
                <a:spcPts val="900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Model</a:t>
            </a:r>
            <a:r>
              <a:rPr b="1" spc="-1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Architecture</a:t>
            </a:r>
            <a:r>
              <a:rPr b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&amp;</a:t>
            </a:r>
            <a:r>
              <a:rPr b="1" spc="-4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spc="-25" dirty="0">
                <a:solidFill>
                  <a:srgbClr val="1A1A1A"/>
                </a:solidFill>
                <a:latin typeface="Trebuchet MS"/>
                <a:cs typeface="Trebuchet MS"/>
              </a:rPr>
              <a:t>Training</a:t>
            </a:r>
            <a:r>
              <a:rPr b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/>
              <a:t>models/architectures.py</a:t>
            </a:r>
            <a:r>
              <a:rPr spc="-10" dirty="0">
                <a:latin typeface="Trebuchet MS"/>
                <a:cs typeface="Trebuchet MS"/>
              </a:rPr>
              <a:t>,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/>
              <a:t>trainer.py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attention-</a:t>
            </a:r>
            <a:r>
              <a:rPr dirty="0">
                <a:latin typeface="Trebuchet MS"/>
                <a:cs typeface="Trebuchet MS"/>
              </a:rPr>
              <a:t>fusion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Hybrid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network; </a:t>
            </a:r>
            <a:r>
              <a:rPr dirty="0">
                <a:latin typeface="Trebuchet MS"/>
                <a:cs typeface="Trebuchet MS"/>
              </a:rPr>
              <a:t>validation-macro-F1 checkpoint selection, class weighting, early </a:t>
            </a:r>
            <a:r>
              <a:rPr spc="-10" dirty="0">
                <a:latin typeface="Trebuchet MS"/>
                <a:cs typeface="Trebuchet MS"/>
              </a:rPr>
              <a:t>stopping.</a:t>
            </a:r>
          </a:p>
          <a:p>
            <a:pPr marL="12700" marR="522605">
              <a:lnSpc>
                <a:spcPct val="116700"/>
              </a:lnSpc>
              <a:spcBef>
                <a:spcPts val="819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Rigor</a:t>
            </a:r>
            <a:r>
              <a:rPr b="1" spc="-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/</a:t>
            </a:r>
            <a:r>
              <a:rPr b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Research</a:t>
            </a:r>
            <a:r>
              <a:rPr b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1A1A1A"/>
                </a:solidFill>
                <a:latin typeface="Trebuchet MS"/>
                <a:cs typeface="Trebuchet MS"/>
              </a:rPr>
              <a:t>Framework</a:t>
            </a:r>
            <a:r>
              <a:rPr b="1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10" dirty="0"/>
              <a:t>research/</a:t>
            </a:r>
            <a:r>
              <a:rPr spc="-375" dirty="0"/>
              <a:t> </a:t>
            </a:r>
            <a:r>
              <a:rPr dirty="0">
                <a:latin typeface="Trebuchet MS"/>
                <a:cs typeface="Trebuchet MS"/>
              </a:rPr>
              <a:t>(</a:t>
            </a:r>
            <a:r>
              <a:rPr dirty="0"/>
              <a:t>leakage.py</a:t>
            </a:r>
            <a:r>
              <a:rPr dirty="0">
                <a:latin typeface="Trebuchet MS"/>
                <a:cs typeface="Trebuchet MS"/>
              </a:rPr>
              <a:t>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/>
              <a:t>datamod.py</a:t>
            </a:r>
            <a:r>
              <a:rPr dirty="0">
                <a:latin typeface="Trebuchet MS"/>
                <a:cs typeface="Trebuchet MS"/>
              </a:rPr>
              <a:t>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/>
              <a:t>train.py</a:t>
            </a:r>
            <a:r>
              <a:rPr dirty="0">
                <a:latin typeface="Trebuchet MS"/>
                <a:cs typeface="Trebuchet MS"/>
              </a:rPr>
              <a:t>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/>
              <a:t>campaign.py</a:t>
            </a:r>
            <a:r>
              <a:rPr dirty="0">
                <a:latin typeface="Trebuchet MS"/>
                <a:cs typeface="Trebuchet MS"/>
              </a:rPr>
              <a:t>):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leakage-</a:t>
            </a:r>
            <a:r>
              <a:rPr dirty="0">
                <a:latin typeface="Trebuchet MS"/>
                <a:cs typeface="Trebuchet MS"/>
              </a:rPr>
              <a:t>audited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LOSO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folds,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the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42-</a:t>
            </a:r>
            <a:r>
              <a:rPr dirty="0">
                <a:latin typeface="Trebuchet MS"/>
                <a:cs typeface="Trebuchet MS"/>
              </a:rPr>
              <a:t>experiment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binary-model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campaign,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development/lockbox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protocol.</a:t>
            </a:r>
          </a:p>
          <a:p>
            <a:pPr marL="12700" marR="429895">
              <a:lnSpc>
                <a:spcPct val="112500"/>
              </a:lnSpc>
              <a:spcBef>
                <a:spcPts val="975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Explainability</a:t>
            </a:r>
            <a:r>
              <a:rPr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spc="-10" dirty="0"/>
              <a:t>explain_model.py</a:t>
            </a:r>
            <a:r>
              <a:rPr spc="-10" dirty="0">
                <a:latin typeface="Trebuchet MS"/>
                <a:cs typeface="Trebuchet MS"/>
              </a:rPr>
              <a:t>,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/>
              <a:t>visualize_attention.py</a:t>
            </a:r>
            <a:r>
              <a:rPr spc="-10" dirty="0">
                <a:latin typeface="Trebuchet MS"/>
                <a:cs typeface="Trebuchet MS"/>
              </a:rPr>
              <a:t>: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SHAP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(GradientExplainer)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+ </a:t>
            </a:r>
            <a:r>
              <a:rPr spc="-10" dirty="0">
                <a:latin typeface="Trebuchet MS"/>
                <a:cs typeface="Trebuchet MS"/>
              </a:rPr>
              <a:t>attention-</a:t>
            </a:r>
            <a:r>
              <a:rPr spc="-20" dirty="0">
                <a:latin typeface="Trebuchet MS"/>
                <a:cs typeface="Trebuchet MS"/>
              </a:rPr>
              <a:t>gate </a:t>
            </a:r>
            <a:r>
              <a:rPr spc="-10" dirty="0">
                <a:latin typeface="Trebuchet MS"/>
                <a:cs typeface="Trebuchet MS"/>
              </a:rPr>
              <a:t>analysis.</a:t>
            </a:r>
          </a:p>
          <a:p>
            <a:pPr marL="12700" marR="478155">
              <a:lnSpc>
                <a:spcPct val="112500"/>
              </a:lnSpc>
              <a:spcBef>
                <a:spcPts val="975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Export</a:t>
            </a:r>
            <a:r>
              <a:rPr b="1" spc="-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&amp; </a:t>
            </a:r>
            <a:r>
              <a:rPr b="1" spc="-10" dirty="0">
                <a:solidFill>
                  <a:srgbClr val="1A1A1A"/>
                </a:solidFill>
                <a:latin typeface="Trebuchet MS"/>
                <a:cs typeface="Trebuchet MS"/>
              </a:rPr>
              <a:t>Packaging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spc="-10" dirty="0"/>
              <a:t>export_for_serving.py</a:t>
            </a:r>
            <a:r>
              <a:rPr spc="-10" dirty="0">
                <a:latin typeface="Trebuchet MS"/>
                <a:cs typeface="Trebuchet MS"/>
              </a:rPr>
              <a:t>,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/>
              <a:t>export_research_data.py</a:t>
            </a:r>
            <a:r>
              <a:rPr spc="-10" dirty="0">
                <a:latin typeface="Trebuchet MS"/>
                <a:cs typeface="Trebuchet MS"/>
              </a:rPr>
              <a:t>:</a:t>
            </a:r>
            <a:r>
              <a:rPr dirty="0">
                <a:latin typeface="Trebuchet MS"/>
                <a:cs typeface="Trebuchet MS"/>
              </a:rPr>
              <a:t> freeze model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+ artifacts </a:t>
            </a:r>
            <a:r>
              <a:rPr spc="-20" dirty="0">
                <a:latin typeface="Trebuchet MS"/>
                <a:cs typeface="Trebuchet MS"/>
              </a:rPr>
              <a:t>into </a:t>
            </a:r>
            <a:r>
              <a:rPr dirty="0">
                <a:latin typeface="Trebuchet MS"/>
                <a:cs typeface="Trebuchet MS"/>
              </a:rPr>
              <a:t>portable,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versioned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bundles.</a:t>
            </a:r>
          </a:p>
          <a:p>
            <a:pPr marL="12700" marR="15240">
              <a:lnSpc>
                <a:spcPct val="112500"/>
              </a:lnSpc>
              <a:spcBef>
                <a:spcPts val="975"/>
              </a:spcBef>
            </a:pPr>
            <a:r>
              <a:rPr b="1" spc="-10" dirty="0">
                <a:solidFill>
                  <a:srgbClr val="1A1A1A"/>
                </a:solidFill>
                <a:latin typeface="Trebuchet MS"/>
                <a:cs typeface="Trebuchet MS"/>
              </a:rPr>
              <a:t>Backend</a:t>
            </a:r>
            <a:r>
              <a:rPr b="1" spc="-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API </a:t>
            </a:r>
            <a:r>
              <a:rPr dirty="0">
                <a:latin typeface="Trebuchet MS"/>
                <a:cs typeface="Trebuchet MS"/>
              </a:rPr>
              <a:t>— FastAPI (</a:t>
            </a:r>
            <a:r>
              <a:rPr dirty="0"/>
              <a:t>main.py</a:t>
            </a:r>
            <a:r>
              <a:rPr dirty="0">
                <a:latin typeface="Trebuchet MS"/>
                <a:cs typeface="Trebuchet MS"/>
              </a:rPr>
              <a:t>, </a:t>
            </a:r>
            <a:r>
              <a:rPr spc="-10" dirty="0"/>
              <a:t>model_service.py</a:t>
            </a:r>
            <a:r>
              <a:rPr spc="-10" dirty="0">
                <a:latin typeface="Trebuchet MS"/>
                <a:cs typeface="Trebuchet MS"/>
              </a:rPr>
              <a:t>, </a:t>
            </a:r>
            <a:r>
              <a:rPr spc="-10" dirty="0"/>
              <a:t>data_service.py</a:t>
            </a:r>
            <a:r>
              <a:rPr spc="-10" dirty="0">
                <a:latin typeface="Trebuchet MS"/>
                <a:cs typeface="Trebuchet MS"/>
              </a:rPr>
              <a:t>, </a:t>
            </a:r>
            <a:r>
              <a:rPr spc="-10" dirty="0"/>
              <a:t>upload_service.py</a:t>
            </a:r>
            <a:r>
              <a:rPr spc="-10" dirty="0">
                <a:latin typeface="Trebuchet MS"/>
                <a:cs typeface="Trebuchet MS"/>
              </a:rPr>
              <a:t>): </a:t>
            </a:r>
            <a:r>
              <a:rPr dirty="0">
                <a:latin typeface="Trebuchet MS"/>
                <a:cs typeface="Trebuchet MS"/>
              </a:rPr>
              <a:t>inference, </a:t>
            </a:r>
            <a:r>
              <a:rPr spc="-20" dirty="0">
                <a:latin typeface="Trebuchet MS"/>
                <a:cs typeface="Trebuchet MS"/>
              </a:rPr>
              <a:t>CSV-</a:t>
            </a:r>
            <a:r>
              <a:rPr dirty="0">
                <a:latin typeface="Trebuchet MS"/>
                <a:cs typeface="Trebuchet MS"/>
              </a:rPr>
              <a:t>upload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validation,</a:t>
            </a:r>
            <a:r>
              <a:rPr spc="-10" dirty="0">
                <a:latin typeface="Trebuchet MS"/>
                <a:cs typeface="Trebuchet MS"/>
              </a:rPr>
              <a:t> run-</a:t>
            </a:r>
            <a:r>
              <a:rPr dirty="0">
                <a:latin typeface="Trebuchet MS"/>
                <a:cs typeface="Trebuchet MS"/>
              </a:rPr>
              <a:t>archive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access.</a:t>
            </a:r>
          </a:p>
          <a:p>
            <a:pPr marL="12700" marR="382270">
              <a:lnSpc>
                <a:spcPct val="112500"/>
              </a:lnSpc>
              <a:spcBef>
                <a:spcPts val="975"/>
              </a:spcBef>
            </a:pP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Frontend</a:t>
            </a:r>
            <a:r>
              <a:rPr b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1A1A1A"/>
                </a:solidFill>
                <a:latin typeface="Trebuchet MS"/>
                <a:cs typeface="Trebuchet MS"/>
              </a:rPr>
              <a:t>UI</a:t>
            </a:r>
            <a:r>
              <a:rPr b="1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—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React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+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Vite,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7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pages: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Overview,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Research,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Live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Prediction,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Session</a:t>
            </a:r>
            <a:r>
              <a:rPr spc="-65" dirty="0">
                <a:latin typeface="Trebuchet MS"/>
                <a:cs typeface="Trebuchet MS"/>
              </a:rPr>
              <a:t> </a:t>
            </a:r>
            <a:r>
              <a:rPr spc="-25" dirty="0">
                <a:latin typeface="Trebuchet MS"/>
                <a:cs typeface="Trebuchet MS"/>
              </a:rPr>
              <a:t>Trend,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Upload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Data,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Model </a:t>
            </a:r>
            <a:r>
              <a:rPr dirty="0">
                <a:latin typeface="Trebuchet MS"/>
                <a:cs typeface="Trebuchet MS"/>
              </a:rPr>
              <a:t>Insights,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Methodology.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770" y="13684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770" y="20066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770" y="264477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770" y="329247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770" y="393065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770" y="45688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770" y="520700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3" name="object 13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2158365">
              <a:lnSpc>
                <a:spcPct val="100000"/>
              </a:lnSpc>
              <a:spcBef>
                <a:spcPts val="100"/>
              </a:spcBef>
            </a:pPr>
            <a:r>
              <a:rPr dirty="0"/>
              <a:t>Individual</a:t>
            </a:r>
            <a:r>
              <a:rPr spc="-85" dirty="0"/>
              <a:t> </a:t>
            </a:r>
            <a:r>
              <a:rPr spc="-10" dirty="0"/>
              <a:t>Contribution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7749" y="1466848"/>
          <a:ext cx="10086975" cy="2748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5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3746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Approx.</a:t>
                      </a:r>
                      <a:r>
                        <a:rPr sz="1250" b="1" spc="-2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Lines</a:t>
                      </a:r>
                      <a:r>
                        <a:rPr sz="1250" b="1" spc="-2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250" b="1" spc="-2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5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5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Owner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250" b="1" spc="-35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Training </a:t>
                      </a:r>
                      <a:r>
                        <a:rPr sz="125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Pipeline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~10,600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993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Preprocessing,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training,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evaluation,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ablation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scripts</a:t>
                      </a:r>
                      <a:r>
                        <a:rPr sz="1250" spc="-4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(top-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level</a:t>
                      </a:r>
                      <a:r>
                        <a:rPr sz="125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*.py)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127000" marR="7004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Research /</a:t>
                      </a:r>
                      <a:r>
                        <a:rPr sz="1250" b="1" spc="5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Leakage-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Audit </a:t>
                      </a:r>
                      <a:r>
                        <a:rPr sz="125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Framework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~5,070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7854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Binary-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25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campaign,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leakage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assertions,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run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archive (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research/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Backend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(FastAPI)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~1,630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Serving</a:t>
                      </a:r>
                      <a:r>
                        <a:rPr sz="1250" spc="-8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API,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inference,</a:t>
                      </a:r>
                      <a:r>
                        <a:rPr sz="125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CSV</a:t>
                      </a:r>
                      <a:r>
                        <a:rPr sz="125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upload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backend/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Frontend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(React</a:t>
                      </a:r>
                      <a:r>
                        <a:rPr sz="1250" b="1" spc="-15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50" b="1" spc="-15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Vite)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~9,330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7-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page</a:t>
                      </a:r>
                      <a:r>
                        <a:rPr sz="125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demo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UI,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charts,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explainability</a:t>
                      </a:r>
                      <a:r>
                        <a:rPr sz="125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views</a:t>
                      </a:r>
                      <a:r>
                        <a:rPr sz="125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frontend/src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~26,600</a:t>
                      </a:r>
                      <a:r>
                        <a:rPr sz="1250" b="1" spc="-5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lines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Across</a:t>
                      </a:r>
                      <a:r>
                        <a:rPr sz="125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202</a:t>
                      </a:r>
                      <a:r>
                        <a:rPr sz="125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tracked</a:t>
                      </a:r>
                      <a:r>
                        <a:rPr sz="125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files,</a:t>
                      </a:r>
                      <a:r>
                        <a:rPr sz="125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Python</a:t>
                      </a:r>
                      <a:r>
                        <a:rPr sz="125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25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JS/JSX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8770" y="4410138"/>
            <a:ext cx="9473565" cy="5168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just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Single-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member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team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—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all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modules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designed,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implemented,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evaluated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and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documented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by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contributor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named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above.</a:t>
            </a:r>
            <a:r>
              <a:rPr sz="1100" spc="-3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Timeline: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Phase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1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–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dataset,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preprocessing,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3-class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model;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Phase</a:t>
            </a:r>
            <a:r>
              <a:rPr sz="11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2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–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leakage-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audited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framework,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binary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reframing,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backend/frontend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demo;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Phase</a:t>
            </a:r>
            <a:r>
              <a:rPr sz="11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3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(current)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–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frontend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878787"/>
                </a:solidFill>
                <a:latin typeface="Trebuchet MS"/>
                <a:cs typeface="Trebuchet MS"/>
              </a:rPr>
              <a:t>redesign, reporting.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6" name="object 6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61976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Demonstration</a:t>
            </a:r>
            <a:r>
              <a:rPr sz="2300" spc="-85" dirty="0"/>
              <a:t> </a:t>
            </a:r>
            <a:r>
              <a:rPr sz="2300" dirty="0"/>
              <a:t>and</a:t>
            </a:r>
            <a:r>
              <a:rPr sz="2300" spc="-114" dirty="0"/>
              <a:t> </a:t>
            </a:r>
            <a:r>
              <a:rPr sz="2300" spc="-30" dirty="0"/>
              <a:t>Testing</a:t>
            </a:r>
            <a:r>
              <a:rPr sz="2300" spc="-85" dirty="0"/>
              <a:t> </a:t>
            </a:r>
            <a:r>
              <a:rPr sz="2300" dirty="0"/>
              <a:t>of</a:t>
            </a:r>
            <a:r>
              <a:rPr sz="2300" spc="-80" dirty="0"/>
              <a:t> </a:t>
            </a:r>
            <a:r>
              <a:rPr sz="2300" dirty="0"/>
              <a:t>Completed</a:t>
            </a:r>
            <a:r>
              <a:rPr sz="2300" spc="-85" dirty="0"/>
              <a:t> </a:t>
            </a:r>
            <a:r>
              <a:rPr sz="2300" spc="-10" dirty="0"/>
              <a:t>Modules</a:t>
            </a:r>
            <a:endParaRPr sz="23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7749" y="1419223"/>
          <a:ext cx="10086975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26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Protocol</a:t>
                      </a:r>
                      <a:r>
                        <a:rPr sz="1300" b="1" spc="-3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(Binary</a:t>
                      </a:r>
                      <a:r>
                        <a:rPr sz="130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model)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Accuracy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Macro</a:t>
                      </a:r>
                      <a:r>
                        <a:rPr sz="1300" b="1" spc="-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F1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ROC-</a:t>
                      </a:r>
                      <a:r>
                        <a:rPr sz="130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AUC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LOSO,</a:t>
                      </a:r>
                      <a:r>
                        <a:rPr sz="130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r>
                        <a:rPr sz="130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subjects</a:t>
                      </a:r>
                      <a:r>
                        <a:rPr sz="130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(4,576</a:t>
                      </a:r>
                      <a:r>
                        <a:rPr sz="1300" spc="-3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pooled</a:t>
                      </a:r>
                      <a:r>
                        <a:rPr sz="1300" spc="-2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windows)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63.09%</a:t>
                      </a:r>
                      <a:r>
                        <a:rPr sz="130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±</a:t>
                      </a:r>
                      <a:r>
                        <a:rPr sz="130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10.1%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0.6255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0.6775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Lockbox,</a:t>
                      </a:r>
                      <a:r>
                        <a:rPr sz="130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30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unseen</a:t>
                      </a:r>
                      <a:r>
                        <a:rPr sz="130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subjects</a:t>
                      </a:r>
                      <a:r>
                        <a:rPr sz="130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(evaluated</a:t>
                      </a:r>
                      <a:r>
                        <a:rPr sz="1300" spc="-35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once)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63.71%</a:t>
                      </a:r>
                      <a:r>
                        <a:rPr sz="130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±</a:t>
                      </a:r>
                      <a:r>
                        <a:rPr sz="1300" b="1" spc="-1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38212"/>
                          </a:solidFill>
                          <a:latin typeface="Trebuchet MS"/>
                          <a:cs typeface="Trebuchet MS"/>
                        </a:rPr>
                        <a:t>8.5%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0.6275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00" spc="-10" dirty="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0.6888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FD9BE"/>
                      </a:solidFill>
                      <a:prstDash val="solid"/>
                    </a:lnL>
                    <a:lnR w="9525">
                      <a:solidFill>
                        <a:srgbClr val="EFD9BE"/>
                      </a:solidFill>
                      <a:prstDash val="solid"/>
                    </a:lnR>
                    <a:lnT w="9525">
                      <a:solidFill>
                        <a:srgbClr val="EFD9BE"/>
                      </a:solidFill>
                      <a:prstDash val="solid"/>
                    </a:lnT>
                    <a:lnB w="9525">
                      <a:solidFill>
                        <a:srgbClr val="EFD9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49523" y="2635250"/>
            <a:ext cx="9648190" cy="26924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60"/>
              </a:spcBef>
            </a:pP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Live</a:t>
            </a:r>
            <a:r>
              <a:rPr sz="1500" b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Prediction</a:t>
            </a:r>
            <a:r>
              <a:rPr sz="1500" b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demo</a:t>
            </a:r>
            <a:r>
              <a:rPr sz="1500" b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pick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subject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+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window,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run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real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forward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pass;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app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shows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predicted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class,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probability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bars,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confidence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margin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entropy,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and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attention-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gate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bar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(how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much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model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trusts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EEG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vs.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fNIRS).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Automated</a:t>
            </a:r>
            <a:r>
              <a:rPr sz="1500" b="1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correctness</a:t>
            </a:r>
            <a:r>
              <a:rPr sz="1500" b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check</a:t>
            </a:r>
            <a:r>
              <a:rPr sz="1500" b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Consolas"/>
                <a:cs typeface="Consolas"/>
              </a:rPr>
              <a:t>research.verify_run</a:t>
            </a:r>
            <a:r>
              <a:rPr sz="1500" spc="-375" dirty="0">
                <a:solidFill>
                  <a:srgbClr val="E38212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recomputes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every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metric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from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each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run's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saved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500" spc="-10" dirty="0">
                <a:solidFill>
                  <a:srgbClr val="E38212"/>
                </a:solidFill>
                <a:latin typeface="Consolas"/>
                <a:cs typeface="Consolas"/>
              </a:rPr>
              <a:t>predictions.csv</a:t>
            </a:r>
            <a:r>
              <a:rPr sz="1500" spc="-375" dirty="0">
                <a:solidFill>
                  <a:srgbClr val="E38212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reports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zero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mismatches.</a:t>
            </a:r>
            <a:endParaRPr sz="1500">
              <a:latin typeface="Trebuchet MS"/>
              <a:cs typeface="Trebuchet MS"/>
            </a:endParaRPr>
          </a:p>
          <a:p>
            <a:pPr marL="12700" marR="23495">
              <a:lnSpc>
                <a:spcPct val="108300"/>
              </a:lnSpc>
              <a:spcBef>
                <a:spcPts val="1125"/>
              </a:spcBef>
            </a:pP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Leakage</a:t>
            </a:r>
            <a:r>
              <a:rPr sz="1500" b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testing</a:t>
            </a:r>
            <a:r>
              <a:rPr sz="1500" b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subject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trial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window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duplicate-row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scaler-fit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/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held-out-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subject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assertions</a:t>
            </a:r>
            <a:r>
              <a:rPr sz="1500" spc="-2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run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before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every</a:t>
            </a:r>
            <a:r>
              <a:rPr sz="1500" spc="-3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fold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trains;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failure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raises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Consolas"/>
                <a:cs typeface="Consolas"/>
              </a:rPr>
              <a:t>LeakageError</a:t>
            </a:r>
            <a:r>
              <a:rPr sz="1500" spc="-375" dirty="0">
                <a:solidFill>
                  <a:srgbClr val="E38212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and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aborts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E38212"/>
                </a:solidFill>
                <a:latin typeface="Trebuchet MS"/>
                <a:cs typeface="Trebuchet MS"/>
              </a:rPr>
              <a:t>run.</a:t>
            </a:r>
            <a:endParaRPr sz="1500">
              <a:latin typeface="Trebuchet MS"/>
              <a:cs typeface="Trebuchet MS"/>
            </a:endParaRPr>
          </a:p>
          <a:p>
            <a:pPr marL="12700" marR="592455">
              <a:lnSpc>
                <a:spcPct val="108300"/>
              </a:lnSpc>
              <a:spcBef>
                <a:spcPts val="1125"/>
              </a:spcBef>
            </a:pPr>
            <a:r>
              <a:rPr sz="1500" b="1" spc="-10" dirty="0">
                <a:solidFill>
                  <a:srgbClr val="1A1A1A"/>
                </a:solidFill>
                <a:latin typeface="Trebuchet MS"/>
                <a:cs typeface="Trebuchet MS"/>
              </a:rPr>
              <a:t>Upload-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path</a:t>
            </a:r>
            <a:r>
              <a:rPr sz="1500" b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1A"/>
                </a:solidFill>
                <a:latin typeface="Trebuchet MS"/>
                <a:cs typeface="Trebuchet MS"/>
              </a:rPr>
              <a:t>testing</a:t>
            </a:r>
            <a:r>
              <a:rPr sz="1500" b="1" spc="-1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—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E38212"/>
                </a:solidFill>
                <a:latin typeface="Trebuchet MS"/>
                <a:cs typeface="Trebuchet MS"/>
              </a:rPr>
              <a:t>CSV-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upload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preprocessing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is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self-contained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reimplementation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of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training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pipeline,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verified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byte-exact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(max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abs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diff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0.0)</a:t>
            </a:r>
            <a:r>
              <a:rPr sz="1500" spc="-15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against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E38212"/>
                </a:solidFill>
                <a:latin typeface="Consolas"/>
                <a:cs typeface="Consolas"/>
              </a:rPr>
              <a:t>data_loader.py</a:t>
            </a:r>
            <a:r>
              <a:rPr sz="1500" spc="-10" dirty="0">
                <a:solidFill>
                  <a:srgbClr val="E38212"/>
                </a:solidFill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770" y="26638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770" y="354965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770" y="4197350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770" y="483552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0" name="object 10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Key</a:t>
            </a:r>
            <a:r>
              <a:rPr sz="2300" spc="-55" dirty="0"/>
              <a:t> </a:t>
            </a:r>
            <a:r>
              <a:rPr sz="2300" dirty="0"/>
              <a:t>Results</a:t>
            </a:r>
            <a:r>
              <a:rPr sz="2300" spc="-55" dirty="0"/>
              <a:t> </a:t>
            </a:r>
            <a:r>
              <a:rPr sz="2300" dirty="0"/>
              <a:t>—</a:t>
            </a:r>
            <a:r>
              <a:rPr sz="2300" spc="-55" dirty="0"/>
              <a:t> </a:t>
            </a:r>
            <a:r>
              <a:rPr sz="2300" dirty="0"/>
              <a:t>Confusion</a:t>
            </a:r>
            <a:r>
              <a:rPr sz="2300" spc="-50" dirty="0"/>
              <a:t> </a:t>
            </a:r>
            <a:r>
              <a:rPr sz="2300" dirty="0"/>
              <a:t>Matrix</a:t>
            </a:r>
            <a:r>
              <a:rPr sz="2300" spc="-55" dirty="0"/>
              <a:t> </a:t>
            </a:r>
            <a:r>
              <a:rPr sz="2300" dirty="0"/>
              <a:t>&amp;</a:t>
            </a:r>
            <a:r>
              <a:rPr sz="2300" spc="-55" dirty="0"/>
              <a:t> </a:t>
            </a:r>
            <a:r>
              <a:rPr sz="2300" spc="-45" dirty="0"/>
              <a:t>Per-</a:t>
            </a:r>
            <a:r>
              <a:rPr sz="2300" dirty="0"/>
              <a:t>Subject</a:t>
            </a:r>
            <a:r>
              <a:rPr sz="2300" spc="-50" dirty="0"/>
              <a:t> </a:t>
            </a:r>
            <a:r>
              <a:rPr sz="2300" spc="-10" dirty="0"/>
              <a:t>Performance</a:t>
            </a:r>
            <a:endParaRPr sz="2300"/>
          </a:p>
        </p:txBody>
      </p:sp>
      <p:grpSp>
        <p:nvGrpSpPr>
          <p:cNvPr id="4" name="object 4"/>
          <p:cNvGrpSpPr/>
          <p:nvPr/>
        </p:nvGrpSpPr>
        <p:grpSpPr>
          <a:xfrm>
            <a:off x="1047749" y="1552572"/>
            <a:ext cx="3905250" cy="3200400"/>
            <a:chOff x="1047749" y="1552572"/>
            <a:chExt cx="3905250" cy="3200400"/>
          </a:xfrm>
        </p:grpSpPr>
        <p:sp>
          <p:nvSpPr>
            <p:cNvPr id="5" name="object 5"/>
            <p:cNvSpPr/>
            <p:nvPr/>
          </p:nvSpPr>
          <p:spPr>
            <a:xfrm>
              <a:off x="1052512" y="1557335"/>
              <a:ext cx="3895725" cy="3190875"/>
            </a:xfrm>
            <a:custGeom>
              <a:avLst/>
              <a:gdLst/>
              <a:ahLst/>
              <a:cxnLst/>
              <a:rect l="l" t="t" r="r" b="b"/>
              <a:pathLst>
                <a:path w="3895725" h="3190875">
                  <a:moveTo>
                    <a:pt x="3828977" y="3190869"/>
                  </a:moveTo>
                  <a:lnTo>
                    <a:pt x="66746" y="3190869"/>
                  </a:lnTo>
                  <a:lnTo>
                    <a:pt x="62101" y="3190409"/>
                  </a:lnTo>
                  <a:lnTo>
                    <a:pt x="24240" y="3173257"/>
                  </a:lnTo>
                  <a:lnTo>
                    <a:pt x="2287" y="3137966"/>
                  </a:lnTo>
                  <a:lnTo>
                    <a:pt x="0" y="3124125"/>
                  </a:lnTo>
                  <a:lnTo>
                    <a:pt x="0" y="3119437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828977" y="0"/>
                  </a:lnTo>
                  <a:lnTo>
                    <a:pt x="3867875" y="14640"/>
                  </a:lnTo>
                  <a:lnTo>
                    <a:pt x="3892080" y="48425"/>
                  </a:lnTo>
                  <a:lnTo>
                    <a:pt x="3895724" y="66744"/>
                  </a:lnTo>
                  <a:lnTo>
                    <a:pt x="3895724" y="3124125"/>
                  </a:lnTo>
                  <a:lnTo>
                    <a:pt x="3881079" y="3163020"/>
                  </a:lnTo>
                  <a:lnTo>
                    <a:pt x="3847291" y="3187223"/>
                  </a:lnTo>
                  <a:lnTo>
                    <a:pt x="3833623" y="3190409"/>
                  </a:lnTo>
                  <a:lnTo>
                    <a:pt x="3828977" y="3190869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2512" y="1557335"/>
              <a:ext cx="3895725" cy="3190875"/>
            </a:xfrm>
            <a:custGeom>
              <a:avLst/>
              <a:gdLst/>
              <a:ahLst/>
              <a:cxnLst/>
              <a:rect l="l" t="t" r="r" b="b"/>
              <a:pathLst>
                <a:path w="3895725" h="3190875">
                  <a:moveTo>
                    <a:pt x="0" y="31194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5"/>
                  </a:lnTo>
                  <a:lnTo>
                    <a:pt x="7232" y="39760"/>
                  </a:lnTo>
                  <a:lnTo>
                    <a:pt x="9433" y="35644"/>
                  </a:lnTo>
                  <a:lnTo>
                    <a:pt x="12039" y="31742"/>
                  </a:lnTo>
                  <a:lnTo>
                    <a:pt x="14645" y="27840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44099" y="5436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824287" y="0"/>
                  </a:lnTo>
                  <a:lnTo>
                    <a:pt x="3828977" y="0"/>
                  </a:lnTo>
                  <a:lnTo>
                    <a:pt x="3833623" y="456"/>
                  </a:lnTo>
                  <a:lnTo>
                    <a:pt x="3838223" y="1371"/>
                  </a:lnTo>
                  <a:lnTo>
                    <a:pt x="3842823" y="2283"/>
                  </a:lnTo>
                  <a:lnTo>
                    <a:pt x="3847291" y="3636"/>
                  </a:lnTo>
                  <a:lnTo>
                    <a:pt x="3851624" y="5436"/>
                  </a:lnTo>
                  <a:lnTo>
                    <a:pt x="3855957" y="7227"/>
                  </a:lnTo>
                  <a:lnTo>
                    <a:pt x="3874801" y="20919"/>
                  </a:lnTo>
                  <a:lnTo>
                    <a:pt x="3878117" y="24235"/>
                  </a:lnTo>
                  <a:lnTo>
                    <a:pt x="3890286" y="44095"/>
                  </a:lnTo>
                  <a:lnTo>
                    <a:pt x="3892080" y="48425"/>
                  </a:lnTo>
                  <a:lnTo>
                    <a:pt x="3893435" y="52894"/>
                  </a:lnTo>
                  <a:lnTo>
                    <a:pt x="3894351" y="57498"/>
                  </a:lnTo>
                  <a:lnTo>
                    <a:pt x="3895267" y="62098"/>
                  </a:lnTo>
                  <a:lnTo>
                    <a:pt x="3895724" y="66744"/>
                  </a:lnTo>
                  <a:lnTo>
                    <a:pt x="3895724" y="71437"/>
                  </a:lnTo>
                  <a:lnTo>
                    <a:pt x="3895724" y="3119437"/>
                  </a:lnTo>
                  <a:lnTo>
                    <a:pt x="3895724" y="3124125"/>
                  </a:lnTo>
                  <a:lnTo>
                    <a:pt x="3895267" y="3128766"/>
                  </a:lnTo>
                  <a:lnTo>
                    <a:pt x="3894351" y="3133366"/>
                  </a:lnTo>
                  <a:lnTo>
                    <a:pt x="3893435" y="3137966"/>
                  </a:lnTo>
                  <a:lnTo>
                    <a:pt x="3883684" y="3159118"/>
                  </a:lnTo>
                  <a:lnTo>
                    <a:pt x="3881079" y="3163020"/>
                  </a:lnTo>
                  <a:lnTo>
                    <a:pt x="3847291" y="3187223"/>
                  </a:lnTo>
                  <a:lnTo>
                    <a:pt x="3838223" y="3189493"/>
                  </a:lnTo>
                  <a:lnTo>
                    <a:pt x="3833623" y="3190409"/>
                  </a:lnTo>
                  <a:lnTo>
                    <a:pt x="3828977" y="3190869"/>
                  </a:lnTo>
                  <a:lnTo>
                    <a:pt x="3824287" y="3190874"/>
                  </a:lnTo>
                  <a:lnTo>
                    <a:pt x="71437" y="3190874"/>
                  </a:lnTo>
                  <a:lnTo>
                    <a:pt x="31748" y="3178824"/>
                  </a:lnTo>
                  <a:lnTo>
                    <a:pt x="12039" y="3159118"/>
                  </a:lnTo>
                  <a:lnTo>
                    <a:pt x="9433" y="3155216"/>
                  </a:lnTo>
                  <a:lnTo>
                    <a:pt x="7232" y="3151100"/>
                  </a:lnTo>
                  <a:lnTo>
                    <a:pt x="5437" y="3146761"/>
                  </a:lnTo>
                  <a:lnTo>
                    <a:pt x="3642" y="3142431"/>
                  </a:lnTo>
                  <a:lnTo>
                    <a:pt x="2287" y="3137966"/>
                  </a:lnTo>
                  <a:lnTo>
                    <a:pt x="1372" y="3133366"/>
                  </a:lnTo>
                  <a:lnTo>
                    <a:pt x="457" y="3128766"/>
                  </a:lnTo>
                  <a:lnTo>
                    <a:pt x="0" y="3124125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9153" y="2009838"/>
            <a:ext cx="30429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Binary</a:t>
            </a:r>
            <a:r>
              <a:rPr sz="1100" b="1" spc="-3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model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lang="en-US"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-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pooled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LOSO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confusion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BD582B"/>
                </a:solidFill>
                <a:latin typeface="Trebuchet MS"/>
                <a:cs typeface="Trebuchet MS"/>
              </a:rPr>
              <a:t>matrix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9692" y="2467038"/>
            <a:ext cx="5975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A1A1A"/>
                </a:solidFill>
                <a:latin typeface="Trebuchet MS"/>
                <a:cs typeface="Trebuchet MS"/>
              </a:rPr>
              <a:t>Pred.</a:t>
            </a:r>
            <a:r>
              <a:rPr sz="950" b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950" b="1" spc="-25" dirty="0">
                <a:solidFill>
                  <a:srgbClr val="1A1A1A"/>
                </a:solidFill>
                <a:latin typeface="Trebuchet MS"/>
                <a:cs typeface="Trebuchet MS"/>
              </a:rPr>
              <a:t>Low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0596" y="2467038"/>
            <a:ext cx="6184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A1A1A"/>
                </a:solidFill>
                <a:latin typeface="Trebuchet MS"/>
                <a:cs typeface="Trebuchet MS"/>
              </a:rPr>
              <a:t>Pred.</a:t>
            </a:r>
            <a:r>
              <a:rPr sz="950" b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1A1A1A"/>
                </a:solidFill>
                <a:latin typeface="Trebuchet MS"/>
                <a:cs typeface="Trebuchet MS"/>
              </a:rPr>
              <a:t>High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2034" y="3029013"/>
            <a:ext cx="5448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1A1A1A"/>
                </a:solidFill>
                <a:latin typeface="Trebuchet MS"/>
                <a:cs typeface="Trebuchet MS"/>
              </a:rPr>
              <a:t>True</a:t>
            </a:r>
            <a:r>
              <a:rPr sz="950" b="1" spc="-25" dirty="0">
                <a:solidFill>
                  <a:srgbClr val="1A1A1A"/>
                </a:solidFill>
                <a:latin typeface="Trebuchet MS"/>
                <a:cs typeface="Trebuchet MS"/>
              </a:rPr>
              <a:t> Low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1467" y="3600513"/>
            <a:ext cx="5657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1A1A1A"/>
                </a:solidFill>
                <a:latin typeface="Trebuchet MS"/>
                <a:cs typeface="Trebuchet MS"/>
              </a:rPr>
              <a:t>True</a:t>
            </a:r>
            <a:r>
              <a:rPr sz="950" b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1A1A1A"/>
                </a:solidFill>
                <a:latin typeface="Trebuchet MS"/>
                <a:cs typeface="Trebuchet MS"/>
              </a:rPr>
              <a:t>High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466974" y="2838447"/>
          <a:ext cx="210502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340"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9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1561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  <a:p>
                      <a:pPr marL="2355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68.2%</a:t>
                      </a:r>
                      <a:r>
                        <a:rPr sz="85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recall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488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38212"/>
                    </a:solidFill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90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727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900" b="1" spc="-25" dirty="0">
                          <a:solidFill>
                            <a:srgbClr val="BD582B"/>
                          </a:solidFill>
                          <a:latin typeface="Trebuchet MS"/>
                          <a:cs typeface="Trebuchet MS"/>
                        </a:rPr>
                        <a:t>962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EFDD"/>
                    </a:solidFill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9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1326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  <a:p>
                      <a:pPr marL="2393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57.9%</a:t>
                      </a:r>
                      <a:r>
                        <a:rPr sz="85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recall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488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38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342231" y="4025900"/>
            <a:ext cx="3317240" cy="2959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82725" marR="5080" indent="-1470660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4,576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pooled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held-out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windows,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26-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fold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LOSO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·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878787"/>
                </a:solidFill>
                <a:latin typeface="Trebuchet MS"/>
                <a:cs typeface="Trebuchet MS"/>
              </a:rPr>
              <a:t>overall</a:t>
            </a:r>
            <a:r>
              <a:rPr sz="900" spc="-10" dirty="0">
                <a:solidFill>
                  <a:srgbClr val="878787"/>
                </a:solidFill>
                <a:latin typeface="Trebuchet MS"/>
                <a:cs typeface="Trebuchet MS"/>
              </a:rPr>
              <a:t> accuracy 63.09%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19699" y="1552572"/>
            <a:ext cx="5924550" cy="3200400"/>
            <a:chOff x="5219699" y="1552572"/>
            <a:chExt cx="5924550" cy="3200400"/>
          </a:xfrm>
        </p:grpSpPr>
        <p:sp>
          <p:nvSpPr>
            <p:cNvPr id="15" name="object 15"/>
            <p:cNvSpPr/>
            <p:nvPr/>
          </p:nvSpPr>
          <p:spPr>
            <a:xfrm>
              <a:off x="5224462" y="1557335"/>
              <a:ext cx="5915025" cy="3190875"/>
            </a:xfrm>
            <a:custGeom>
              <a:avLst/>
              <a:gdLst/>
              <a:ahLst/>
              <a:cxnLst/>
              <a:rect l="l" t="t" r="r" b="b"/>
              <a:pathLst>
                <a:path w="5915025" h="3190875">
                  <a:moveTo>
                    <a:pt x="5848277" y="3190869"/>
                  </a:moveTo>
                  <a:lnTo>
                    <a:pt x="66746" y="3190869"/>
                  </a:lnTo>
                  <a:lnTo>
                    <a:pt x="62100" y="3190409"/>
                  </a:lnTo>
                  <a:lnTo>
                    <a:pt x="24239" y="3173257"/>
                  </a:lnTo>
                  <a:lnTo>
                    <a:pt x="2287" y="3137966"/>
                  </a:lnTo>
                  <a:lnTo>
                    <a:pt x="0" y="3124125"/>
                  </a:lnTo>
                  <a:lnTo>
                    <a:pt x="0" y="3119437"/>
                  </a:lnTo>
                  <a:lnTo>
                    <a:pt x="0" y="66744"/>
                  </a:lnTo>
                  <a:lnTo>
                    <a:pt x="14644" y="27840"/>
                  </a:lnTo>
                  <a:lnTo>
                    <a:pt x="48432" y="3636"/>
                  </a:lnTo>
                  <a:lnTo>
                    <a:pt x="66746" y="0"/>
                  </a:lnTo>
                  <a:lnTo>
                    <a:pt x="5848277" y="0"/>
                  </a:lnTo>
                  <a:lnTo>
                    <a:pt x="5887175" y="14640"/>
                  </a:lnTo>
                  <a:lnTo>
                    <a:pt x="5911381" y="48425"/>
                  </a:lnTo>
                  <a:lnTo>
                    <a:pt x="5915024" y="66744"/>
                  </a:lnTo>
                  <a:lnTo>
                    <a:pt x="5915024" y="3124125"/>
                  </a:lnTo>
                  <a:lnTo>
                    <a:pt x="5900378" y="3163020"/>
                  </a:lnTo>
                  <a:lnTo>
                    <a:pt x="5866590" y="3187223"/>
                  </a:lnTo>
                  <a:lnTo>
                    <a:pt x="5852922" y="3190409"/>
                  </a:lnTo>
                  <a:lnTo>
                    <a:pt x="5848277" y="3190869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4462" y="1557335"/>
              <a:ext cx="5915025" cy="3190875"/>
            </a:xfrm>
            <a:custGeom>
              <a:avLst/>
              <a:gdLst/>
              <a:ahLst/>
              <a:cxnLst/>
              <a:rect l="l" t="t" r="r" b="b"/>
              <a:pathLst>
                <a:path w="5915025" h="3190875">
                  <a:moveTo>
                    <a:pt x="0" y="31194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1" y="57498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6" y="44095"/>
                  </a:lnTo>
                  <a:lnTo>
                    <a:pt x="7232" y="39760"/>
                  </a:lnTo>
                  <a:lnTo>
                    <a:pt x="9432" y="35644"/>
                  </a:lnTo>
                  <a:lnTo>
                    <a:pt x="12038" y="31742"/>
                  </a:lnTo>
                  <a:lnTo>
                    <a:pt x="14644" y="27840"/>
                  </a:lnTo>
                  <a:lnTo>
                    <a:pt x="17605" y="24235"/>
                  </a:lnTo>
                  <a:lnTo>
                    <a:pt x="20923" y="20919"/>
                  </a:lnTo>
                  <a:lnTo>
                    <a:pt x="24239" y="17603"/>
                  </a:lnTo>
                  <a:lnTo>
                    <a:pt x="44098" y="5436"/>
                  </a:lnTo>
                  <a:lnTo>
                    <a:pt x="48432" y="3636"/>
                  </a:lnTo>
                  <a:lnTo>
                    <a:pt x="52899" y="2283"/>
                  </a:lnTo>
                  <a:lnTo>
                    <a:pt x="57499" y="1371"/>
                  </a:lnTo>
                  <a:lnTo>
                    <a:pt x="62100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843587" y="0"/>
                  </a:lnTo>
                  <a:lnTo>
                    <a:pt x="5848277" y="0"/>
                  </a:lnTo>
                  <a:lnTo>
                    <a:pt x="5852922" y="456"/>
                  </a:lnTo>
                  <a:lnTo>
                    <a:pt x="5857522" y="1371"/>
                  </a:lnTo>
                  <a:lnTo>
                    <a:pt x="5862123" y="2283"/>
                  </a:lnTo>
                  <a:lnTo>
                    <a:pt x="5866590" y="3636"/>
                  </a:lnTo>
                  <a:lnTo>
                    <a:pt x="5870923" y="5436"/>
                  </a:lnTo>
                  <a:lnTo>
                    <a:pt x="5875257" y="7227"/>
                  </a:lnTo>
                  <a:lnTo>
                    <a:pt x="5894100" y="20919"/>
                  </a:lnTo>
                  <a:lnTo>
                    <a:pt x="5897417" y="24235"/>
                  </a:lnTo>
                  <a:lnTo>
                    <a:pt x="5909586" y="44095"/>
                  </a:lnTo>
                  <a:lnTo>
                    <a:pt x="5911381" y="48425"/>
                  </a:lnTo>
                  <a:lnTo>
                    <a:pt x="5912736" y="52894"/>
                  </a:lnTo>
                  <a:lnTo>
                    <a:pt x="5913651" y="57498"/>
                  </a:lnTo>
                  <a:lnTo>
                    <a:pt x="5914566" y="62098"/>
                  </a:lnTo>
                  <a:lnTo>
                    <a:pt x="5915024" y="66744"/>
                  </a:lnTo>
                  <a:lnTo>
                    <a:pt x="5915024" y="71437"/>
                  </a:lnTo>
                  <a:lnTo>
                    <a:pt x="5915024" y="3119437"/>
                  </a:lnTo>
                  <a:lnTo>
                    <a:pt x="5915024" y="3124125"/>
                  </a:lnTo>
                  <a:lnTo>
                    <a:pt x="5914566" y="3128766"/>
                  </a:lnTo>
                  <a:lnTo>
                    <a:pt x="5913651" y="3133366"/>
                  </a:lnTo>
                  <a:lnTo>
                    <a:pt x="5912736" y="3137966"/>
                  </a:lnTo>
                  <a:lnTo>
                    <a:pt x="5902984" y="3159118"/>
                  </a:lnTo>
                  <a:lnTo>
                    <a:pt x="5900378" y="3163020"/>
                  </a:lnTo>
                  <a:lnTo>
                    <a:pt x="5866590" y="3187223"/>
                  </a:lnTo>
                  <a:lnTo>
                    <a:pt x="5857522" y="3189493"/>
                  </a:lnTo>
                  <a:lnTo>
                    <a:pt x="5852922" y="3190409"/>
                  </a:lnTo>
                  <a:lnTo>
                    <a:pt x="5848277" y="3190869"/>
                  </a:lnTo>
                  <a:lnTo>
                    <a:pt x="5843587" y="3190874"/>
                  </a:lnTo>
                  <a:lnTo>
                    <a:pt x="71437" y="3190874"/>
                  </a:lnTo>
                  <a:lnTo>
                    <a:pt x="31748" y="3178824"/>
                  </a:lnTo>
                  <a:lnTo>
                    <a:pt x="5436" y="3146761"/>
                  </a:lnTo>
                  <a:lnTo>
                    <a:pt x="3642" y="3142431"/>
                  </a:lnTo>
                  <a:lnTo>
                    <a:pt x="2287" y="3137966"/>
                  </a:lnTo>
                  <a:lnTo>
                    <a:pt x="1371" y="3133366"/>
                  </a:lnTo>
                  <a:lnTo>
                    <a:pt x="457" y="3128766"/>
                  </a:lnTo>
                  <a:lnTo>
                    <a:pt x="0" y="3124125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42162" y="1676463"/>
            <a:ext cx="2879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BD582B"/>
                </a:solidFill>
                <a:latin typeface="Trebuchet MS"/>
                <a:cs typeface="Trebuchet MS"/>
              </a:rPr>
              <a:t>Per-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subject</a:t>
            </a:r>
            <a:r>
              <a:rPr sz="1100" b="1" spc="-2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BD582B"/>
                </a:solidFill>
                <a:latin typeface="Trebuchet MS"/>
                <a:cs typeface="Trebuchet MS"/>
              </a:rPr>
              <a:t>held-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out</a:t>
            </a:r>
            <a:r>
              <a:rPr sz="1100" b="1" spc="-2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accuracy</a:t>
            </a:r>
            <a:r>
              <a:rPr sz="1100" b="1" spc="-2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(26</a:t>
            </a:r>
            <a:r>
              <a:rPr sz="1100" b="1" spc="-2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BD582B"/>
                </a:solidFill>
                <a:latin typeface="Trebuchet MS"/>
                <a:cs typeface="Trebuchet MS"/>
              </a:rPr>
              <a:t>subjects)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72360" y="1994008"/>
            <a:ext cx="5379720" cy="2183765"/>
            <a:chOff x="5572360" y="1994008"/>
            <a:chExt cx="5379720" cy="2183765"/>
          </a:xfrm>
        </p:grpSpPr>
        <p:sp>
          <p:nvSpPr>
            <p:cNvPr id="19" name="object 19"/>
            <p:cNvSpPr/>
            <p:nvPr/>
          </p:nvSpPr>
          <p:spPr>
            <a:xfrm>
              <a:off x="5577122" y="1997500"/>
              <a:ext cx="5370195" cy="2175510"/>
            </a:xfrm>
            <a:custGeom>
              <a:avLst/>
              <a:gdLst/>
              <a:ahLst/>
              <a:cxnLst/>
              <a:rect l="l" t="t" r="r" b="b"/>
              <a:pathLst>
                <a:path w="5370195" h="2175510">
                  <a:moveTo>
                    <a:pt x="0" y="0"/>
                  </a:moveTo>
                  <a:lnTo>
                    <a:pt x="0" y="2175242"/>
                  </a:lnTo>
                </a:path>
                <a:path w="5370195" h="2175510">
                  <a:moveTo>
                    <a:pt x="0" y="2175242"/>
                  </a:moveTo>
                  <a:lnTo>
                    <a:pt x="5369673" y="2175242"/>
                  </a:lnTo>
                </a:path>
              </a:pathLst>
            </a:custGeom>
            <a:ln w="7906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77122" y="4172743"/>
              <a:ext cx="5370195" cy="0"/>
            </a:xfrm>
            <a:custGeom>
              <a:avLst/>
              <a:gdLst/>
              <a:ahLst/>
              <a:cxnLst/>
              <a:rect l="l" t="t" r="r" b="b"/>
              <a:pathLst>
                <a:path w="5370195">
                  <a:moveTo>
                    <a:pt x="0" y="0"/>
                  </a:moveTo>
                  <a:lnTo>
                    <a:pt x="5369673" y="0"/>
                  </a:lnTo>
                </a:path>
              </a:pathLst>
            </a:custGeom>
            <a:ln w="9295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76814" y="4118135"/>
            <a:ext cx="8064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70" dirty="0">
                <a:solidFill>
                  <a:srgbClr val="999999"/>
                </a:solidFill>
                <a:latin typeface="Trebuchet MS"/>
                <a:cs typeface="Trebuchet MS"/>
              </a:rPr>
              <a:t>0%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7122" y="3568509"/>
            <a:ext cx="5370195" cy="0"/>
          </a:xfrm>
          <a:custGeom>
            <a:avLst/>
            <a:gdLst/>
            <a:ahLst/>
            <a:cxnLst/>
            <a:rect l="l" t="t" r="r" b="b"/>
            <a:pathLst>
              <a:path w="5370195">
                <a:moveTo>
                  <a:pt x="0" y="0"/>
                </a:moveTo>
                <a:lnTo>
                  <a:pt x="33234" y="0"/>
                </a:lnTo>
              </a:path>
              <a:path w="5370195">
                <a:moveTo>
                  <a:pt x="173993" y="0"/>
                </a:moveTo>
                <a:lnTo>
                  <a:pt x="239810" y="0"/>
                </a:lnTo>
              </a:path>
              <a:path w="5370195">
                <a:moveTo>
                  <a:pt x="380569" y="0"/>
                </a:moveTo>
                <a:lnTo>
                  <a:pt x="5369673" y="0"/>
                </a:lnTo>
              </a:path>
            </a:pathLst>
          </a:custGeom>
          <a:ln w="9295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51200" y="3513893"/>
            <a:ext cx="10604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80" dirty="0">
                <a:solidFill>
                  <a:srgbClr val="999999"/>
                </a:solidFill>
                <a:latin typeface="Trebuchet MS"/>
                <a:cs typeface="Trebuchet MS"/>
              </a:rPr>
              <a:t>25%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77122" y="2964275"/>
            <a:ext cx="5370195" cy="0"/>
          </a:xfrm>
          <a:custGeom>
            <a:avLst/>
            <a:gdLst/>
            <a:ahLst/>
            <a:cxnLst/>
            <a:rect l="l" t="t" r="r" b="b"/>
            <a:pathLst>
              <a:path w="5370195">
                <a:moveTo>
                  <a:pt x="0" y="0"/>
                </a:moveTo>
                <a:lnTo>
                  <a:pt x="33234" y="0"/>
                </a:lnTo>
              </a:path>
              <a:path w="5370195">
                <a:moveTo>
                  <a:pt x="173993" y="0"/>
                </a:moveTo>
                <a:lnTo>
                  <a:pt x="239810" y="0"/>
                </a:lnTo>
              </a:path>
              <a:path w="5370195">
                <a:moveTo>
                  <a:pt x="380569" y="0"/>
                </a:moveTo>
                <a:lnTo>
                  <a:pt x="5369673" y="0"/>
                </a:lnTo>
              </a:path>
            </a:pathLst>
          </a:custGeom>
          <a:ln w="9295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51200" y="2909651"/>
            <a:ext cx="10604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80" dirty="0">
                <a:solidFill>
                  <a:srgbClr val="999999"/>
                </a:solidFill>
                <a:latin typeface="Trebuchet MS"/>
                <a:cs typeface="Trebuchet MS"/>
              </a:rPr>
              <a:t>50%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77122" y="2360041"/>
            <a:ext cx="5370195" cy="0"/>
          </a:xfrm>
          <a:custGeom>
            <a:avLst/>
            <a:gdLst/>
            <a:ahLst/>
            <a:cxnLst/>
            <a:rect l="l" t="t" r="r" b="b"/>
            <a:pathLst>
              <a:path w="5370195">
                <a:moveTo>
                  <a:pt x="0" y="0"/>
                </a:moveTo>
                <a:lnTo>
                  <a:pt x="33234" y="0"/>
                </a:lnTo>
              </a:path>
              <a:path w="5370195">
                <a:moveTo>
                  <a:pt x="173993" y="0"/>
                </a:moveTo>
                <a:lnTo>
                  <a:pt x="239810" y="0"/>
                </a:lnTo>
              </a:path>
              <a:path w="5370195">
                <a:moveTo>
                  <a:pt x="380569" y="0"/>
                </a:moveTo>
                <a:lnTo>
                  <a:pt x="5369673" y="0"/>
                </a:lnTo>
              </a:path>
            </a:pathLst>
          </a:custGeom>
          <a:ln w="9295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51200" y="2305409"/>
            <a:ext cx="10604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80" dirty="0">
                <a:solidFill>
                  <a:srgbClr val="999999"/>
                </a:solidFill>
                <a:latin typeface="Trebuchet MS"/>
                <a:cs typeface="Trebuchet MS"/>
              </a:rPr>
              <a:t>75%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577122" y="2641547"/>
            <a:ext cx="5374640" cy="327660"/>
            <a:chOff x="5577122" y="2641547"/>
            <a:chExt cx="5374640" cy="327660"/>
          </a:xfrm>
        </p:grpSpPr>
        <p:sp>
          <p:nvSpPr>
            <p:cNvPr id="29" name="object 29"/>
            <p:cNvSpPr/>
            <p:nvPr/>
          </p:nvSpPr>
          <p:spPr>
            <a:xfrm>
              <a:off x="5577116" y="2959633"/>
              <a:ext cx="410845" cy="9525"/>
            </a:xfrm>
            <a:custGeom>
              <a:avLst/>
              <a:gdLst/>
              <a:ahLst/>
              <a:cxnLst/>
              <a:rect l="l" t="t" r="r" b="b"/>
              <a:pathLst>
                <a:path w="410845" h="9525">
                  <a:moveTo>
                    <a:pt x="19545" y="0"/>
                  </a:moveTo>
                  <a:lnTo>
                    <a:pt x="0" y="0"/>
                  </a:lnTo>
                  <a:lnTo>
                    <a:pt x="0" y="9296"/>
                  </a:lnTo>
                  <a:lnTo>
                    <a:pt x="19545" y="9296"/>
                  </a:lnTo>
                  <a:lnTo>
                    <a:pt x="19545" y="0"/>
                  </a:lnTo>
                  <a:close/>
                </a:path>
                <a:path w="410845" h="9525">
                  <a:moveTo>
                    <a:pt x="175945" y="0"/>
                  </a:moveTo>
                  <a:lnTo>
                    <a:pt x="173990" y="0"/>
                  </a:lnTo>
                  <a:lnTo>
                    <a:pt x="173990" y="9296"/>
                  </a:lnTo>
                  <a:lnTo>
                    <a:pt x="175945" y="9296"/>
                  </a:lnTo>
                  <a:lnTo>
                    <a:pt x="175945" y="0"/>
                  </a:lnTo>
                  <a:close/>
                </a:path>
                <a:path w="410845" h="9525">
                  <a:moveTo>
                    <a:pt x="215049" y="0"/>
                  </a:moveTo>
                  <a:lnTo>
                    <a:pt x="195503" y="0"/>
                  </a:lnTo>
                  <a:lnTo>
                    <a:pt x="195503" y="9296"/>
                  </a:lnTo>
                  <a:lnTo>
                    <a:pt x="215049" y="9296"/>
                  </a:lnTo>
                  <a:lnTo>
                    <a:pt x="215049" y="0"/>
                  </a:lnTo>
                  <a:close/>
                </a:path>
                <a:path w="410845" h="9525">
                  <a:moveTo>
                    <a:pt x="239814" y="0"/>
                  </a:moveTo>
                  <a:lnTo>
                    <a:pt x="234594" y="0"/>
                  </a:lnTo>
                  <a:lnTo>
                    <a:pt x="234594" y="9296"/>
                  </a:lnTo>
                  <a:lnTo>
                    <a:pt x="239814" y="9296"/>
                  </a:lnTo>
                  <a:lnTo>
                    <a:pt x="239814" y="0"/>
                  </a:lnTo>
                  <a:close/>
                </a:path>
                <a:path w="410845" h="9525">
                  <a:moveTo>
                    <a:pt x="410540" y="0"/>
                  </a:moveTo>
                  <a:lnTo>
                    <a:pt x="390994" y="0"/>
                  </a:lnTo>
                  <a:lnTo>
                    <a:pt x="390994" y="9296"/>
                  </a:lnTo>
                  <a:lnTo>
                    <a:pt x="410540" y="9296"/>
                  </a:lnTo>
                  <a:lnTo>
                    <a:pt x="41054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07217" y="2964275"/>
              <a:ext cx="4939665" cy="0"/>
            </a:xfrm>
            <a:custGeom>
              <a:avLst/>
              <a:gdLst/>
              <a:ahLst/>
              <a:cxnLst/>
              <a:rect l="l" t="t" r="r" b="b"/>
              <a:pathLst>
                <a:path w="4939665">
                  <a:moveTo>
                    <a:pt x="0" y="0"/>
                  </a:moveTo>
                  <a:lnTo>
                    <a:pt x="4939578" y="0"/>
                  </a:lnTo>
                </a:path>
              </a:pathLst>
            </a:custGeom>
            <a:ln w="9295">
              <a:solidFill>
                <a:srgbClr val="99999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77116" y="2641714"/>
              <a:ext cx="397510" cy="13335"/>
            </a:xfrm>
            <a:custGeom>
              <a:avLst/>
              <a:gdLst/>
              <a:ahLst/>
              <a:cxnLst/>
              <a:rect l="l" t="t" r="r" b="b"/>
              <a:pathLst>
                <a:path w="397510" h="13335">
                  <a:moveTo>
                    <a:pt x="32588" y="0"/>
                  </a:moveTo>
                  <a:lnTo>
                    <a:pt x="0" y="0"/>
                  </a:lnTo>
                  <a:lnTo>
                    <a:pt x="0" y="13017"/>
                  </a:lnTo>
                  <a:lnTo>
                    <a:pt x="32588" y="13017"/>
                  </a:lnTo>
                  <a:lnTo>
                    <a:pt x="32588" y="0"/>
                  </a:lnTo>
                  <a:close/>
                </a:path>
                <a:path w="397510" h="13335">
                  <a:moveTo>
                    <a:pt x="188976" y="0"/>
                  </a:moveTo>
                  <a:lnTo>
                    <a:pt x="173990" y="0"/>
                  </a:lnTo>
                  <a:lnTo>
                    <a:pt x="173990" y="13017"/>
                  </a:lnTo>
                  <a:lnTo>
                    <a:pt x="188976" y="13017"/>
                  </a:lnTo>
                  <a:lnTo>
                    <a:pt x="188976" y="0"/>
                  </a:lnTo>
                  <a:close/>
                </a:path>
                <a:path w="397510" h="13335">
                  <a:moveTo>
                    <a:pt x="239814" y="0"/>
                  </a:moveTo>
                  <a:lnTo>
                    <a:pt x="208534" y="0"/>
                  </a:lnTo>
                  <a:lnTo>
                    <a:pt x="208534" y="13017"/>
                  </a:lnTo>
                  <a:lnTo>
                    <a:pt x="239814" y="13017"/>
                  </a:lnTo>
                  <a:lnTo>
                    <a:pt x="239814" y="0"/>
                  </a:lnTo>
                  <a:close/>
                </a:path>
                <a:path w="397510" h="13335">
                  <a:moveTo>
                    <a:pt x="397510" y="0"/>
                  </a:moveTo>
                  <a:lnTo>
                    <a:pt x="380568" y="0"/>
                  </a:lnTo>
                  <a:lnTo>
                    <a:pt x="380568" y="13017"/>
                  </a:lnTo>
                  <a:lnTo>
                    <a:pt x="397510" y="13017"/>
                  </a:lnTo>
                  <a:lnTo>
                    <a:pt x="397510" y="0"/>
                  </a:lnTo>
                  <a:close/>
                </a:path>
              </a:pathLst>
            </a:custGeom>
            <a:solidFill>
              <a:srgbClr val="BD5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94184" y="2648214"/>
              <a:ext cx="4933315" cy="0"/>
            </a:xfrm>
            <a:custGeom>
              <a:avLst/>
              <a:gdLst/>
              <a:ahLst/>
              <a:cxnLst/>
              <a:rect l="l" t="t" r="r" b="b"/>
              <a:pathLst>
                <a:path w="4933315">
                  <a:moveTo>
                    <a:pt x="0" y="0"/>
                  </a:moveTo>
                  <a:lnTo>
                    <a:pt x="4933061" y="0"/>
                  </a:lnTo>
                </a:path>
              </a:pathLst>
            </a:custGeom>
            <a:ln w="13014">
              <a:solidFill>
                <a:srgbClr val="BD582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538562" y="2519330"/>
            <a:ext cx="42100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b="1" spc="-114" dirty="0">
                <a:solidFill>
                  <a:srgbClr val="BD582B"/>
                </a:solidFill>
                <a:latin typeface="Trebuchet MS"/>
                <a:cs typeface="Trebuchet MS"/>
              </a:rPr>
              <a:t>mean</a:t>
            </a:r>
            <a:r>
              <a:rPr sz="600" b="1" spc="-3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600" b="1" spc="-105" dirty="0">
                <a:solidFill>
                  <a:srgbClr val="BD582B"/>
                </a:solidFill>
                <a:latin typeface="Trebuchet MS"/>
                <a:cs typeface="Trebuchet MS"/>
              </a:rPr>
              <a:t>=</a:t>
            </a:r>
            <a:r>
              <a:rPr sz="6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600" b="1" spc="-90" dirty="0">
                <a:solidFill>
                  <a:srgbClr val="BD582B"/>
                </a:solidFill>
                <a:latin typeface="Trebuchet MS"/>
                <a:cs typeface="Trebuchet MS"/>
              </a:rPr>
              <a:t>63.09%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10357" y="2222461"/>
            <a:ext cx="140970" cy="1950720"/>
          </a:xfrm>
          <a:custGeom>
            <a:avLst/>
            <a:gdLst/>
            <a:ahLst/>
            <a:cxnLst/>
            <a:rect l="l" t="t" r="r" b="b"/>
            <a:pathLst>
              <a:path w="140970" h="1950720">
                <a:moveTo>
                  <a:pt x="133682" y="1950281"/>
                </a:moveTo>
                <a:lnTo>
                  <a:pt x="7075" y="1950281"/>
                </a:lnTo>
                <a:lnTo>
                  <a:pt x="4771" y="1948920"/>
                </a:lnTo>
                <a:lnTo>
                  <a:pt x="954" y="1943475"/>
                </a:lnTo>
                <a:lnTo>
                  <a:pt x="0" y="1940188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940188"/>
                </a:lnTo>
                <a:lnTo>
                  <a:pt x="139804" y="1943475"/>
                </a:lnTo>
                <a:lnTo>
                  <a:pt x="135986" y="1948920"/>
                </a:lnTo>
                <a:lnTo>
                  <a:pt x="133682" y="1950281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38404" y="4187301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S17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16933" y="2222461"/>
            <a:ext cx="140970" cy="1950720"/>
          </a:xfrm>
          <a:custGeom>
            <a:avLst/>
            <a:gdLst/>
            <a:ahLst/>
            <a:cxnLst/>
            <a:rect l="l" t="t" r="r" b="b"/>
            <a:pathLst>
              <a:path w="140970" h="1950720">
                <a:moveTo>
                  <a:pt x="133682" y="1950281"/>
                </a:moveTo>
                <a:lnTo>
                  <a:pt x="7075" y="1950281"/>
                </a:lnTo>
                <a:lnTo>
                  <a:pt x="4771" y="1948920"/>
                </a:lnTo>
                <a:lnTo>
                  <a:pt x="954" y="1943475"/>
                </a:lnTo>
                <a:lnTo>
                  <a:pt x="0" y="1940188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940188"/>
                </a:lnTo>
                <a:lnTo>
                  <a:pt x="139804" y="1943475"/>
                </a:lnTo>
                <a:lnTo>
                  <a:pt x="135986" y="1948920"/>
                </a:lnTo>
                <a:lnTo>
                  <a:pt x="133682" y="1950281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844980" y="4203531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S3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23509" y="2345167"/>
            <a:ext cx="140970" cy="1828164"/>
          </a:xfrm>
          <a:custGeom>
            <a:avLst/>
            <a:gdLst/>
            <a:ahLst/>
            <a:cxnLst/>
            <a:rect l="l" t="t" r="r" b="b"/>
            <a:pathLst>
              <a:path w="140970" h="1828164">
                <a:moveTo>
                  <a:pt x="133682" y="1827575"/>
                </a:moveTo>
                <a:lnTo>
                  <a:pt x="7075" y="1827575"/>
                </a:lnTo>
                <a:lnTo>
                  <a:pt x="4771" y="1826214"/>
                </a:lnTo>
                <a:lnTo>
                  <a:pt x="954" y="1820769"/>
                </a:lnTo>
                <a:lnTo>
                  <a:pt x="0" y="1817482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817482"/>
                </a:lnTo>
                <a:lnTo>
                  <a:pt x="139804" y="1820769"/>
                </a:lnTo>
                <a:lnTo>
                  <a:pt x="135986" y="1826214"/>
                </a:lnTo>
                <a:lnTo>
                  <a:pt x="133682" y="1827575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051556" y="4203561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S7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229433" y="2345167"/>
            <a:ext cx="140970" cy="1828164"/>
          </a:xfrm>
          <a:custGeom>
            <a:avLst/>
            <a:gdLst/>
            <a:ahLst/>
            <a:cxnLst/>
            <a:rect l="l" t="t" r="r" b="b"/>
            <a:pathLst>
              <a:path w="140970" h="1828164">
                <a:moveTo>
                  <a:pt x="133682" y="1827575"/>
                </a:moveTo>
                <a:lnTo>
                  <a:pt x="7075" y="1827575"/>
                </a:lnTo>
                <a:lnTo>
                  <a:pt x="4771" y="1826214"/>
                </a:lnTo>
                <a:lnTo>
                  <a:pt x="954" y="1820769"/>
                </a:lnTo>
                <a:lnTo>
                  <a:pt x="0" y="1817482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817482"/>
                </a:lnTo>
                <a:lnTo>
                  <a:pt x="139803" y="1820769"/>
                </a:lnTo>
                <a:lnTo>
                  <a:pt x="135986" y="1826214"/>
                </a:lnTo>
                <a:lnTo>
                  <a:pt x="133682" y="1827575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258132" y="4187390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S25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436009" y="2427901"/>
            <a:ext cx="140970" cy="1744980"/>
          </a:xfrm>
          <a:custGeom>
            <a:avLst/>
            <a:gdLst/>
            <a:ahLst/>
            <a:cxnLst/>
            <a:rect l="l" t="t" r="r" b="b"/>
            <a:pathLst>
              <a:path w="140970" h="1744979">
                <a:moveTo>
                  <a:pt x="133682" y="1744842"/>
                </a:moveTo>
                <a:lnTo>
                  <a:pt x="7075" y="1744842"/>
                </a:lnTo>
                <a:lnTo>
                  <a:pt x="4771" y="1743480"/>
                </a:lnTo>
                <a:lnTo>
                  <a:pt x="954" y="1738035"/>
                </a:lnTo>
                <a:lnTo>
                  <a:pt x="0" y="1734748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734748"/>
                </a:lnTo>
                <a:lnTo>
                  <a:pt x="139804" y="1738035"/>
                </a:lnTo>
                <a:lnTo>
                  <a:pt x="135986" y="1743480"/>
                </a:lnTo>
                <a:lnTo>
                  <a:pt x="133682" y="1744842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464708" y="4187420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S16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42586" y="2468803"/>
            <a:ext cx="140970" cy="1704339"/>
          </a:xfrm>
          <a:custGeom>
            <a:avLst/>
            <a:gdLst/>
            <a:ahLst/>
            <a:cxnLst/>
            <a:rect l="l" t="t" r="r" b="b"/>
            <a:pathLst>
              <a:path w="140970" h="1704339">
                <a:moveTo>
                  <a:pt x="133682" y="1703940"/>
                </a:moveTo>
                <a:lnTo>
                  <a:pt x="7075" y="1703940"/>
                </a:lnTo>
                <a:lnTo>
                  <a:pt x="4771" y="1702578"/>
                </a:lnTo>
                <a:lnTo>
                  <a:pt x="954" y="1697133"/>
                </a:lnTo>
                <a:lnTo>
                  <a:pt x="0" y="1693846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693846"/>
                </a:lnTo>
                <a:lnTo>
                  <a:pt x="139804" y="1697133"/>
                </a:lnTo>
                <a:lnTo>
                  <a:pt x="135986" y="1702578"/>
                </a:lnTo>
                <a:lnTo>
                  <a:pt x="133682" y="170394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671285" y="418727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S10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49161" y="2509705"/>
            <a:ext cx="140970" cy="1663064"/>
          </a:xfrm>
          <a:custGeom>
            <a:avLst/>
            <a:gdLst/>
            <a:ahLst/>
            <a:cxnLst/>
            <a:rect l="l" t="t" r="r" b="b"/>
            <a:pathLst>
              <a:path w="140970" h="1663064">
                <a:moveTo>
                  <a:pt x="133682" y="1663038"/>
                </a:moveTo>
                <a:lnTo>
                  <a:pt x="7075" y="1663038"/>
                </a:lnTo>
                <a:lnTo>
                  <a:pt x="4771" y="1661676"/>
                </a:lnTo>
                <a:lnTo>
                  <a:pt x="954" y="1656231"/>
                </a:lnTo>
                <a:lnTo>
                  <a:pt x="0" y="1652944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652944"/>
                </a:lnTo>
                <a:lnTo>
                  <a:pt x="139804" y="1656231"/>
                </a:lnTo>
                <a:lnTo>
                  <a:pt x="135986" y="1661676"/>
                </a:lnTo>
                <a:lnTo>
                  <a:pt x="133682" y="1663038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877860" y="4203508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S9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055737" y="2538522"/>
            <a:ext cx="140970" cy="1634489"/>
          </a:xfrm>
          <a:custGeom>
            <a:avLst/>
            <a:gdLst/>
            <a:ahLst/>
            <a:cxnLst/>
            <a:rect l="l" t="t" r="r" b="b"/>
            <a:pathLst>
              <a:path w="140970" h="1634489">
                <a:moveTo>
                  <a:pt x="133682" y="1634220"/>
                </a:moveTo>
                <a:lnTo>
                  <a:pt x="7075" y="1634220"/>
                </a:lnTo>
                <a:lnTo>
                  <a:pt x="4771" y="1632859"/>
                </a:lnTo>
                <a:lnTo>
                  <a:pt x="954" y="1627414"/>
                </a:lnTo>
                <a:lnTo>
                  <a:pt x="0" y="162412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624127"/>
                </a:lnTo>
                <a:lnTo>
                  <a:pt x="139803" y="1627414"/>
                </a:lnTo>
                <a:lnTo>
                  <a:pt x="135986" y="1632859"/>
                </a:lnTo>
                <a:lnTo>
                  <a:pt x="133682" y="163422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084436" y="418733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S22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62314" y="2538522"/>
            <a:ext cx="140970" cy="1634489"/>
          </a:xfrm>
          <a:custGeom>
            <a:avLst/>
            <a:gdLst/>
            <a:ahLst/>
            <a:cxnLst/>
            <a:rect l="l" t="t" r="r" b="b"/>
            <a:pathLst>
              <a:path w="140970" h="1634489">
                <a:moveTo>
                  <a:pt x="133683" y="1634220"/>
                </a:moveTo>
                <a:lnTo>
                  <a:pt x="7075" y="1634220"/>
                </a:lnTo>
                <a:lnTo>
                  <a:pt x="4771" y="1632859"/>
                </a:lnTo>
                <a:lnTo>
                  <a:pt x="954" y="1627414"/>
                </a:lnTo>
                <a:lnTo>
                  <a:pt x="0" y="162412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3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624127"/>
                </a:lnTo>
                <a:lnTo>
                  <a:pt x="139804" y="1627414"/>
                </a:lnTo>
                <a:lnTo>
                  <a:pt x="135986" y="1632859"/>
                </a:lnTo>
                <a:lnTo>
                  <a:pt x="133683" y="163422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291013" y="418736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S11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468889" y="2538522"/>
            <a:ext cx="140970" cy="1634489"/>
          </a:xfrm>
          <a:custGeom>
            <a:avLst/>
            <a:gdLst/>
            <a:ahLst/>
            <a:cxnLst/>
            <a:rect l="l" t="t" r="r" b="b"/>
            <a:pathLst>
              <a:path w="140970" h="1634489">
                <a:moveTo>
                  <a:pt x="133683" y="1634220"/>
                </a:moveTo>
                <a:lnTo>
                  <a:pt x="7075" y="1634220"/>
                </a:lnTo>
                <a:lnTo>
                  <a:pt x="4771" y="1632859"/>
                </a:lnTo>
                <a:lnTo>
                  <a:pt x="954" y="1627414"/>
                </a:lnTo>
                <a:lnTo>
                  <a:pt x="0" y="162412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3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624127"/>
                </a:lnTo>
                <a:lnTo>
                  <a:pt x="139804" y="1627414"/>
                </a:lnTo>
                <a:lnTo>
                  <a:pt x="135986" y="1632859"/>
                </a:lnTo>
                <a:lnTo>
                  <a:pt x="133683" y="163422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497589" y="418739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S24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675466" y="2538522"/>
            <a:ext cx="140970" cy="1634489"/>
          </a:xfrm>
          <a:custGeom>
            <a:avLst/>
            <a:gdLst/>
            <a:ahLst/>
            <a:cxnLst/>
            <a:rect l="l" t="t" r="r" b="b"/>
            <a:pathLst>
              <a:path w="140970" h="1634489">
                <a:moveTo>
                  <a:pt x="133682" y="1634220"/>
                </a:moveTo>
                <a:lnTo>
                  <a:pt x="7075" y="1634220"/>
                </a:lnTo>
                <a:lnTo>
                  <a:pt x="4771" y="1632859"/>
                </a:lnTo>
                <a:lnTo>
                  <a:pt x="954" y="1627414"/>
                </a:lnTo>
                <a:lnTo>
                  <a:pt x="0" y="162412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624127"/>
                </a:lnTo>
                <a:lnTo>
                  <a:pt x="139803" y="1627414"/>
                </a:lnTo>
                <a:lnTo>
                  <a:pt x="135986" y="1632859"/>
                </a:lnTo>
                <a:lnTo>
                  <a:pt x="133682" y="163422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704164" y="418742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S15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882042" y="2553396"/>
            <a:ext cx="140970" cy="1619885"/>
          </a:xfrm>
          <a:custGeom>
            <a:avLst/>
            <a:gdLst/>
            <a:ahLst/>
            <a:cxnLst/>
            <a:rect l="l" t="t" r="r" b="b"/>
            <a:pathLst>
              <a:path w="140970" h="1619885">
                <a:moveTo>
                  <a:pt x="133682" y="1619347"/>
                </a:moveTo>
                <a:lnTo>
                  <a:pt x="7075" y="1619347"/>
                </a:lnTo>
                <a:lnTo>
                  <a:pt x="4771" y="1617986"/>
                </a:lnTo>
                <a:lnTo>
                  <a:pt x="954" y="1612540"/>
                </a:lnTo>
                <a:lnTo>
                  <a:pt x="0" y="1609254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609254"/>
                </a:lnTo>
                <a:lnTo>
                  <a:pt x="139804" y="1612540"/>
                </a:lnTo>
                <a:lnTo>
                  <a:pt x="135986" y="1617986"/>
                </a:lnTo>
                <a:lnTo>
                  <a:pt x="133682" y="1619347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910740" y="4203486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088617" y="2580354"/>
            <a:ext cx="140970" cy="1592580"/>
          </a:xfrm>
          <a:custGeom>
            <a:avLst/>
            <a:gdLst/>
            <a:ahLst/>
            <a:cxnLst/>
            <a:rect l="l" t="t" r="r" b="b"/>
            <a:pathLst>
              <a:path w="140970" h="1592579">
                <a:moveTo>
                  <a:pt x="133682" y="1592389"/>
                </a:moveTo>
                <a:lnTo>
                  <a:pt x="7075" y="1592389"/>
                </a:lnTo>
                <a:lnTo>
                  <a:pt x="4771" y="1591028"/>
                </a:lnTo>
                <a:lnTo>
                  <a:pt x="954" y="1585582"/>
                </a:lnTo>
                <a:lnTo>
                  <a:pt x="0" y="1582295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582295"/>
                </a:lnTo>
                <a:lnTo>
                  <a:pt x="139803" y="1585582"/>
                </a:lnTo>
                <a:lnTo>
                  <a:pt x="135986" y="1591028"/>
                </a:lnTo>
                <a:lnTo>
                  <a:pt x="133682" y="1592389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8117316" y="4203516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S6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8295193" y="2606382"/>
            <a:ext cx="140970" cy="1566545"/>
          </a:xfrm>
          <a:custGeom>
            <a:avLst/>
            <a:gdLst/>
            <a:ahLst/>
            <a:cxnLst/>
            <a:rect l="l" t="t" r="r" b="b"/>
            <a:pathLst>
              <a:path w="140970" h="1566545">
                <a:moveTo>
                  <a:pt x="133683" y="1566360"/>
                </a:moveTo>
                <a:lnTo>
                  <a:pt x="7075" y="1566360"/>
                </a:lnTo>
                <a:lnTo>
                  <a:pt x="4771" y="1564999"/>
                </a:lnTo>
                <a:lnTo>
                  <a:pt x="954" y="1559554"/>
                </a:lnTo>
                <a:lnTo>
                  <a:pt x="0" y="155626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3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556267"/>
                </a:lnTo>
                <a:lnTo>
                  <a:pt x="139804" y="1559554"/>
                </a:lnTo>
                <a:lnTo>
                  <a:pt x="135986" y="1564999"/>
                </a:lnTo>
                <a:lnTo>
                  <a:pt x="133683" y="156636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323241" y="4187413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S18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501770" y="2606382"/>
            <a:ext cx="140970" cy="1566545"/>
          </a:xfrm>
          <a:custGeom>
            <a:avLst/>
            <a:gdLst/>
            <a:ahLst/>
            <a:cxnLst/>
            <a:rect l="l" t="t" r="r" b="b"/>
            <a:pathLst>
              <a:path w="140970" h="1566545">
                <a:moveTo>
                  <a:pt x="133682" y="1566360"/>
                </a:moveTo>
                <a:lnTo>
                  <a:pt x="7075" y="1566360"/>
                </a:lnTo>
                <a:lnTo>
                  <a:pt x="4771" y="1564999"/>
                </a:lnTo>
                <a:lnTo>
                  <a:pt x="954" y="1559554"/>
                </a:lnTo>
                <a:lnTo>
                  <a:pt x="0" y="1556267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556267"/>
                </a:lnTo>
                <a:lnTo>
                  <a:pt x="139804" y="1559554"/>
                </a:lnTo>
                <a:lnTo>
                  <a:pt x="135986" y="1564999"/>
                </a:lnTo>
                <a:lnTo>
                  <a:pt x="133682" y="1566360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529817" y="4187443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S13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708345" y="2635200"/>
            <a:ext cx="140970" cy="1537970"/>
          </a:xfrm>
          <a:custGeom>
            <a:avLst/>
            <a:gdLst/>
            <a:ahLst/>
            <a:cxnLst/>
            <a:rect l="l" t="t" r="r" b="b"/>
            <a:pathLst>
              <a:path w="140970" h="1537970">
                <a:moveTo>
                  <a:pt x="133682" y="1537543"/>
                </a:moveTo>
                <a:lnTo>
                  <a:pt x="7075" y="1537543"/>
                </a:lnTo>
                <a:lnTo>
                  <a:pt x="4771" y="1536182"/>
                </a:lnTo>
                <a:lnTo>
                  <a:pt x="954" y="1530736"/>
                </a:lnTo>
                <a:lnTo>
                  <a:pt x="0" y="1527450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527450"/>
                </a:lnTo>
                <a:lnTo>
                  <a:pt x="139803" y="1530736"/>
                </a:lnTo>
                <a:lnTo>
                  <a:pt x="135986" y="1536182"/>
                </a:lnTo>
                <a:lnTo>
                  <a:pt x="133682" y="1537543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736393" y="4187301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S20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914269" y="2703060"/>
            <a:ext cx="140970" cy="1470025"/>
          </a:xfrm>
          <a:custGeom>
            <a:avLst/>
            <a:gdLst/>
            <a:ahLst/>
            <a:cxnLst/>
            <a:rect l="l" t="t" r="r" b="b"/>
            <a:pathLst>
              <a:path w="140970" h="1470025">
                <a:moveTo>
                  <a:pt x="133682" y="1469683"/>
                </a:moveTo>
                <a:lnTo>
                  <a:pt x="7075" y="1469683"/>
                </a:lnTo>
                <a:lnTo>
                  <a:pt x="4772" y="1468321"/>
                </a:lnTo>
                <a:lnTo>
                  <a:pt x="954" y="1462876"/>
                </a:lnTo>
                <a:lnTo>
                  <a:pt x="0" y="1459589"/>
                </a:lnTo>
                <a:lnTo>
                  <a:pt x="0" y="10093"/>
                </a:lnTo>
                <a:lnTo>
                  <a:pt x="954" y="6806"/>
                </a:lnTo>
                <a:lnTo>
                  <a:pt x="4772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459589"/>
                </a:lnTo>
                <a:lnTo>
                  <a:pt x="139804" y="1462876"/>
                </a:lnTo>
                <a:lnTo>
                  <a:pt x="135986" y="1468321"/>
                </a:lnTo>
                <a:lnTo>
                  <a:pt x="133682" y="1469683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942969" y="4187330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S23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9120846" y="2785794"/>
            <a:ext cx="140970" cy="1387475"/>
          </a:xfrm>
          <a:custGeom>
            <a:avLst/>
            <a:gdLst/>
            <a:ahLst/>
            <a:cxnLst/>
            <a:rect l="l" t="t" r="r" b="b"/>
            <a:pathLst>
              <a:path w="140970" h="1387475">
                <a:moveTo>
                  <a:pt x="133682" y="1386949"/>
                </a:moveTo>
                <a:lnTo>
                  <a:pt x="7075" y="1386949"/>
                </a:lnTo>
                <a:lnTo>
                  <a:pt x="4771" y="1385588"/>
                </a:lnTo>
                <a:lnTo>
                  <a:pt x="954" y="1380142"/>
                </a:lnTo>
                <a:lnTo>
                  <a:pt x="0" y="1376856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376856"/>
                </a:lnTo>
                <a:lnTo>
                  <a:pt x="139804" y="1380142"/>
                </a:lnTo>
                <a:lnTo>
                  <a:pt x="135986" y="1385588"/>
                </a:lnTo>
                <a:lnTo>
                  <a:pt x="133682" y="1386949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9149545" y="4203561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S8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327422" y="2814611"/>
            <a:ext cx="140970" cy="1358265"/>
          </a:xfrm>
          <a:custGeom>
            <a:avLst/>
            <a:gdLst/>
            <a:ahLst/>
            <a:cxnLst/>
            <a:rect l="l" t="t" r="r" b="b"/>
            <a:pathLst>
              <a:path w="140970" h="1358264">
                <a:moveTo>
                  <a:pt x="133682" y="1358132"/>
                </a:moveTo>
                <a:lnTo>
                  <a:pt x="7075" y="1358132"/>
                </a:lnTo>
                <a:lnTo>
                  <a:pt x="4771" y="1356771"/>
                </a:lnTo>
                <a:lnTo>
                  <a:pt x="954" y="1351325"/>
                </a:lnTo>
                <a:lnTo>
                  <a:pt x="0" y="1348038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348038"/>
                </a:lnTo>
                <a:lnTo>
                  <a:pt x="139804" y="1351325"/>
                </a:lnTo>
                <a:lnTo>
                  <a:pt x="135986" y="1356771"/>
                </a:lnTo>
                <a:lnTo>
                  <a:pt x="133682" y="1358132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9356121" y="4203419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S4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9533998" y="2908499"/>
            <a:ext cx="140970" cy="1264285"/>
          </a:xfrm>
          <a:custGeom>
            <a:avLst/>
            <a:gdLst/>
            <a:ahLst/>
            <a:cxnLst/>
            <a:rect l="l" t="t" r="r" b="b"/>
            <a:pathLst>
              <a:path w="140970" h="1264285">
                <a:moveTo>
                  <a:pt x="133682" y="1264243"/>
                </a:moveTo>
                <a:lnTo>
                  <a:pt x="7075" y="1264243"/>
                </a:lnTo>
                <a:lnTo>
                  <a:pt x="4771" y="1262882"/>
                </a:lnTo>
                <a:lnTo>
                  <a:pt x="954" y="1257436"/>
                </a:lnTo>
                <a:lnTo>
                  <a:pt x="0" y="1254150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254150"/>
                </a:lnTo>
                <a:lnTo>
                  <a:pt x="139804" y="1257436"/>
                </a:lnTo>
                <a:lnTo>
                  <a:pt x="135986" y="1262882"/>
                </a:lnTo>
                <a:lnTo>
                  <a:pt x="133682" y="1264243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9562697" y="4187420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S26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9740575" y="2923373"/>
            <a:ext cx="140970" cy="1249680"/>
          </a:xfrm>
          <a:custGeom>
            <a:avLst/>
            <a:gdLst/>
            <a:ahLst/>
            <a:cxnLst/>
            <a:rect l="l" t="t" r="r" b="b"/>
            <a:pathLst>
              <a:path w="140970" h="1249679">
                <a:moveTo>
                  <a:pt x="133682" y="1249370"/>
                </a:moveTo>
                <a:lnTo>
                  <a:pt x="7075" y="1249370"/>
                </a:lnTo>
                <a:lnTo>
                  <a:pt x="4771" y="1248008"/>
                </a:lnTo>
                <a:lnTo>
                  <a:pt x="954" y="1242563"/>
                </a:lnTo>
                <a:lnTo>
                  <a:pt x="0" y="1239276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7" y="10093"/>
                </a:lnTo>
                <a:lnTo>
                  <a:pt x="140757" y="1239276"/>
                </a:lnTo>
                <a:lnTo>
                  <a:pt x="139803" y="1242563"/>
                </a:lnTo>
                <a:lnTo>
                  <a:pt x="135986" y="1248008"/>
                </a:lnTo>
                <a:lnTo>
                  <a:pt x="133682" y="1249370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9769273" y="418727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S21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947150" y="2937317"/>
            <a:ext cx="140970" cy="1235710"/>
          </a:xfrm>
          <a:custGeom>
            <a:avLst/>
            <a:gdLst/>
            <a:ahLst/>
            <a:cxnLst/>
            <a:rect l="l" t="t" r="r" b="b"/>
            <a:pathLst>
              <a:path w="140970" h="1235710">
                <a:moveTo>
                  <a:pt x="133682" y="1235426"/>
                </a:moveTo>
                <a:lnTo>
                  <a:pt x="7075" y="1235426"/>
                </a:lnTo>
                <a:lnTo>
                  <a:pt x="4771" y="1234065"/>
                </a:lnTo>
                <a:lnTo>
                  <a:pt x="954" y="1228619"/>
                </a:lnTo>
                <a:lnTo>
                  <a:pt x="0" y="1225332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4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7" y="10093"/>
                </a:lnTo>
                <a:lnTo>
                  <a:pt x="140757" y="1225332"/>
                </a:lnTo>
                <a:lnTo>
                  <a:pt x="139803" y="1228619"/>
                </a:lnTo>
                <a:lnTo>
                  <a:pt x="135986" y="1234065"/>
                </a:lnTo>
                <a:lnTo>
                  <a:pt x="133682" y="1235426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9975850" y="4187307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S19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0153726" y="2979148"/>
            <a:ext cx="140970" cy="1193800"/>
          </a:xfrm>
          <a:custGeom>
            <a:avLst/>
            <a:gdLst/>
            <a:ahLst/>
            <a:cxnLst/>
            <a:rect l="l" t="t" r="r" b="b"/>
            <a:pathLst>
              <a:path w="140970" h="1193800">
                <a:moveTo>
                  <a:pt x="133682" y="1193594"/>
                </a:moveTo>
                <a:lnTo>
                  <a:pt x="7075" y="1193594"/>
                </a:lnTo>
                <a:lnTo>
                  <a:pt x="4771" y="1192233"/>
                </a:lnTo>
                <a:lnTo>
                  <a:pt x="954" y="1186788"/>
                </a:lnTo>
                <a:lnTo>
                  <a:pt x="0" y="1183501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183501"/>
                </a:lnTo>
                <a:lnTo>
                  <a:pt x="139804" y="1186788"/>
                </a:lnTo>
                <a:lnTo>
                  <a:pt x="135986" y="1192233"/>
                </a:lnTo>
                <a:lnTo>
                  <a:pt x="133682" y="1193594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10182425" y="4203539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S2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360302" y="3005177"/>
            <a:ext cx="140970" cy="1167765"/>
          </a:xfrm>
          <a:custGeom>
            <a:avLst/>
            <a:gdLst/>
            <a:ahLst/>
            <a:cxnLst/>
            <a:rect l="l" t="t" r="r" b="b"/>
            <a:pathLst>
              <a:path w="140970" h="1167764">
                <a:moveTo>
                  <a:pt x="133682" y="1167566"/>
                </a:moveTo>
                <a:lnTo>
                  <a:pt x="7075" y="1167566"/>
                </a:lnTo>
                <a:lnTo>
                  <a:pt x="4771" y="1166204"/>
                </a:lnTo>
                <a:lnTo>
                  <a:pt x="954" y="1160759"/>
                </a:lnTo>
                <a:lnTo>
                  <a:pt x="0" y="1157472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157472"/>
                </a:lnTo>
                <a:lnTo>
                  <a:pt x="139804" y="1160759"/>
                </a:lnTo>
                <a:lnTo>
                  <a:pt x="135986" y="1166204"/>
                </a:lnTo>
                <a:lnTo>
                  <a:pt x="133682" y="1167566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0389002" y="4203396"/>
            <a:ext cx="75565" cy="8763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S5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0566878" y="3020050"/>
            <a:ext cx="140970" cy="1153160"/>
          </a:xfrm>
          <a:custGeom>
            <a:avLst/>
            <a:gdLst/>
            <a:ahLst/>
            <a:cxnLst/>
            <a:rect l="l" t="t" r="r" b="b"/>
            <a:pathLst>
              <a:path w="140970" h="1153160">
                <a:moveTo>
                  <a:pt x="133682" y="1152692"/>
                </a:moveTo>
                <a:lnTo>
                  <a:pt x="7075" y="1152692"/>
                </a:lnTo>
                <a:lnTo>
                  <a:pt x="4771" y="1151331"/>
                </a:lnTo>
                <a:lnTo>
                  <a:pt x="954" y="1145886"/>
                </a:lnTo>
                <a:lnTo>
                  <a:pt x="0" y="1142599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3" y="6806"/>
                </a:lnTo>
                <a:lnTo>
                  <a:pt x="140758" y="10093"/>
                </a:lnTo>
                <a:lnTo>
                  <a:pt x="140758" y="1142599"/>
                </a:lnTo>
                <a:lnTo>
                  <a:pt x="139803" y="1145886"/>
                </a:lnTo>
                <a:lnTo>
                  <a:pt x="135986" y="1151331"/>
                </a:lnTo>
                <a:lnTo>
                  <a:pt x="133682" y="1152692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0595578" y="418739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S14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0773454" y="3087911"/>
            <a:ext cx="140970" cy="1085215"/>
          </a:xfrm>
          <a:custGeom>
            <a:avLst/>
            <a:gdLst/>
            <a:ahLst/>
            <a:cxnLst/>
            <a:rect l="l" t="t" r="r" b="b"/>
            <a:pathLst>
              <a:path w="140970" h="1085214">
                <a:moveTo>
                  <a:pt x="133682" y="1084832"/>
                </a:moveTo>
                <a:lnTo>
                  <a:pt x="7075" y="1084832"/>
                </a:lnTo>
                <a:lnTo>
                  <a:pt x="4771" y="1083471"/>
                </a:lnTo>
                <a:lnTo>
                  <a:pt x="954" y="1078025"/>
                </a:lnTo>
                <a:lnTo>
                  <a:pt x="0" y="1074739"/>
                </a:lnTo>
                <a:lnTo>
                  <a:pt x="0" y="10093"/>
                </a:lnTo>
                <a:lnTo>
                  <a:pt x="954" y="6806"/>
                </a:lnTo>
                <a:lnTo>
                  <a:pt x="4771" y="1361"/>
                </a:lnTo>
                <a:lnTo>
                  <a:pt x="7075" y="0"/>
                </a:lnTo>
                <a:lnTo>
                  <a:pt x="9775" y="0"/>
                </a:lnTo>
                <a:lnTo>
                  <a:pt x="133682" y="0"/>
                </a:lnTo>
                <a:lnTo>
                  <a:pt x="135986" y="1361"/>
                </a:lnTo>
                <a:lnTo>
                  <a:pt x="139804" y="6806"/>
                </a:lnTo>
                <a:lnTo>
                  <a:pt x="140758" y="10093"/>
                </a:lnTo>
                <a:lnTo>
                  <a:pt x="140758" y="1074739"/>
                </a:lnTo>
                <a:lnTo>
                  <a:pt x="139804" y="1078025"/>
                </a:lnTo>
                <a:lnTo>
                  <a:pt x="135986" y="1083471"/>
                </a:lnTo>
                <a:lnTo>
                  <a:pt x="133682" y="1084832"/>
                </a:lnTo>
                <a:close/>
              </a:path>
            </a:pathLst>
          </a:custGeom>
          <a:solidFill>
            <a:srgbClr val="F0B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0802153" y="4187428"/>
            <a:ext cx="75565" cy="119380"/>
          </a:xfrm>
          <a:prstGeom prst="rect">
            <a:avLst/>
          </a:prstGeom>
        </p:spPr>
        <p:txBody>
          <a:bodyPr vert="vert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60" dirty="0">
                <a:solidFill>
                  <a:srgbClr val="999999"/>
                </a:solidFill>
                <a:latin typeface="Trebuchet MS"/>
                <a:cs typeface="Trebuchet MS"/>
              </a:rPr>
              <a:t>S12</a:t>
            </a:r>
            <a:endParaRPr sz="3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42594" y="4508531"/>
            <a:ext cx="54794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Best: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S17/S3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at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80.7%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·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worst: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S12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at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44.9%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—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spread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across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people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is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wider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than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any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modelling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change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tried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87" name="object 87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102235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Explainability</a:t>
            </a:r>
            <a:r>
              <a:rPr sz="2300" spc="-45" dirty="0"/>
              <a:t> </a:t>
            </a:r>
            <a:r>
              <a:rPr sz="2300" dirty="0"/>
              <a:t>—</a:t>
            </a:r>
            <a:r>
              <a:rPr sz="2300" spc="-45" dirty="0"/>
              <a:t> </a:t>
            </a:r>
            <a:r>
              <a:rPr sz="2300" dirty="0"/>
              <a:t>What</a:t>
            </a:r>
            <a:r>
              <a:rPr sz="2300" spc="-45" dirty="0"/>
              <a:t> </a:t>
            </a:r>
            <a:r>
              <a:rPr sz="2300" dirty="0"/>
              <a:t>Drives</a:t>
            </a:r>
            <a:r>
              <a:rPr sz="2300" spc="-45" dirty="0"/>
              <a:t> </a:t>
            </a:r>
            <a:r>
              <a:rPr sz="2300" dirty="0"/>
              <a:t>the</a:t>
            </a:r>
            <a:r>
              <a:rPr sz="2300" spc="-40" dirty="0"/>
              <a:t> </a:t>
            </a:r>
            <a:r>
              <a:rPr sz="2300" spc="-10" dirty="0"/>
              <a:t>Prediction</a:t>
            </a:r>
            <a:endParaRPr sz="2300"/>
          </a:p>
        </p:txBody>
      </p:sp>
      <p:grpSp>
        <p:nvGrpSpPr>
          <p:cNvPr id="4" name="object 4"/>
          <p:cNvGrpSpPr/>
          <p:nvPr/>
        </p:nvGrpSpPr>
        <p:grpSpPr>
          <a:xfrm>
            <a:off x="1047749" y="1343022"/>
            <a:ext cx="5829300" cy="3429000"/>
            <a:chOff x="1047749" y="1343022"/>
            <a:chExt cx="5829300" cy="3429000"/>
          </a:xfrm>
        </p:grpSpPr>
        <p:sp>
          <p:nvSpPr>
            <p:cNvPr id="5" name="object 5"/>
            <p:cNvSpPr/>
            <p:nvPr/>
          </p:nvSpPr>
          <p:spPr>
            <a:xfrm>
              <a:off x="1052512" y="1347785"/>
              <a:ext cx="5819775" cy="3419475"/>
            </a:xfrm>
            <a:custGeom>
              <a:avLst/>
              <a:gdLst/>
              <a:ahLst/>
              <a:cxnLst/>
              <a:rect l="l" t="t" r="r" b="b"/>
              <a:pathLst>
                <a:path w="5819775" h="3419475">
                  <a:moveTo>
                    <a:pt x="5753028" y="3419469"/>
                  </a:moveTo>
                  <a:lnTo>
                    <a:pt x="66746" y="3419469"/>
                  </a:lnTo>
                  <a:lnTo>
                    <a:pt x="62101" y="3419009"/>
                  </a:lnTo>
                  <a:lnTo>
                    <a:pt x="24240" y="3401862"/>
                  </a:lnTo>
                  <a:lnTo>
                    <a:pt x="2287" y="3366566"/>
                  </a:lnTo>
                  <a:lnTo>
                    <a:pt x="0" y="3352725"/>
                  </a:lnTo>
                  <a:lnTo>
                    <a:pt x="0" y="3348037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5753028" y="0"/>
                  </a:lnTo>
                  <a:lnTo>
                    <a:pt x="5791924" y="14636"/>
                  </a:lnTo>
                  <a:lnTo>
                    <a:pt x="5816131" y="48425"/>
                  </a:lnTo>
                  <a:lnTo>
                    <a:pt x="5819774" y="66744"/>
                  </a:lnTo>
                  <a:lnTo>
                    <a:pt x="5819774" y="3352725"/>
                  </a:lnTo>
                  <a:lnTo>
                    <a:pt x="5805128" y="3391620"/>
                  </a:lnTo>
                  <a:lnTo>
                    <a:pt x="5771340" y="3415819"/>
                  </a:lnTo>
                  <a:lnTo>
                    <a:pt x="5757673" y="3419009"/>
                  </a:lnTo>
                  <a:lnTo>
                    <a:pt x="5753028" y="3419469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2512" y="1347785"/>
              <a:ext cx="5819775" cy="3419475"/>
            </a:xfrm>
            <a:custGeom>
              <a:avLst/>
              <a:gdLst/>
              <a:ahLst/>
              <a:cxnLst/>
              <a:rect l="l" t="t" r="r" b="b"/>
              <a:pathLst>
                <a:path w="5819775" h="3419475">
                  <a:moveTo>
                    <a:pt x="0" y="33480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0"/>
                  </a:lnTo>
                  <a:lnTo>
                    <a:pt x="31748" y="12031"/>
                  </a:lnTo>
                  <a:lnTo>
                    <a:pt x="35649" y="9423"/>
                  </a:lnTo>
                  <a:lnTo>
                    <a:pt x="39765" y="7222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48337" y="0"/>
                  </a:lnTo>
                  <a:lnTo>
                    <a:pt x="5753028" y="0"/>
                  </a:lnTo>
                  <a:lnTo>
                    <a:pt x="5757673" y="456"/>
                  </a:lnTo>
                  <a:lnTo>
                    <a:pt x="5762274" y="1367"/>
                  </a:lnTo>
                  <a:lnTo>
                    <a:pt x="5766873" y="2283"/>
                  </a:lnTo>
                  <a:lnTo>
                    <a:pt x="5771340" y="3636"/>
                  </a:lnTo>
                  <a:lnTo>
                    <a:pt x="5775673" y="5432"/>
                  </a:lnTo>
                  <a:lnTo>
                    <a:pt x="5780007" y="7222"/>
                  </a:lnTo>
                  <a:lnTo>
                    <a:pt x="5798850" y="20919"/>
                  </a:lnTo>
                  <a:lnTo>
                    <a:pt x="5802166" y="24235"/>
                  </a:lnTo>
                  <a:lnTo>
                    <a:pt x="5819316" y="62098"/>
                  </a:lnTo>
                  <a:lnTo>
                    <a:pt x="5819774" y="71437"/>
                  </a:lnTo>
                  <a:lnTo>
                    <a:pt x="5819774" y="3348037"/>
                  </a:lnTo>
                  <a:lnTo>
                    <a:pt x="5819774" y="3352725"/>
                  </a:lnTo>
                  <a:lnTo>
                    <a:pt x="5819316" y="3357366"/>
                  </a:lnTo>
                  <a:lnTo>
                    <a:pt x="5818400" y="3361966"/>
                  </a:lnTo>
                  <a:lnTo>
                    <a:pt x="5817486" y="3366566"/>
                  </a:lnTo>
                  <a:lnTo>
                    <a:pt x="5816131" y="3371036"/>
                  </a:lnTo>
                  <a:lnTo>
                    <a:pt x="5814336" y="3375365"/>
                  </a:lnTo>
                  <a:lnTo>
                    <a:pt x="5812541" y="3379695"/>
                  </a:lnTo>
                  <a:lnTo>
                    <a:pt x="5798850" y="3398545"/>
                  </a:lnTo>
                  <a:lnTo>
                    <a:pt x="5795533" y="3401862"/>
                  </a:lnTo>
                  <a:lnTo>
                    <a:pt x="5791924" y="3404819"/>
                  </a:lnTo>
                  <a:lnTo>
                    <a:pt x="5788024" y="3407424"/>
                  </a:lnTo>
                  <a:lnTo>
                    <a:pt x="5784124" y="3410033"/>
                  </a:lnTo>
                  <a:lnTo>
                    <a:pt x="5762273" y="3418093"/>
                  </a:lnTo>
                  <a:lnTo>
                    <a:pt x="5757673" y="3419009"/>
                  </a:lnTo>
                  <a:lnTo>
                    <a:pt x="5753028" y="3419469"/>
                  </a:lnTo>
                  <a:lnTo>
                    <a:pt x="5748337" y="3419474"/>
                  </a:lnTo>
                  <a:lnTo>
                    <a:pt x="71437" y="3419474"/>
                  </a:lnTo>
                  <a:lnTo>
                    <a:pt x="31748" y="3407424"/>
                  </a:lnTo>
                  <a:lnTo>
                    <a:pt x="27848" y="3404819"/>
                  </a:lnTo>
                  <a:lnTo>
                    <a:pt x="24240" y="3401862"/>
                  </a:lnTo>
                  <a:lnTo>
                    <a:pt x="20923" y="3398545"/>
                  </a:lnTo>
                  <a:lnTo>
                    <a:pt x="17606" y="3395229"/>
                  </a:lnTo>
                  <a:lnTo>
                    <a:pt x="5437" y="3375365"/>
                  </a:lnTo>
                  <a:lnTo>
                    <a:pt x="3642" y="3371036"/>
                  </a:lnTo>
                  <a:lnTo>
                    <a:pt x="2287" y="3366566"/>
                  </a:lnTo>
                  <a:lnTo>
                    <a:pt x="1372" y="3361966"/>
                  </a:lnTo>
                  <a:lnTo>
                    <a:pt x="457" y="3357366"/>
                  </a:lnTo>
                  <a:lnTo>
                    <a:pt x="0" y="3352725"/>
                  </a:lnTo>
                  <a:lnTo>
                    <a:pt x="0" y="3348037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51447" y="1466913"/>
            <a:ext cx="3026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SHAP feature-category importance — pending (binary model)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66772" y="2020443"/>
            <a:ext cx="3661410" cy="2501900"/>
            <a:chOff x="2366772" y="2020443"/>
            <a:chExt cx="3661410" cy="2501900"/>
          </a:xfrm>
        </p:grpSpPr>
        <p:sp>
          <p:nvSpPr>
            <p:cNvPr id="9" name="object 9"/>
            <p:cNvSpPr/>
            <p:nvPr/>
          </p:nvSpPr>
          <p:spPr>
            <a:xfrm>
              <a:off x="2371696" y="2020443"/>
              <a:ext cx="0" cy="2501900"/>
            </a:xfrm>
            <a:custGeom>
              <a:avLst/>
              <a:gdLst/>
              <a:ahLst/>
              <a:cxnLst/>
              <a:rect l="l" t="t" r="r" b="b"/>
              <a:pathLst>
                <a:path h="2501900">
                  <a:moveTo>
                    <a:pt x="0" y="0"/>
                  </a:moveTo>
                  <a:lnTo>
                    <a:pt x="0" y="2501300"/>
                  </a:lnTo>
                </a:path>
              </a:pathLst>
            </a:custGeom>
            <a:ln w="9847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71686" y="2067712"/>
              <a:ext cx="3656965" cy="1905635"/>
            </a:xfrm>
            <a:custGeom>
              <a:avLst/>
              <a:gdLst/>
              <a:ahLst/>
              <a:cxnLst/>
              <a:rect l="l" t="t" r="r" b="b"/>
              <a:pathLst>
                <a:path w="3656965" h="1905635">
                  <a:moveTo>
                    <a:pt x="2532811" y="1768005"/>
                  </a:moveTo>
                  <a:lnTo>
                    <a:pt x="2515730" y="1750910"/>
                  </a:lnTo>
                  <a:lnTo>
                    <a:pt x="19697" y="1750910"/>
                  </a:lnTo>
                  <a:lnTo>
                    <a:pt x="17081" y="1750910"/>
                  </a:lnTo>
                  <a:lnTo>
                    <a:pt x="0" y="1768005"/>
                  </a:lnTo>
                  <a:lnTo>
                    <a:pt x="0" y="1888439"/>
                  </a:lnTo>
                  <a:lnTo>
                    <a:pt x="17081" y="1905520"/>
                  </a:lnTo>
                  <a:lnTo>
                    <a:pt x="2515730" y="1905520"/>
                  </a:lnTo>
                  <a:lnTo>
                    <a:pt x="2532811" y="1888439"/>
                  </a:lnTo>
                  <a:lnTo>
                    <a:pt x="2532811" y="1768005"/>
                  </a:lnTo>
                  <a:close/>
                </a:path>
                <a:path w="3656965" h="1905635">
                  <a:moveTo>
                    <a:pt x="2762262" y="1517865"/>
                  </a:moveTo>
                  <a:lnTo>
                    <a:pt x="2745181" y="1500784"/>
                  </a:lnTo>
                  <a:lnTo>
                    <a:pt x="19697" y="1500784"/>
                  </a:lnTo>
                  <a:lnTo>
                    <a:pt x="17081" y="1500784"/>
                  </a:lnTo>
                  <a:lnTo>
                    <a:pt x="0" y="1517865"/>
                  </a:lnTo>
                  <a:lnTo>
                    <a:pt x="0" y="1638312"/>
                  </a:lnTo>
                  <a:lnTo>
                    <a:pt x="17081" y="1655394"/>
                  </a:lnTo>
                  <a:lnTo>
                    <a:pt x="2745181" y="1655394"/>
                  </a:lnTo>
                  <a:lnTo>
                    <a:pt x="2762262" y="1638312"/>
                  </a:lnTo>
                  <a:lnTo>
                    <a:pt x="2762262" y="1517865"/>
                  </a:lnTo>
                  <a:close/>
                </a:path>
                <a:path w="3656965" h="1905635">
                  <a:moveTo>
                    <a:pt x="2765221" y="1267739"/>
                  </a:moveTo>
                  <a:lnTo>
                    <a:pt x="2748140" y="1250657"/>
                  </a:lnTo>
                  <a:lnTo>
                    <a:pt x="19697" y="1250657"/>
                  </a:lnTo>
                  <a:lnTo>
                    <a:pt x="17081" y="1250657"/>
                  </a:lnTo>
                  <a:lnTo>
                    <a:pt x="0" y="1267739"/>
                  </a:lnTo>
                  <a:lnTo>
                    <a:pt x="0" y="1388186"/>
                  </a:lnTo>
                  <a:lnTo>
                    <a:pt x="17081" y="1405267"/>
                  </a:lnTo>
                  <a:lnTo>
                    <a:pt x="2748140" y="1405267"/>
                  </a:lnTo>
                  <a:lnTo>
                    <a:pt x="2765221" y="1388186"/>
                  </a:lnTo>
                  <a:lnTo>
                    <a:pt x="2765221" y="1267739"/>
                  </a:lnTo>
                  <a:close/>
                </a:path>
                <a:path w="3656965" h="1905635">
                  <a:moveTo>
                    <a:pt x="2805595" y="1017612"/>
                  </a:moveTo>
                  <a:lnTo>
                    <a:pt x="2788513" y="1000531"/>
                  </a:lnTo>
                  <a:lnTo>
                    <a:pt x="19697" y="1000531"/>
                  </a:lnTo>
                  <a:lnTo>
                    <a:pt x="17081" y="1000531"/>
                  </a:lnTo>
                  <a:lnTo>
                    <a:pt x="0" y="1017612"/>
                  </a:lnTo>
                  <a:lnTo>
                    <a:pt x="0" y="1138047"/>
                  </a:lnTo>
                  <a:lnTo>
                    <a:pt x="17081" y="1155128"/>
                  </a:lnTo>
                  <a:lnTo>
                    <a:pt x="2788513" y="1155128"/>
                  </a:lnTo>
                  <a:lnTo>
                    <a:pt x="2805595" y="1138047"/>
                  </a:lnTo>
                  <a:lnTo>
                    <a:pt x="2805595" y="1017612"/>
                  </a:lnTo>
                  <a:close/>
                </a:path>
                <a:path w="3656965" h="1905635">
                  <a:moveTo>
                    <a:pt x="2974975" y="767473"/>
                  </a:moveTo>
                  <a:lnTo>
                    <a:pt x="2957893" y="750392"/>
                  </a:lnTo>
                  <a:lnTo>
                    <a:pt x="19697" y="750392"/>
                  </a:lnTo>
                  <a:lnTo>
                    <a:pt x="17081" y="750392"/>
                  </a:lnTo>
                  <a:lnTo>
                    <a:pt x="0" y="767473"/>
                  </a:lnTo>
                  <a:lnTo>
                    <a:pt x="0" y="887920"/>
                  </a:lnTo>
                  <a:lnTo>
                    <a:pt x="17081" y="905002"/>
                  </a:lnTo>
                  <a:lnTo>
                    <a:pt x="2957893" y="905002"/>
                  </a:lnTo>
                  <a:lnTo>
                    <a:pt x="2974975" y="887920"/>
                  </a:lnTo>
                  <a:lnTo>
                    <a:pt x="2974975" y="767473"/>
                  </a:lnTo>
                  <a:close/>
                </a:path>
                <a:path w="3656965" h="1905635">
                  <a:moveTo>
                    <a:pt x="3096095" y="517347"/>
                  </a:moveTo>
                  <a:lnTo>
                    <a:pt x="3079013" y="500265"/>
                  </a:lnTo>
                  <a:lnTo>
                    <a:pt x="19697" y="500265"/>
                  </a:lnTo>
                  <a:lnTo>
                    <a:pt x="17081" y="500265"/>
                  </a:lnTo>
                  <a:lnTo>
                    <a:pt x="0" y="517347"/>
                  </a:lnTo>
                  <a:lnTo>
                    <a:pt x="0" y="637794"/>
                  </a:lnTo>
                  <a:lnTo>
                    <a:pt x="17081" y="654875"/>
                  </a:lnTo>
                  <a:lnTo>
                    <a:pt x="3079013" y="654875"/>
                  </a:lnTo>
                  <a:lnTo>
                    <a:pt x="3096095" y="637794"/>
                  </a:lnTo>
                  <a:lnTo>
                    <a:pt x="3096095" y="517347"/>
                  </a:lnTo>
                  <a:close/>
                </a:path>
                <a:path w="3656965" h="1905635">
                  <a:moveTo>
                    <a:pt x="3439782" y="267220"/>
                  </a:moveTo>
                  <a:lnTo>
                    <a:pt x="3422700" y="250139"/>
                  </a:lnTo>
                  <a:lnTo>
                    <a:pt x="19697" y="250139"/>
                  </a:lnTo>
                  <a:lnTo>
                    <a:pt x="17081" y="250139"/>
                  </a:lnTo>
                  <a:lnTo>
                    <a:pt x="0" y="267220"/>
                  </a:lnTo>
                  <a:lnTo>
                    <a:pt x="0" y="387654"/>
                  </a:lnTo>
                  <a:lnTo>
                    <a:pt x="17081" y="404749"/>
                  </a:lnTo>
                  <a:lnTo>
                    <a:pt x="3422700" y="404749"/>
                  </a:lnTo>
                  <a:lnTo>
                    <a:pt x="3439782" y="387654"/>
                  </a:lnTo>
                  <a:lnTo>
                    <a:pt x="3439782" y="267220"/>
                  </a:lnTo>
                  <a:close/>
                </a:path>
                <a:path w="3656965" h="1905635">
                  <a:moveTo>
                    <a:pt x="3656431" y="17094"/>
                  </a:moveTo>
                  <a:lnTo>
                    <a:pt x="3639350" y="0"/>
                  </a:lnTo>
                  <a:lnTo>
                    <a:pt x="19697" y="0"/>
                  </a:lnTo>
                  <a:lnTo>
                    <a:pt x="17081" y="0"/>
                  </a:lnTo>
                  <a:lnTo>
                    <a:pt x="0" y="17094"/>
                  </a:lnTo>
                  <a:lnTo>
                    <a:pt x="0" y="137528"/>
                  </a:lnTo>
                  <a:lnTo>
                    <a:pt x="17081" y="154609"/>
                  </a:lnTo>
                  <a:lnTo>
                    <a:pt x="3639350" y="154609"/>
                  </a:lnTo>
                  <a:lnTo>
                    <a:pt x="3656431" y="137528"/>
                  </a:lnTo>
                  <a:lnTo>
                    <a:pt x="3656431" y="17094"/>
                  </a:lnTo>
                  <a:close/>
                </a:path>
              </a:pathLst>
            </a:custGeom>
            <a:solidFill>
              <a:srgbClr val="E382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71686" y="4068762"/>
              <a:ext cx="362585" cy="405130"/>
            </a:xfrm>
            <a:custGeom>
              <a:avLst/>
              <a:gdLst/>
              <a:ahLst/>
              <a:cxnLst/>
              <a:rect l="l" t="t" r="r" b="b"/>
              <a:pathLst>
                <a:path w="362585" h="405129">
                  <a:moveTo>
                    <a:pt x="338759" y="267208"/>
                  </a:moveTo>
                  <a:lnTo>
                    <a:pt x="321678" y="250126"/>
                  </a:lnTo>
                  <a:lnTo>
                    <a:pt x="19697" y="250126"/>
                  </a:lnTo>
                  <a:lnTo>
                    <a:pt x="17081" y="250126"/>
                  </a:lnTo>
                  <a:lnTo>
                    <a:pt x="0" y="267208"/>
                  </a:lnTo>
                  <a:lnTo>
                    <a:pt x="0" y="387654"/>
                  </a:lnTo>
                  <a:lnTo>
                    <a:pt x="17081" y="404736"/>
                  </a:lnTo>
                  <a:lnTo>
                    <a:pt x="321678" y="404736"/>
                  </a:lnTo>
                  <a:lnTo>
                    <a:pt x="338759" y="387654"/>
                  </a:lnTo>
                  <a:lnTo>
                    <a:pt x="338759" y="267208"/>
                  </a:lnTo>
                  <a:close/>
                </a:path>
                <a:path w="362585" h="405129">
                  <a:moveTo>
                    <a:pt x="362394" y="17081"/>
                  </a:moveTo>
                  <a:lnTo>
                    <a:pt x="345313" y="0"/>
                  </a:lnTo>
                  <a:lnTo>
                    <a:pt x="19697" y="0"/>
                  </a:lnTo>
                  <a:lnTo>
                    <a:pt x="17081" y="0"/>
                  </a:lnTo>
                  <a:lnTo>
                    <a:pt x="0" y="17081"/>
                  </a:lnTo>
                  <a:lnTo>
                    <a:pt x="0" y="137515"/>
                  </a:lnTo>
                  <a:lnTo>
                    <a:pt x="17081" y="154597"/>
                  </a:lnTo>
                  <a:lnTo>
                    <a:pt x="345313" y="154597"/>
                  </a:lnTo>
                  <a:lnTo>
                    <a:pt x="362394" y="137515"/>
                  </a:lnTo>
                  <a:lnTo>
                    <a:pt x="362394" y="17081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87797" y="2063931"/>
            <a:ext cx="71818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4370" y="2073742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3035" y="2313962"/>
            <a:ext cx="72263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7825" y="2323773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3956" y="2564142"/>
            <a:ext cx="73152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14032" y="2573953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1432" y="2814322"/>
            <a:ext cx="68453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93035" y="2824133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3389" y="3064354"/>
            <a:ext cx="74231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23668" y="3074164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5891" y="3314534"/>
            <a:ext cx="72961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3187" y="3324344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2930" y="3564714"/>
            <a:ext cx="842644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80210" y="3574524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8874" y="3814745"/>
            <a:ext cx="6769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50866" y="3824556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5508" y="4064925"/>
            <a:ext cx="70040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80357" y="4074736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92708" y="4315105"/>
            <a:ext cx="71310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6693" y="4324916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A1A1A"/>
                </a:solidFill>
                <a:latin typeface="Trebuchet MS"/>
                <a:cs typeface="Trebuchet MS"/>
              </a:rPr>
              <a:t/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29878" y="4918106"/>
            <a:ext cx="9733280" cy="14859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273935" marR="4468495" indent="-2261870">
              <a:lnSpc>
                <a:spcPct val="102899"/>
              </a:lnSpc>
              <a:spcBef>
                <a:spcPts val="70"/>
              </a:spcBef>
            </a:pP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SHAP feature-category importance for the binary model is pending (see note, left) — not shown here to avoid attributing the earlier 3-class study's feature drivers to this model.</a:t>
            </a:r>
            <a:endParaRPr sz="850">
              <a:latin typeface="Trebuchet MS"/>
              <a:cs typeface="Trebuchet MS"/>
            </a:endParaRPr>
          </a:p>
          <a:p>
            <a:pPr marL="31750" marR="5080">
              <a:lnSpc>
                <a:spcPct val="112500"/>
              </a:lnSpc>
              <a:spcBef>
                <a:spcPts val="43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 network's own learned attention gate (right) is available now: it leans toward fNIRS (~59%) over EEG (~41%) on the served binary model, consistently across Low and High load.</a:t>
            </a:r>
            <a:endParaRPr sz="1500">
              <a:latin typeface="Trebuchet MS"/>
              <a:cs typeface="Trebuchet MS"/>
            </a:endParaRPr>
          </a:p>
          <a:p>
            <a:pPr marL="31750" marR="46990">
              <a:lnSpc>
                <a:spcPct val="108300"/>
              </a:lnSpc>
              <a:spcBef>
                <a:spcPts val="1050"/>
              </a:spcBef>
            </a:pPr>
            <a:r>
              <a:rPr sz="1500" dirty="0">
                <a:solidFill>
                  <a:srgbClr val="E38212"/>
                </a:solidFill>
                <a:latin typeface="Trebuchet MS"/>
                <a:cs typeface="Trebuchet MS"/>
              </a:rPr>
              <a:t>The attention gate is exposed in every live API response; it is what the app's modality-contribution bar shows for each individual prediction.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53274" y="1343022"/>
            <a:ext cx="3990975" cy="3429000"/>
            <a:chOff x="7153274" y="1343022"/>
            <a:chExt cx="3990975" cy="3429000"/>
          </a:xfrm>
        </p:grpSpPr>
        <p:sp>
          <p:nvSpPr>
            <p:cNvPr id="34" name="object 34"/>
            <p:cNvSpPr/>
            <p:nvPr/>
          </p:nvSpPr>
          <p:spPr>
            <a:xfrm>
              <a:off x="7158036" y="1347785"/>
              <a:ext cx="3981450" cy="3419475"/>
            </a:xfrm>
            <a:custGeom>
              <a:avLst/>
              <a:gdLst/>
              <a:ahLst/>
              <a:cxnLst/>
              <a:rect l="l" t="t" r="r" b="b"/>
              <a:pathLst>
                <a:path w="3981450" h="3419475">
                  <a:moveTo>
                    <a:pt x="3914703" y="3419469"/>
                  </a:moveTo>
                  <a:lnTo>
                    <a:pt x="66747" y="3419469"/>
                  </a:lnTo>
                  <a:lnTo>
                    <a:pt x="62101" y="3419009"/>
                  </a:lnTo>
                  <a:lnTo>
                    <a:pt x="24240" y="3401862"/>
                  </a:lnTo>
                  <a:lnTo>
                    <a:pt x="2287" y="3366566"/>
                  </a:lnTo>
                  <a:lnTo>
                    <a:pt x="0" y="3352725"/>
                  </a:lnTo>
                  <a:lnTo>
                    <a:pt x="0" y="3348037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7" y="0"/>
                  </a:lnTo>
                  <a:lnTo>
                    <a:pt x="3914703" y="0"/>
                  </a:lnTo>
                  <a:lnTo>
                    <a:pt x="3953600" y="14636"/>
                  </a:lnTo>
                  <a:lnTo>
                    <a:pt x="3977807" y="48425"/>
                  </a:lnTo>
                  <a:lnTo>
                    <a:pt x="3981450" y="66744"/>
                  </a:lnTo>
                  <a:lnTo>
                    <a:pt x="3981450" y="3352725"/>
                  </a:lnTo>
                  <a:lnTo>
                    <a:pt x="3966804" y="3391620"/>
                  </a:lnTo>
                  <a:lnTo>
                    <a:pt x="3933016" y="3415819"/>
                  </a:lnTo>
                  <a:lnTo>
                    <a:pt x="3919348" y="3419009"/>
                  </a:lnTo>
                  <a:lnTo>
                    <a:pt x="3914703" y="3419469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58036" y="1347785"/>
              <a:ext cx="3981450" cy="3419475"/>
            </a:xfrm>
            <a:custGeom>
              <a:avLst/>
              <a:gdLst/>
              <a:ahLst/>
              <a:cxnLst/>
              <a:rect l="l" t="t" r="r" b="b"/>
              <a:pathLst>
                <a:path w="3981450" h="3419475">
                  <a:moveTo>
                    <a:pt x="0" y="33480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0"/>
                  </a:lnTo>
                  <a:lnTo>
                    <a:pt x="31748" y="12031"/>
                  </a:lnTo>
                  <a:lnTo>
                    <a:pt x="35648" y="9423"/>
                  </a:lnTo>
                  <a:lnTo>
                    <a:pt x="39765" y="7222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910012" y="0"/>
                  </a:lnTo>
                  <a:lnTo>
                    <a:pt x="3914703" y="0"/>
                  </a:lnTo>
                  <a:lnTo>
                    <a:pt x="3919348" y="456"/>
                  </a:lnTo>
                  <a:lnTo>
                    <a:pt x="3923947" y="1367"/>
                  </a:lnTo>
                  <a:lnTo>
                    <a:pt x="3928548" y="2283"/>
                  </a:lnTo>
                  <a:lnTo>
                    <a:pt x="3933016" y="3636"/>
                  </a:lnTo>
                  <a:lnTo>
                    <a:pt x="3937349" y="5432"/>
                  </a:lnTo>
                  <a:lnTo>
                    <a:pt x="3941682" y="7222"/>
                  </a:lnTo>
                  <a:lnTo>
                    <a:pt x="3960525" y="20919"/>
                  </a:lnTo>
                  <a:lnTo>
                    <a:pt x="3963843" y="24235"/>
                  </a:lnTo>
                  <a:lnTo>
                    <a:pt x="3980992" y="62098"/>
                  </a:lnTo>
                  <a:lnTo>
                    <a:pt x="3981450" y="66744"/>
                  </a:lnTo>
                  <a:lnTo>
                    <a:pt x="3981450" y="71437"/>
                  </a:lnTo>
                  <a:lnTo>
                    <a:pt x="3981450" y="3348037"/>
                  </a:lnTo>
                  <a:lnTo>
                    <a:pt x="3981450" y="3352725"/>
                  </a:lnTo>
                  <a:lnTo>
                    <a:pt x="3980992" y="3357366"/>
                  </a:lnTo>
                  <a:lnTo>
                    <a:pt x="3980077" y="3361966"/>
                  </a:lnTo>
                  <a:lnTo>
                    <a:pt x="3979162" y="3366566"/>
                  </a:lnTo>
                  <a:lnTo>
                    <a:pt x="3960525" y="3398545"/>
                  </a:lnTo>
                  <a:lnTo>
                    <a:pt x="3957208" y="3401862"/>
                  </a:lnTo>
                  <a:lnTo>
                    <a:pt x="3953600" y="3404819"/>
                  </a:lnTo>
                  <a:lnTo>
                    <a:pt x="3949699" y="3407424"/>
                  </a:lnTo>
                  <a:lnTo>
                    <a:pt x="3945798" y="3410033"/>
                  </a:lnTo>
                  <a:lnTo>
                    <a:pt x="3923947" y="3418093"/>
                  </a:lnTo>
                  <a:lnTo>
                    <a:pt x="3919348" y="3419009"/>
                  </a:lnTo>
                  <a:lnTo>
                    <a:pt x="3914703" y="3419469"/>
                  </a:lnTo>
                  <a:lnTo>
                    <a:pt x="3910012" y="3419474"/>
                  </a:lnTo>
                  <a:lnTo>
                    <a:pt x="71438" y="3419474"/>
                  </a:lnTo>
                  <a:lnTo>
                    <a:pt x="31748" y="3407424"/>
                  </a:lnTo>
                  <a:lnTo>
                    <a:pt x="27848" y="3404819"/>
                  </a:lnTo>
                  <a:lnTo>
                    <a:pt x="24240" y="3401862"/>
                  </a:lnTo>
                  <a:lnTo>
                    <a:pt x="20923" y="3398545"/>
                  </a:lnTo>
                  <a:lnTo>
                    <a:pt x="17606" y="3395229"/>
                  </a:lnTo>
                  <a:lnTo>
                    <a:pt x="5437" y="3375365"/>
                  </a:lnTo>
                  <a:lnTo>
                    <a:pt x="3642" y="3371036"/>
                  </a:lnTo>
                  <a:lnTo>
                    <a:pt x="2287" y="3366566"/>
                  </a:lnTo>
                  <a:lnTo>
                    <a:pt x="1372" y="3361966"/>
                  </a:lnTo>
                  <a:lnTo>
                    <a:pt x="457" y="3357366"/>
                  </a:lnTo>
                  <a:lnTo>
                    <a:pt x="0" y="3352725"/>
                  </a:lnTo>
                  <a:lnTo>
                    <a:pt x="0" y="3348037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59700" y="1466913"/>
            <a:ext cx="27730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Learned</a:t>
            </a:r>
            <a:r>
              <a:rPr sz="1100" b="1" spc="-3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attention</a:t>
            </a:r>
            <a:r>
              <a:rPr sz="1100" b="1" spc="-3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gate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(mean,</a:t>
            </a:r>
            <a:r>
              <a:rPr sz="1100" b="1" spc="-3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all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BD582B"/>
                </a:solidFill>
                <a:latin typeface="Trebuchet MS"/>
                <a:cs typeface="Trebuchet MS"/>
              </a:rPr>
              <a:t>classes)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94513" y="2399327"/>
            <a:ext cx="26098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25" dirty="0">
                <a:solidFill>
                  <a:srgbClr val="1A1A1A"/>
                </a:solidFill>
                <a:latin typeface="Trebuchet MS"/>
                <a:cs typeface="Trebuchet MS"/>
              </a:rPr>
              <a:t>EEG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40944" y="2350859"/>
            <a:ext cx="2451100" cy="857885"/>
            <a:chOff x="8040944" y="2350859"/>
            <a:chExt cx="2451100" cy="857885"/>
          </a:xfrm>
        </p:grpSpPr>
        <p:sp>
          <p:nvSpPr>
            <p:cNvPr id="39" name="object 39"/>
            <p:cNvSpPr/>
            <p:nvPr/>
          </p:nvSpPr>
          <p:spPr>
            <a:xfrm>
              <a:off x="8040944" y="2350859"/>
              <a:ext cx="2451100" cy="318770"/>
            </a:xfrm>
            <a:custGeom>
              <a:avLst/>
              <a:gdLst/>
              <a:ahLst/>
              <a:cxnLst/>
              <a:rect l="l" t="t" r="r" b="b"/>
              <a:pathLst>
                <a:path w="2451100" h="318769">
                  <a:moveTo>
                    <a:pt x="2419012" y="318617"/>
                  </a:moveTo>
                  <a:lnTo>
                    <a:pt x="31888" y="318617"/>
                  </a:lnTo>
                  <a:lnTo>
                    <a:pt x="27198" y="317684"/>
                  </a:lnTo>
                  <a:lnTo>
                    <a:pt x="0" y="286728"/>
                  </a:lnTo>
                  <a:lnTo>
                    <a:pt x="0" y="31888"/>
                  </a:lnTo>
                  <a:lnTo>
                    <a:pt x="27198" y="932"/>
                  </a:lnTo>
                  <a:lnTo>
                    <a:pt x="31888" y="0"/>
                  </a:lnTo>
                  <a:lnTo>
                    <a:pt x="36763" y="0"/>
                  </a:lnTo>
                  <a:lnTo>
                    <a:pt x="2419012" y="0"/>
                  </a:lnTo>
                  <a:lnTo>
                    <a:pt x="2449968" y="27198"/>
                  </a:lnTo>
                  <a:lnTo>
                    <a:pt x="2450901" y="31888"/>
                  </a:lnTo>
                  <a:lnTo>
                    <a:pt x="2450901" y="286728"/>
                  </a:lnTo>
                  <a:lnTo>
                    <a:pt x="2423702" y="317684"/>
                  </a:lnTo>
                  <a:lnTo>
                    <a:pt x="2419012" y="31861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40944" y="2350859"/>
              <a:ext cx="1006911" cy="318770"/>
            </a:xfrm>
            <a:custGeom>
              <a:avLst/>
              <a:gdLst/>
              <a:ahLst/>
              <a:cxnLst/>
              <a:rect l="l" t="t" r="r" b="b"/>
              <a:pathLst>
                <a:path w="1181734" h="318769">
                  <a:moveTo>
                    <a:pt x="1149445" y="318617"/>
                  </a:moveTo>
                  <a:lnTo>
                    <a:pt x="31888" y="318617"/>
                  </a:lnTo>
                  <a:lnTo>
                    <a:pt x="27198" y="317684"/>
                  </a:lnTo>
                  <a:lnTo>
                    <a:pt x="0" y="286728"/>
                  </a:lnTo>
                  <a:lnTo>
                    <a:pt x="0" y="31888"/>
                  </a:lnTo>
                  <a:lnTo>
                    <a:pt x="27198" y="932"/>
                  </a:lnTo>
                  <a:lnTo>
                    <a:pt x="31888" y="0"/>
                  </a:lnTo>
                  <a:lnTo>
                    <a:pt x="36763" y="0"/>
                  </a:lnTo>
                  <a:lnTo>
                    <a:pt x="1149445" y="0"/>
                  </a:lnTo>
                  <a:lnTo>
                    <a:pt x="1180401" y="27198"/>
                  </a:lnTo>
                  <a:lnTo>
                    <a:pt x="1181334" y="31888"/>
                  </a:lnTo>
                  <a:lnTo>
                    <a:pt x="1181334" y="286728"/>
                  </a:lnTo>
                  <a:lnTo>
                    <a:pt x="1154135" y="317684"/>
                  </a:lnTo>
                  <a:lnTo>
                    <a:pt x="1149445" y="318617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40944" y="2890057"/>
              <a:ext cx="2451100" cy="318770"/>
            </a:xfrm>
            <a:custGeom>
              <a:avLst/>
              <a:gdLst/>
              <a:ahLst/>
              <a:cxnLst/>
              <a:rect l="l" t="t" r="r" b="b"/>
              <a:pathLst>
                <a:path w="2451100" h="318769">
                  <a:moveTo>
                    <a:pt x="2419012" y="318617"/>
                  </a:moveTo>
                  <a:lnTo>
                    <a:pt x="31888" y="318617"/>
                  </a:lnTo>
                  <a:lnTo>
                    <a:pt x="27198" y="317684"/>
                  </a:lnTo>
                  <a:lnTo>
                    <a:pt x="0" y="286728"/>
                  </a:lnTo>
                  <a:lnTo>
                    <a:pt x="0" y="31888"/>
                  </a:lnTo>
                  <a:lnTo>
                    <a:pt x="27198" y="932"/>
                  </a:lnTo>
                  <a:lnTo>
                    <a:pt x="31888" y="0"/>
                  </a:lnTo>
                  <a:lnTo>
                    <a:pt x="36763" y="0"/>
                  </a:lnTo>
                  <a:lnTo>
                    <a:pt x="2419012" y="0"/>
                  </a:lnTo>
                  <a:lnTo>
                    <a:pt x="2449968" y="27198"/>
                  </a:lnTo>
                  <a:lnTo>
                    <a:pt x="2450901" y="31888"/>
                  </a:lnTo>
                  <a:lnTo>
                    <a:pt x="2450901" y="286728"/>
                  </a:lnTo>
                  <a:lnTo>
                    <a:pt x="2423702" y="317684"/>
                  </a:lnTo>
                  <a:lnTo>
                    <a:pt x="2419012" y="31861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40944" y="2890057"/>
              <a:ext cx="1444188" cy="318770"/>
            </a:xfrm>
            <a:custGeom>
              <a:avLst/>
              <a:gdLst/>
              <a:ahLst/>
              <a:cxnLst/>
              <a:rect l="l" t="t" r="r" b="b"/>
              <a:pathLst>
                <a:path w="1270000" h="318769">
                  <a:moveTo>
                    <a:pt x="1237678" y="318617"/>
                  </a:moveTo>
                  <a:lnTo>
                    <a:pt x="31888" y="318617"/>
                  </a:lnTo>
                  <a:lnTo>
                    <a:pt x="27198" y="317684"/>
                  </a:lnTo>
                  <a:lnTo>
                    <a:pt x="0" y="286728"/>
                  </a:lnTo>
                  <a:lnTo>
                    <a:pt x="0" y="31888"/>
                  </a:lnTo>
                  <a:lnTo>
                    <a:pt x="27198" y="932"/>
                  </a:lnTo>
                  <a:lnTo>
                    <a:pt x="31888" y="0"/>
                  </a:lnTo>
                  <a:lnTo>
                    <a:pt x="36763" y="0"/>
                  </a:lnTo>
                  <a:lnTo>
                    <a:pt x="1237678" y="0"/>
                  </a:lnTo>
                  <a:lnTo>
                    <a:pt x="1268634" y="27198"/>
                  </a:lnTo>
                  <a:lnTo>
                    <a:pt x="1269566" y="31888"/>
                  </a:lnTo>
                  <a:lnTo>
                    <a:pt x="1269566" y="286728"/>
                  </a:lnTo>
                  <a:lnTo>
                    <a:pt x="1242368" y="317684"/>
                  </a:lnTo>
                  <a:lnTo>
                    <a:pt x="1237678" y="318617"/>
                  </a:lnTo>
                  <a:close/>
                </a:path>
              </a:pathLst>
            </a:custGeom>
            <a:solidFill>
              <a:srgbClr val="E382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552607" y="2399327"/>
            <a:ext cx="40449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10" dirty="0">
                <a:solidFill>
                  <a:srgbClr val="1A1A1A"/>
                </a:solidFill>
                <a:latin typeface="Trebuchet MS"/>
                <a:cs typeface="Trebuchet MS"/>
              </a:rPr>
              <a:t>41.1%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13401" y="2938531"/>
            <a:ext cx="34226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1A1A1A"/>
                </a:solidFill>
                <a:latin typeface="Trebuchet MS"/>
                <a:cs typeface="Trebuchet MS"/>
              </a:rPr>
              <a:t>fNIRS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52607" y="2938531"/>
            <a:ext cx="40449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10" dirty="0">
                <a:solidFill>
                  <a:srgbClr val="1A1A1A"/>
                </a:solidFill>
                <a:latin typeface="Trebuchet MS"/>
                <a:cs typeface="Trebuchet MS"/>
              </a:rPr>
              <a:t>58.9%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9032" y="4384706"/>
            <a:ext cx="3454400" cy="2882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02030" marR="5080" indent="-989965">
              <a:lnSpc>
                <a:spcPct val="102899"/>
              </a:lnSpc>
              <a:spcBef>
                <a:spcPts val="70"/>
              </a:spcBef>
            </a:pPr>
            <a:r>
              <a:rPr sz="850" spc="-35" dirty="0">
                <a:solidFill>
                  <a:srgbClr val="878787"/>
                </a:solidFill>
                <a:latin typeface="Trebuchet MS"/>
                <a:cs typeface="Trebuchet MS"/>
              </a:rPr>
              <a:t>The attention gate reflects the model's learned reliance on each modality, not each sensor's standalone accuracy — real numbers from the served binary model, recomputed against the corrected held-out demo set.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38770" y="5273675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38770" y="5911849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38212"/>
                </a:solidFill>
                <a:latin typeface="Trebuchet MS"/>
                <a:cs typeface="Trebuchet MS"/>
              </a:rPr>
              <a:t>▪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49" name="object 49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366772" y="2120443"/>
            <a:ext cx="366141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SHAP importance has not been recomputed for the binary (Low/High) model. The values previously shown here were carried over unchanged from the earlier 3-class study and have been removed rather than displayed against the wrong model.</a:t>
            </a:r>
          </a:p>
          <a:p>
            <a:r>
              <a:rPr sz="1300"/>
              <a:t>Recomputation is blocked in the current environment by an OS Application Control policy on the shap/numba dependency — pending an environment where that restriction doesn't apply.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Experiment</a:t>
            </a:r>
            <a:r>
              <a:rPr sz="2200" spc="-15" dirty="0"/>
              <a:t> </a:t>
            </a:r>
            <a:r>
              <a:rPr sz="2200" dirty="0"/>
              <a:t>Campaign</a:t>
            </a:r>
            <a:r>
              <a:rPr sz="2200" spc="-10" dirty="0"/>
              <a:t> </a:t>
            </a:r>
            <a:r>
              <a:rPr sz="2200" dirty="0"/>
              <a:t>—</a:t>
            </a:r>
            <a:r>
              <a:rPr sz="2200" spc="-10" dirty="0"/>
              <a:t> </a:t>
            </a:r>
            <a:r>
              <a:rPr sz="2200" dirty="0"/>
              <a:t>Rigor</a:t>
            </a:r>
            <a:r>
              <a:rPr sz="2200" spc="-15" dirty="0"/>
              <a:t> </a:t>
            </a:r>
            <a:r>
              <a:rPr sz="2200" dirty="0"/>
              <a:t>&amp;</a:t>
            </a:r>
            <a:r>
              <a:rPr sz="2200" spc="-10" dirty="0"/>
              <a:t> </a:t>
            </a:r>
            <a:r>
              <a:rPr sz="2200" dirty="0"/>
              <a:t>Negative</a:t>
            </a:r>
            <a:r>
              <a:rPr sz="2200" spc="-20" dirty="0"/>
              <a:t> </a:t>
            </a:r>
            <a:r>
              <a:rPr sz="2200" spc="-10" dirty="0"/>
              <a:t>Results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1047749" y="1238247"/>
            <a:ext cx="10096500" cy="5114925"/>
            <a:chOff x="1047749" y="1238247"/>
            <a:chExt cx="10096500" cy="5114925"/>
          </a:xfrm>
        </p:grpSpPr>
        <p:sp>
          <p:nvSpPr>
            <p:cNvPr id="5" name="object 5"/>
            <p:cNvSpPr/>
            <p:nvPr/>
          </p:nvSpPr>
          <p:spPr>
            <a:xfrm>
              <a:off x="1052512" y="1243009"/>
              <a:ext cx="10086975" cy="5105400"/>
            </a:xfrm>
            <a:custGeom>
              <a:avLst/>
              <a:gdLst/>
              <a:ahLst/>
              <a:cxnLst/>
              <a:rect l="l" t="t" r="r" b="b"/>
              <a:pathLst>
                <a:path w="10086975" h="5105400">
                  <a:moveTo>
                    <a:pt x="10020227" y="5105399"/>
                  </a:moveTo>
                  <a:lnTo>
                    <a:pt x="66746" y="5105399"/>
                  </a:lnTo>
                  <a:lnTo>
                    <a:pt x="62101" y="5104939"/>
                  </a:lnTo>
                  <a:lnTo>
                    <a:pt x="24240" y="5087786"/>
                  </a:lnTo>
                  <a:lnTo>
                    <a:pt x="2287" y="5052491"/>
                  </a:lnTo>
                  <a:lnTo>
                    <a:pt x="0" y="5038645"/>
                  </a:lnTo>
                  <a:lnTo>
                    <a:pt x="0" y="5033962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10020227" y="0"/>
                  </a:lnTo>
                  <a:lnTo>
                    <a:pt x="10059124" y="14640"/>
                  </a:lnTo>
                  <a:lnTo>
                    <a:pt x="10083331" y="48425"/>
                  </a:lnTo>
                  <a:lnTo>
                    <a:pt x="10086974" y="66744"/>
                  </a:lnTo>
                  <a:lnTo>
                    <a:pt x="10086974" y="5038645"/>
                  </a:lnTo>
                  <a:lnTo>
                    <a:pt x="10072328" y="5077540"/>
                  </a:lnTo>
                  <a:lnTo>
                    <a:pt x="10038540" y="5101748"/>
                  </a:lnTo>
                  <a:lnTo>
                    <a:pt x="10024872" y="5104939"/>
                  </a:lnTo>
                  <a:lnTo>
                    <a:pt x="10020227" y="5105399"/>
                  </a:lnTo>
                  <a:close/>
                </a:path>
              </a:pathLst>
            </a:custGeom>
            <a:solidFill>
              <a:srgbClr val="FFFA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2512" y="1243009"/>
              <a:ext cx="10086975" cy="5105400"/>
            </a:xfrm>
            <a:custGeom>
              <a:avLst/>
              <a:gdLst/>
              <a:ahLst/>
              <a:cxnLst/>
              <a:rect l="l" t="t" r="r" b="b"/>
              <a:pathLst>
                <a:path w="10086975" h="5105400">
                  <a:moveTo>
                    <a:pt x="0" y="503396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5"/>
                  </a:lnTo>
                  <a:lnTo>
                    <a:pt x="7232" y="39760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5"/>
                  </a:lnTo>
                  <a:lnTo>
                    <a:pt x="31748" y="12036"/>
                  </a:lnTo>
                  <a:lnTo>
                    <a:pt x="35649" y="9426"/>
                  </a:lnTo>
                  <a:lnTo>
                    <a:pt x="39765" y="7222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015536" y="0"/>
                  </a:lnTo>
                  <a:lnTo>
                    <a:pt x="10020227" y="0"/>
                  </a:lnTo>
                  <a:lnTo>
                    <a:pt x="10024872" y="456"/>
                  </a:lnTo>
                  <a:lnTo>
                    <a:pt x="10029471" y="1371"/>
                  </a:lnTo>
                  <a:lnTo>
                    <a:pt x="10034072" y="2283"/>
                  </a:lnTo>
                  <a:lnTo>
                    <a:pt x="10038540" y="3636"/>
                  </a:lnTo>
                  <a:lnTo>
                    <a:pt x="10042873" y="5432"/>
                  </a:lnTo>
                  <a:lnTo>
                    <a:pt x="10047206" y="7222"/>
                  </a:lnTo>
                  <a:lnTo>
                    <a:pt x="10066049" y="20919"/>
                  </a:lnTo>
                  <a:lnTo>
                    <a:pt x="10069367" y="24235"/>
                  </a:lnTo>
                  <a:lnTo>
                    <a:pt x="10081536" y="44095"/>
                  </a:lnTo>
                  <a:lnTo>
                    <a:pt x="10083331" y="48425"/>
                  </a:lnTo>
                  <a:lnTo>
                    <a:pt x="10084686" y="52894"/>
                  </a:lnTo>
                  <a:lnTo>
                    <a:pt x="10085601" y="57493"/>
                  </a:lnTo>
                  <a:lnTo>
                    <a:pt x="10086516" y="62098"/>
                  </a:lnTo>
                  <a:lnTo>
                    <a:pt x="10086974" y="66744"/>
                  </a:lnTo>
                  <a:lnTo>
                    <a:pt x="10086974" y="71437"/>
                  </a:lnTo>
                  <a:lnTo>
                    <a:pt x="10086974" y="5033962"/>
                  </a:lnTo>
                  <a:lnTo>
                    <a:pt x="10086974" y="5038645"/>
                  </a:lnTo>
                  <a:lnTo>
                    <a:pt x="10086516" y="5043287"/>
                  </a:lnTo>
                  <a:lnTo>
                    <a:pt x="10085601" y="5047886"/>
                  </a:lnTo>
                  <a:lnTo>
                    <a:pt x="10084686" y="5052486"/>
                  </a:lnTo>
                  <a:lnTo>
                    <a:pt x="10074934" y="5073638"/>
                  </a:lnTo>
                  <a:lnTo>
                    <a:pt x="10072328" y="5077540"/>
                  </a:lnTo>
                  <a:lnTo>
                    <a:pt x="10038540" y="5101748"/>
                  </a:lnTo>
                  <a:lnTo>
                    <a:pt x="10029471" y="5104023"/>
                  </a:lnTo>
                  <a:lnTo>
                    <a:pt x="10024872" y="5104939"/>
                  </a:lnTo>
                  <a:lnTo>
                    <a:pt x="10020227" y="5105399"/>
                  </a:lnTo>
                  <a:lnTo>
                    <a:pt x="10015536" y="5105399"/>
                  </a:lnTo>
                  <a:lnTo>
                    <a:pt x="71437" y="5105399"/>
                  </a:lnTo>
                  <a:lnTo>
                    <a:pt x="66746" y="5105399"/>
                  </a:lnTo>
                  <a:lnTo>
                    <a:pt x="62101" y="5104939"/>
                  </a:lnTo>
                  <a:lnTo>
                    <a:pt x="24240" y="5087786"/>
                  </a:lnTo>
                  <a:lnTo>
                    <a:pt x="12039" y="5073638"/>
                  </a:lnTo>
                  <a:lnTo>
                    <a:pt x="9433" y="5069740"/>
                  </a:lnTo>
                  <a:lnTo>
                    <a:pt x="0" y="5038645"/>
                  </a:lnTo>
                  <a:lnTo>
                    <a:pt x="0" y="5033962"/>
                  </a:lnTo>
                  <a:close/>
                </a:path>
              </a:pathLst>
            </a:custGeom>
            <a:ln w="9524">
              <a:solidFill>
                <a:srgbClr val="EFD9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22779" y="1768411"/>
              <a:ext cx="10160" cy="462280"/>
            </a:xfrm>
            <a:custGeom>
              <a:avLst/>
              <a:gdLst/>
              <a:ahLst/>
              <a:cxnLst/>
              <a:rect l="l" t="t" r="r" b="b"/>
              <a:pathLst>
                <a:path w="10159" h="462280">
                  <a:moveTo>
                    <a:pt x="9842" y="460933"/>
                  </a:moveTo>
                  <a:lnTo>
                    <a:pt x="0" y="460933"/>
                  </a:lnTo>
                  <a:lnTo>
                    <a:pt x="0" y="461695"/>
                  </a:lnTo>
                  <a:lnTo>
                    <a:pt x="9842" y="461695"/>
                  </a:lnTo>
                  <a:lnTo>
                    <a:pt x="9842" y="460933"/>
                  </a:lnTo>
                  <a:close/>
                </a:path>
                <a:path w="10159" h="462280">
                  <a:moveTo>
                    <a:pt x="9842" y="364820"/>
                  </a:moveTo>
                  <a:lnTo>
                    <a:pt x="0" y="364820"/>
                  </a:lnTo>
                  <a:lnTo>
                    <a:pt x="0" y="401142"/>
                  </a:lnTo>
                  <a:lnTo>
                    <a:pt x="9842" y="401142"/>
                  </a:lnTo>
                  <a:lnTo>
                    <a:pt x="9842" y="364820"/>
                  </a:lnTo>
                  <a:close/>
                </a:path>
                <a:path w="10159" h="462280">
                  <a:moveTo>
                    <a:pt x="9842" y="302755"/>
                  </a:moveTo>
                  <a:lnTo>
                    <a:pt x="0" y="302755"/>
                  </a:lnTo>
                  <a:lnTo>
                    <a:pt x="0" y="308813"/>
                  </a:lnTo>
                  <a:lnTo>
                    <a:pt x="9842" y="308813"/>
                  </a:lnTo>
                  <a:lnTo>
                    <a:pt x="9842" y="302755"/>
                  </a:lnTo>
                  <a:close/>
                </a:path>
                <a:path w="10159" h="462280">
                  <a:moveTo>
                    <a:pt x="9842" y="268693"/>
                  </a:moveTo>
                  <a:lnTo>
                    <a:pt x="0" y="268693"/>
                  </a:lnTo>
                  <a:lnTo>
                    <a:pt x="0" y="280047"/>
                  </a:lnTo>
                  <a:lnTo>
                    <a:pt x="9842" y="280047"/>
                  </a:lnTo>
                  <a:lnTo>
                    <a:pt x="9842" y="268693"/>
                  </a:lnTo>
                  <a:close/>
                </a:path>
                <a:path w="10159" h="462280">
                  <a:moveTo>
                    <a:pt x="9842" y="181648"/>
                  </a:moveTo>
                  <a:lnTo>
                    <a:pt x="0" y="181648"/>
                  </a:lnTo>
                  <a:lnTo>
                    <a:pt x="0" y="212686"/>
                  </a:lnTo>
                  <a:lnTo>
                    <a:pt x="9842" y="212686"/>
                  </a:lnTo>
                  <a:lnTo>
                    <a:pt x="9842" y="181648"/>
                  </a:lnTo>
                  <a:close/>
                </a:path>
                <a:path w="10159" h="462280">
                  <a:moveTo>
                    <a:pt x="9842" y="76454"/>
                  </a:moveTo>
                  <a:lnTo>
                    <a:pt x="0" y="76454"/>
                  </a:lnTo>
                  <a:lnTo>
                    <a:pt x="0" y="98399"/>
                  </a:lnTo>
                  <a:lnTo>
                    <a:pt x="9842" y="98399"/>
                  </a:lnTo>
                  <a:lnTo>
                    <a:pt x="9842" y="76454"/>
                  </a:lnTo>
                  <a:close/>
                </a:path>
                <a:path w="10159" h="462280">
                  <a:moveTo>
                    <a:pt x="9842" y="0"/>
                  </a:moveTo>
                  <a:lnTo>
                    <a:pt x="0" y="0"/>
                  </a:lnTo>
                  <a:lnTo>
                    <a:pt x="0" y="20447"/>
                  </a:lnTo>
                  <a:lnTo>
                    <a:pt x="9842" y="20447"/>
                  </a:lnTo>
                  <a:lnTo>
                    <a:pt x="9842" y="0"/>
                  </a:lnTo>
                  <a:close/>
                </a:path>
              </a:pathLst>
            </a:custGeom>
            <a:solidFill>
              <a:srgbClr val="BD5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7704" y="2252806"/>
              <a:ext cx="0" cy="3550285"/>
            </a:xfrm>
            <a:custGeom>
              <a:avLst/>
              <a:gdLst/>
              <a:ahLst/>
              <a:cxnLst/>
              <a:rect l="l" t="t" r="r" b="b"/>
              <a:pathLst>
                <a:path h="3550285">
                  <a:moveTo>
                    <a:pt x="0" y="0"/>
                  </a:moveTo>
                  <a:lnTo>
                    <a:pt x="0" y="3549710"/>
                  </a:lnTo>
                </a:path>
              </a:pathLst>
            </a:custGeom>
            <a:ln w="9839">
              <a:solidFill>
                <a:srgbClr val="BD582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61042" y="1788846"/>
              <a:ext cx="5266055" cy="56515"/>
            </a:xfrm>
            <a:custGeom>
              <a:avLst/>
              <a:gdLst/>
              <a:ahLst/>
              <a:cxnLst/>
              <a:rect l="l" t="t" r="r" b="b"/>
              <a:pathLst>
                <a:path w="5266055" h="56514">
                  <a:moveTo>
                    <a:pt x="5260051" y="56008"/>
                  </a:moveTo>
                  <a:lnTo>
                    <a:pt x="5478" y="56008"/>
                  </a:lnTo>
                  <a:lnTo>
                    <a:pt x="3694" y="55269"/>
                  </a:lnTo>
                  <a:lnTo>
                    <a:pt x="738" y="52313"/>
                  </a:lnTo>
                  <a:lnTo>
                    <a:pt x="0" y="50529"/>
                  </a:lnTo>
                  <a:lnTo>
                    <a:pt x="0" y="5478"/>
                  </a:lnTo>
                  <a:lnTo>
                    <a:pt x="738" y="3694"/>
                  </a:lnTo>
                  <a:lnTo>
                    <a:pt x="3694" y="738"/>
                  </a:lnTo>
                  <a:lnTo>
                    <a:pt x="5478" y="0"/>
                  </a:lnTo>
                  <a:lnTo>
                    <a:pt x="7568" y="0"/>
                  </a:lnTo>
                  <a:lnTo>
                    <a:pt x="5260051" y="0"/>
                  </a:lnTo>
                  <a:lnTo>
                    <a:pt x="5261835" y="738"/>
                  </a:lnTo>
                  <a:lnTo>
                    <a:pt x="5264790" y="3694"/>
                  </a:lnTo>
                  <a:lnTo>
                    <a:pt x="5265529" y="5478"/>
                  </a:lnTo>
                  <a:lnTo>
                    <a:pt x="5265529" y="50529"/>
                  </a:lnTo>
                  <a:lnTo>
                    <a:pt x="5264790" y="52313"/>
                  </a:lnTo>
                  <a:lnTo>
                    <a:pt x="5261835" y="55269"/>
                  </a:lnTo>
                  <a:lnTo>
                    <a:pt x="5260051" y="56008"/>
                  </a:lnTo>
                  <a:close/>
                </a:path>
              </a:pathLst>
            </a:custGeom>
            <a:solidFill>
              <a:srgbClr val="E382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44025" y="1772332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0.661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61042" y="1884968"/>
            <a:ext cx="5153660" cy="56515"/>
          </a:xfrm>
          <a:custGeom>
            <a:avLst/>
            <a:gdLst/>
            <a:ahLst/>
            <a:cxnLst/>
            <a:rect l="l" t="t" r="r" b="b"/>
            <a:pathLst>
              <a:path w="5153659" h="56514">
                <a:moveTo>
                  <a:pt x="5148034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5148034" y="0"/>
                </a:lnTo>
                <a:lnTo>
                  <a:pt x="5149818" y="738"/>
                </a:lnTo>
                <a:lnTo>
                  <a:pt x="5152774" y="3694"/>
                </a:lnTo>
                <a:lnTo>
                  <a:pt x="5153513" y="5478"/>
                </a:lnTo>
                <a:lnTo>
                  <a:pt x="5153513" y="50529"/>
                </a:lnTo>
                <a:lnTo>
                  <a:pt x="5152774" y="52313"/>
                </a:lnTo>
                <a:lnTo>
                  <a:pt x="5149818" y="55269"/>
                </a:lnTo>
                <a:lnTo>
                  <a:pt x="5148034" y="56008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32106" y="1868475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0.657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61042" y="1981090"/>
            <a:ext cx="5081270" cy="56515"/>
          </a:xfrm>
          <a:custGeom>
            <a:avLst/>
            <a:gdLst/>
            <a:ahLst/>
            <a:cxnLst/>
            <a:rect l="l" t="t" r="r" b="b"/>
            <a:pathLst>
              <a:path w="5081270" h="56514">
                <a:moveTo>
                  <a:pt x="5075375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5075375" y="0"/>
                </a:lnTo>
                <a:lnTo>
                  <a:pt x="5077159" y="738"/>
                </a:lnTo>
                <a:lnTo>
                  <a:pt x="5080115" y="3694"/>
                </a:lnTo>
                <a:lnTo>
                  <a:pt x="5080854" y="5478"/>
                </a:lnTo>
                <a:lnTo>
                  <a:pt x="5080854" y="50529"/>
                </a:lnTo>
                <a:lnTo>
                  <a:pt x="5080115" y="52313"/>
                </a:lnTo>
                <a:lnTo>
                  <a:pt x="5077159" y="55269"/>
                </a:lnTo>
                <a:lnTo>
                  <a:pt x="5075375" y="56008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59329" y="1964469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0.654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61042" y="2077224"/>
            <a:ext cx="4924425" cy="152400"/>
          </a:xfrm>
          <a:custGeom>
            <a:avLst/>
            <a:gdLst/>
            <a:ahLst/>
            <a:cxnLst/>
            <a:rect l="l" t="t" r="r" b="b"/>
            <a:pathLst>
              <a:path w="4924425" h="152400">
                <a:moveTo>
                  <a:pt x="4903736" y="101600"/>
                </a:moveTo>
                <a:lnTo>
                  <a:pt x="4903000" y="99809"/>
                </a:lnTo>
                <a:lnTo>
                  <a:pt x="4900041" y="96850"/>
                </a:lnTo>
                <a:lnTo>
                  <a:pt x="4898263" y="96113"/>
                </a:lnTo>
                <a:lnTo>
                  <a:pt x="7569" y="96113"/>
                </a:lnTo>
                <a:lnTo>
                  <a:pt x="5473" y="96113"/>
                </a:lnTo>
                <a:lnTo>
                  <a:pt x="3695" y="96850"/>
                </a:lnTo>
                <a:lnTo>
                  <a:pt x="736" y="99809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24"/>
                </a:lnTo>
                <a:lnTo>
                  <a:pt x="3695" y="151384"/>
                </a:lnTo>
                <a:lnTo>
                  <a:pt x="5473" y="152120"/>
                </a:lnTo>
                <a:lnTo>
                  <a:pt x="4898263" y="152120"/>
                </a:lnTo>
                <a:lnTo>
                  <a:pt x="4900041" y="151384"/>
                </a:lnTo>
                <a:lnTo>
                  <a:pt x="4903000" y="148424"/>
                </a:lnTo>
                <a:lnTo>
                  <a:pt x="4903736" y="146646"/>
                </a:lnTo>
                <a:lnTo>
                  <a:pt x="4903736" y="101600"/>
                </a:lnTo>
                <a:close/>
              </a:path>
              <a:path w="4924425" h="152400">
                <a:moveTo>
                  <a:pt x="4924171" y="5473"/>
                </a:moveTo>
                <a:lnTo>
                  <a:pt x="4923434" y="3683"/>
                </a:lnTo>
                <a:lnTo>
                  <a:pt x="4920488" y="736"/>
                </a:lnTo>
                <a:lnTo>
                  <a:pt x="4918697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83"/>
                </a:lnTo>
                <a:lnTo>
                  <a:pt x="0" y="5473"/>
                </a:lnTo>
                <a:lnTo>
                  <a:pt x="0" y="50520"/>
                </a:lnTo>
                <a:lnTo>
                  <a:pt x="736" y="52311"/>
                </a:lnTo>
                <a:lnTo>
                  <a:pt x="3695" y="55257"/>
                </a:lnTo>
                <a:lnTo>
                  <a:pt x="5473" y="56007"/>
                </a:lnTo>
                <a:lnTo>
                  <a:pt x="4918697" y="56007"/>
                </a:lnTo>
                <a:lnTo>
                  <a:pt x="4920488" y="55257"/>
                </a:lnTo>
                <a:lnTo>
                  <a:pt x="4923434" y="52311"/>
                </a:lnTo>
                <a:lnTo>
                  <a:pt x="4924171" y="50520"/>
                </a:lnTo>
                <a:lnTo>
                  <a:pt x="4924171" y="5473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582224" y="2029849"/>
            <a:ext cx="180340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0.647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0.647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61042" y="2269457"/>
            <a:ext cx="4867275" cy="56515"/>
          </a:xfrm>
          <a:custGeom>
            <a:avLst/>
            <a:gdLst/>
            <a:ahLst/>
            <a:cxnLst/>
            <a:rect l="l" t="t" r="r" b="b"/>
            <a:pathLst>
              <a:path w="4867275" h="56514">
                <a:moveTo>
                  <a:pt x="4861182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861182" y="0"/>
                </a:lnTo>
                <a:lnTo>
                  <a:pt x="4862965" y="738"/>
                </a:lnTo>
                <a:lnTo>
                  <a:pt x="4865921" y="3694"/>
                </a:lnTo>
                <a:lnTo>
                  <a:pt x="4866660" y="5478"/>
                </a:lnTo>
                <a:lnTo>
                  <a:pt x="4866660" y="50529"/>
                </a:lnTo>
                <a:lnTo>
                  <a:pt x="4865921" y="52313"/>
                </a:lnTo>
                <a:lnTo>
                  <a:pt x="4862965" y="55269"/>
                </a:lnTo>
                <a:lnTo>
                  <a:pt x="4861182" y="56008"/>
                </a:lnTo>
                <a:close/>
              </a:path>
            </a:pathLst>
          </a:custGeom>
          <a:solidFill>
            <a:srgbClr val="BD5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45166" y="2252898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61042" y="2366336"/>
            <a:ext cx="4821555" cy="56515"/>
          </a:xfrm>
          <a:custGeom>
            <a:avLst/>
            <a:gdLst/>
            <a:ahLst/>
            <a:cxnLst/>
            <a:rect l="l" t="t" r="r" b="b"/>
            <a:pathLst>
              <a:path w="4821555" h="56514">
                <a:moveTo>
                  <a:pt x="4815770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815770" y="0"/>
                </a:lnTo>
                <a:lnTo>
                  <a:pt x="4817554" y="738"/>
                </a:lnTo>
                <a:lnTo>
                  <a:pt x="4820509" y="3694"/>
                </a:lnTo>
                <a:lnTo>
                  <a:pt x="4821248" y="5478"/>
                </a:lnTo>
                <a:lnTo>
                  <a:pt x="4821248" y="50529"/>
                </a:lnTo>
                <a:lnTo>
                  <a:pt x="4820509" y="52313"/>
                </a:lnTo>
                <a:lnTo>
                  <a:pt x="4817554" y="55269"/>
                </a:lnTo>
                <a:lnTo>
                  <a:pt x="4815770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99773" y="2349041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0.643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61042" y="2462458"/>
            <a:ext cx="4774565" cy="56515"/>
          </a:xfrm>
          <a:custGeom>
            <a:avLst/>
            <a:gdLst/>
            <a:ahLst/>
            <a:cxnLst/>
            <a:rect l="l" t="t" r="r" b="b"/>
            <a:pathLst>
              <a:path w="4774565" h="56514">
                <a:moveTo>
                  <a:pt x="4768843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768843" y="0"/>
                </a:lnTo>
                <a:lnTo>
                  <a:pt x="4770627" y="738"/>
                </a:lnTo>
                <a:lnTo>
                  <a:pt x="4773583" y="3694"/>
                </a:lnTo>
                <a:lnTo>
                  <a:pt x="4774322" y="5478"/>
                </a:lnTo>
                <a:lnTo>
                  <a:pt x="4774322" y="50529"/>
                </a:lnTo>
                <a:lnTo>
                  <a:pt x="4773583" y="52313"/>
                </a:lnTo>
                <a:lnTo>
                  <a:pt x="4770627" y="55269"/>
                </a:lnTo>
                <a:lnTo>
                  <a:pt x="4768843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452892" y="2445928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0.641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61042" y="2558580"/>
            <a:ext cx="4730115" cy="56515"/>
          </a:xfrm>
          <a:custGeom>
            <a:avLst/>
            <a:gdLst/>
            <a:ahLst/>
            <a:cxnLst/>
            <a:rect l="l" t="t" r="r" b="b"/>
            <a:pathLst>
              <a:path w="4730115" h="56514">
                <a:moveTo>
                  <a:pt x="4724189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724189" y="0"/>
                </a:lnTo>
                <a:lnTo>
                  <a:pt x="4725973" y="738"/>
                </a:lnTo>
                <a:lnTo>
                  <a:pt x="4728928" y="3694"/>
                </a:lnTo>
                <a:lnTo>
                  <a:pt x="4729667" y="5478"/>
                </a:lnTo>
                <a:lnTo>
                  <a:pt x="4729667" y="50529"/>
                </a:lnTo>
                <a:lnTo>
                  <a:pt x="4728928" y="52313"/>
                </a:lnTo>
                <a:lnTo>
                  <a:pt x="4725973" y="55269"/>
                </a:lnTo>
                <a:lnTo>
                  <a:pt x="4724189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408244" y="2542071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0.640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61042" y="2654703"/>
            <a:ext cx="4690110" cy="56515"/>
          </a:xfrm>
          <a:custGeom>
            <a:avLst/>
            <a:gdLst/>
            <a:ahLst/>
            <a:cxnLst/>
            <a:rect l="l" t="t" r="r" b="b"/>
            <a:pathLst>
              <a:path w="4690109" h="56514">
                <a:moveTo>
                  <a:pt x="4684074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684074" y="0"/>
                </a:lnTo>
                <a:lnTo>
                  <a:pt x="4685858" y="738"/>
                </a:lnTo>
                <a:lnTo>
                  <a:pt x="4688814" y="3694"/>
                </a:lnTo>
                <a:lnTo>
                  <a:pt x="4689553" y="5478"/>
                </a:lnTo>
                <a:lnTo>
                  <a:pt x="4689553" y="50529"/>
                </a:lnTo>
                <a:lnTo>
                  <a:pt x="4688814" y="52313"/>
                </a:lnTo>
                <a:lnTo>
                  <a:pt x="4685858" y="55269"/>
                </a:lnTo>
                <a:lnTo>
                  <a:pt x="4684074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68060" y="2638214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0.638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61042" y="2750825"/>
            <a:ext cx="4620260" cy="56515"/>
          </a:xfrm>
          <a:custGeom>
            <a:avLst/>
            <a:gdLst/>
            <a:ahLst/>
            <a:cxnLst/>
            <a:rect l="l" t="t" r="r" b="b"/>
            <a:pathLst>
              <a:path w="4620259" h="56514">
                <a:moveTo>
                  <a:pt x="4614443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614443" y="0"/>
                </a:lnTo>
                <a:lnTo>
                  <a:pt x="4616227" y="738"/>
                </a:lnTo>
                <a:lnTo>
                  <a:pt x="4619183" y="3694"/>
                </a:lnTo>
                <a:lnTo>
                  <a:pt x="4619921" y="5478"/>
                </a:lnTo>
                <a:lnTo>
                  <a:pt x="4619921" y="50529"/>
                </a:lnTo>
                <a:lnTo>
                  <a:pt x="4619183" y="52313"/>
                </a:lnTo>
                <a:lnTo>
                  <a:pt x="4616227" y="55269"/>
                </a:lnTo>
                <a:lnTo>
                  <a:pt x="4614443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298408" y="2734208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0.635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61042" y="2846958"/>
            <a:ext cx="4530090" cy="152400"/>
          </a:xfrm>
          <a:custGeom>
            <a:avLst/>
            <a:gdLst/>
            <a:ahLst/>
            <a:cxnLst/>
            <a:rect l="l" t="t" r="r" b="b"/>
            <a:pathLst>
              <a:path w="4530090" h="152400">
                <a:moveTo>
                  <a:pt x="4529848" y="101600"/>
                </a:moveTo>
                <a:lnTo>
                  <a:pt x="4529112" y="99809"/>
                </a:lnTo>
                <a:lnTo>
                  <a:pt x="4526153" y="96850"/>
                </a:lnTo>
                <a:lnTo>
                  <a:pt x="4524375" y="96113"/>
                </a:lnTo>
                <a:lnTo>
                  <a:pt x="7569" y="96113"/>
                </a:lnTo>
                <a:lnTo>
                  <a:pt x="5473" y="96113"/>
                </a:lnTo>
                <a:lnTo>
                  <a:pt x="3695" y="96850"/>
                </a:lnTo>
                <a:lnTo>
                  <a:pt x="736" y="99809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24"/>
                </a:lnTo>
                <a:lnTo>
                  <a:pt x="3695" y="151384"/>
                </a:lnTo>
                <a:lnTo>
                  <a:pt x="5473" y="152120"/>
                </a:lnTo>
                <a:lnTo>
                  <a:pt x="4524375" y="152120"/>
                </a:lnTo>
                <a:lnTo>
                  <a:pt x="4526153" y="151384"/>
                </a:lnTo>
                <a:lnTo>
                  <a:pt x="4529112" y="148424"/>
                </a:lnTo>
                <a:lnTo>
                  <a:pt x="4529848" y="146646"/>
                </a:lnTo>
                <a:lnTo>
                  <a:pt x="4529848" y="101600"/>
                </a:lnTo>
                <a:close/>
              </a:path>
              <a:path w="4530090" h="152400">
                <a:moveTo>
                  <a:pt x="4529848" y="5473"/>
                </a:moveTo>
                <a:lnTo>
                  <a:pt x="4529112" y="3683"/>
                </a:lnTo>
                <a:lnTo>
                  <a:pt x="4526153" y="736"/>
                </a:lnTo>
                <a:lnTo>
                  <a:pt x="4524375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83"/>
                </a:lnTo>
                <a:lnTo>
                  <a:pt x="0" y="5473"/>
                </a:lnTo>
                <a:lnTo>
                  <a:pt x="0" y="50520"/>
                </a:lnTo>
                <a:lnTo>
                  <a:pt x="736" y="52311"/>
                </a:lnTo>
                <a:lnTo>
                  <a:pt x="3695" y="55257"/>
                </a:lnTo>
                <a:lnTo>
                  <a:pt x="5473" y="56007"/>
                </a:lnTo>
                <a:lnTo>
                  <a:pt x="4524375" y="56007"/>
                </a:lnTo>
                <a:lnTo>
                  <a:pt x="4526153" y="55257"/>
                </a:lnTo>
                <a:lnTo>
                  <a:pt x="4529112" y="52311"/>
                </a:lnTo>
                <a:lnTo>
                  <a:pt x="4529848" y="50520"/>
                </a:lnTo>
                <a:lnTo>
                  <a:pt x="4529848" y="5473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208367" y="2799588"/>
            <a:ext cx="160020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0.632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0.632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61042" y="3039960"/>
            <a:ext cx="4474845" cy="344805"/>
          </a:xfrm>
          <a:custGeom>
            <a:avLst/>
            <a:gdLst/>
            <a:ahLst/>
            <a:cxnLst/>
            <a:rect l="l" t="t" r="r" b="b"/>
            <a:pathLst>
              <a:path w="4474845" h="344804">
                <a:moveTo>
                  <a:pt x="4447349" y="293839"/>
                </a:moveTo>
                <a:lnTo>
                  <a:pt x="4446613" y="292049"/>
                </a:lnTo>
                <a:lnTo>
                  <a:pt x="4443654" y="289102"/>
                </a:lnTo>
                <a:lnTo>
                  <a:pt x="4441876" y="288366"/>
                </a:lnTo>
                <a:lnTo>
                  <a:pt x="7569" y="288366"/>
                </a:lnTo>
                <a:lnTo>
                  <a:pt x="5473" y="288366"/>
                </a:lnTo>
                <a:lnTo>
                  <a:pt x="3695" y="289102"/>
                </a:lnTo>
                <a:lnTo>
                  <a:pt x="736" y="292049"/>
                </a:lnTo>
                <a:lnTo>
                  <a:pt x="0" y="293839"/>
                </a:lnTo>
                <a:lnTo>
                  <a:pt x="0" y="338886"/>
                </a:lnTo>
                <a:lnTo>
                  <a:pt x="736" y="340677"/>
                </a:lnTo>
                <a:lnTo>
                  <a:pt x="3695" y="343623"/>
                </a:lnTo>
                <a:lnTo>
                  <a:pt x="5473" y="344373"/>
                </a:lnTo>
                <a:lnTo>
                  <a:pt x="4441876" y="344373"/>
                </a:lnTo>
                <a:lnTo>
                  <a:pt x="4443654" y="343623"/>
                </a:lnTo>
                <a:lnTo>
                  <a:pt x="4446613" y="340677"/>
                </a:lnTo>
                <a:lnTo>
                  <a:pt x="4447349" y="338886"/>
                </a:lnTo>
                <a:lnTo>
                  <a:pt x="4447349" y="293839"/>
                </a:lnTo>
                <a:close/>
              </a:path>
              <a:path w="4474845" h="344804">
                <a:moveTo>
                  <a:pt x="4457192" y="197713"/>
                </a:moveTo>
                <a:lnTo>
                  <a:pt x="4456455" y="195935"/>
                </a:lnTo>
                <a:lnTo>
                  <a:pt x="4453496" y="192976"/>
                </a:lnTo>
                <a:lnTo>
                  <a:pt x="4451705" y="192239"/>
                </a:lnTo>
                <a:lnTo>
                  <a:pt x="7569" y="192239"/>
                </a:lnTo>
                <a:lnTo>
                  <a:pt x="5473" y="192239"/>
                </a:lnTo>
                <a:lnTo>
                  <a:pt x="3695" y="192976"/>
                </a:lnTo>
                <a:lnTo>
                  <a:pt x="736" y="195935"/>
                </a:lnTo>
                <a:lnTo>
                  <a:pt x="0" y="197713"/>
                </a:lnTo>
                <a:lnTo>
                  <a:pt x="0" y="242773"/>
                </a:lnTo>
                <a:lnTo>
                  <a:pt x="736" y="244551"/>
                </a:lnTo>
                <a:lnTo>
                  <a:pt x="3695" y="247510"/>
                </a:lnTo>
                <a:lnTo>
                  <a:pt x="5473" y="248246"/>
                </a:lnTo>
                <a:lnTo>
                  <a:pt x="4451705" y="248246"/>
                </a:lnTo>
                <a:lnTo>
                  <a:pt x="4453496" y="247510"/>
                </a:lnTo>
                <a:lnTo>
                  <a:pt x="4456455" y="244551"/>
                </a:lnTo>
                <a:lnTo>
                  <a:pt x="4457192" y="242773"/>
                </a:lnTo>
                <a:lnTo>
                  <a:pt x="4457192" y="197713"/>
                </a:lnTo>
                <a:close/>
              </a:path>
              <a:path w="4474845" h="344804">
                <a:moveTo>
                  <a:pt x="4474603" y="101600"/>
                </a:moveTo>
                <a:lnTo>
                  <a:pt x="4473854" y="99809"/>
                </a:lnTo>
                <a:lnTo>
                  <a:pt x="4470908" y="96850"/>
                </a:lnTo>
                <a:lnTo>
                  <a:pt x="4469117" y="96113"/>
                </a:lnTo>
                <a:lnTo>
                  <a:pt x="7569" y="96113"/>
                </a:lnTo>
                <a:lnTo>
                  <a:pt x="5473" y="96113"/>
                </a:lnTo>
                <a:lnTo>
                  <a:pt x="3695" y="96850"/>
                </a:lnTo>
                <a:lnTo>
                  <a:pt x="736" y="99809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24"/>
                </a:lnTo>
                <a:lnTo>
                  <a:pt x="3695" y="151384"/>
                </a:lnTo>
                <a:lnTo>
                  <a:pt x="5473" y="152120"/>
                </a:lnTo>
                <a:lnTo>
                  <a:pt x="4469117" y="152120"/>
                </a:lnTo>
                <a:lnTo>
                  <a:pt x="4470908" y="151384"/>
                </a:lnTo>
                <a:lnTo>
                  <a:pt x="4473854" y="148424"/>
                </a:lnTo>
                <a:lnTo>
                  <a:pt x="4474603" y="146646"/>
                </a:lnTo>
                <a:lnTo>
                  <a:pt x="4474603" y="101600"/>
                </a:lnTo>
                <a:close/>
              </a:path>
              <a:path w="4474845" h="344804">
                <a:moveTo>
                  <a:pt x="4474603" y="5473"/>
                </a:moveTo>
                <a:lnTo>
                  <a:pt x="4473854" y="3683"/>
                </a:lnTo>
                <a:lnTo>
                  <a:pt x="4470908" y="736"/>
                </a:lnTo>
                <a:lnTo>
                  <a:pt x="4469117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83"/>
                </a:lnTo>
                <a:lnTo>
                  <a:pt x="0" y="5473"/>
                </a:lnTo>
                <a:lnTo>
                  <a:pt x="0" y="50520"/>
                </a:lnTo>
                <a:lnTo>
                  <a:pt x="736" y="52311"/>
                </a:lnTo>
                <a:lnTo>
                  <a:pt x="3695" y="55257"/>
                </a:lnTo>
                <a:lnTo>
                  <a:pt x="5473" y="56007"/>
                </a:lnTo>
                <a:lnTo>
                  <a:pt x="4469117" y="56007"/>
                </a:lnTo>
                <a:lnTo>
                  <a:pt x="4470908" y="55257"/>
                </a:lnTo>
                <a:lnTo>
                  <a:pt x="4473854" y="52311"/>
                </a:lnTo>
                <a:lnTo>
                  <a:pt x="4474603" y="50520"/>
                </a:lnTo>
                <a:lnTo>
                  <a:pt x="4474603" y="5473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25917" y="2991130"/>
            <a:ext cx="187325" cy="411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0.629</a:t>
            </a:r>
            <a:endParaRPr sz="400">
              <a:latin typeface="Trebuchet MS"/>
              <a:cs typeface="Trebuchet MS"/>
            </a:endParaRPr>
          </a:p>
          <a:p>
            <a:pPr marL="39370">
              <a:lnSpc>
                <a:spcPct val="100000"/>
              </a:lnSpc>
              <a:spcBef>
                <a:spcPts val="284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0.629</a:t>
            </a:r>
            <a:endParaRPr sz="400">
              <a:latin typeface="Trebuchet MS"/>
              <a:cs typeface="Trebuchet MS"/>
            </a:endParaRPr>
          </a:p>
          <a:p>
            <a:pPr marL="22225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0.629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0.628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61042" y="3424437"/>
            <a:ext cx="4443095" cy="56515"/>
          </a:xfrm>
          <a:custGeom>
            <a:avLst/>
            <a:gdLst/>
            <a:ahLst/>
            <a:cxnLst/>
            <a:rect l="l" t="t" r="r" b="b"/>
            <a:pathLst>
              <a:path w="4443095" h="56514">
                <a:moveTo>
                  <a:pt x="4437335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437335" y="0"/>
                </a:lnTo>
                <a:lnTo>
                  <a:pt x="4439119" y="738"/>
                </a:lnTo>
                <a:lnTo>
                  <a:pt x="4442075" y="3694"/>
                </a:lnTo>
                <a:lnTo>
                  <a:pt x="4442814" y="5478"/>
                </a:lnTo>
                <a:lnTo>
                  <a:pt x="4442814" y="50529"/>
                </a:lnTo>
                <a:lnTo>
                  <a:pt x="4442075" y="52313"/>
                </a:lnTo>
                <a:lnTo>
                  <a:pt x="4439119" y="55269"/>
                </a:lnTo>
                <a:lnTo>
                  <a:pt x="4437335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121303" y="3407953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0.628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661042" y="3520566"/>
            <a:ext cx="4208780" cy="152400"/>
          </a:xfrm>
          <a:custGeom>
            <a:avLst/>
            <a:gdLst/>
            <a:ahLst/>
            <a:cxnLst/>
            <a:rect l="l" t="t" r="r" b="b"/>
            <a:pathLst>
              <a:path w="4208780" h="152400">
                <a:moveTo>
                  <a:pt x="4195318" y="101600"/>
                </a:moveTo>
                <a:lnTo>
                  <a:pt x="4194568" y="99822"/>
                </a:lnTo>
                <a:lnTo>
                  <a:pt x="4191622" y="96862"/>
                </a:lnTo>
                <a:lnTo>
                  <a:pt x="4189831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22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37"/>
                </a:lnTo>
                <a:lnTo>
                  <a:pt x="3695" y="151396"/>
                </a:lnTo>
                <a:lnTo>
                  <a:pt x="5473" y="152133"/>
                </a:lnTo>
                <a:lnTo>
                  <a:pt x="4189831" y="152133"/>
                </a:lnTo>
                <a:lnTo>
                  <a:pt x="4191622" y="151396"/>
                </a:lnTo>
                <a:lnTo>
                  <a:pt x="4194568" y="148437"/>
                </a:lnTo>
                <a:lnTo>
                  <a:pt x="4195318" y="146646"/>
                </a:lnTo>
                <a:lnTo>
                  <a:pt x="4195318" y="101600"/>
                </a:lnTo>
                <a:close/>
              </a:path>
              <a:path w="4208780" h="152400">
                <a:moveTo>
                  <a:pt x="4208183" y="5473"/>
                </a:moveTo>
                <a:lnTo>
                  <a:pt x="4207446" y="3695"/>
                </a:lnTo>
                <a:lnTo>
                  <a:pt x="4204487" y="736"/>
                </a:lnTo>
                <a:lnTo>
                  <a:pt x="4202696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73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4202696" y="56007"/>
                </a:lnTo>
                <a:lnTo>
                  <a:pt x="4204487" y="55270"/>
                </a:lnTo>
                <a:lnTo>
                  <a:pt x="4207446" y="52311"/>
                </a:lnTo>
                <a:lnTo>
                  <a:pt x="4208183" y="50533"/>
                </a:lnTo>
                <a:lnTo>
                  <a:pt x="4208183" y="5473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873802" y="3473184"/>
            <a:ext cx="172720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0.619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661042" y="3713568"/>
            <a:ext cx="4140835" cy="152400"/>
          </a:xfrm>
          <a:custGeom>
            <a:avLst/>
            <a:gdLst/>
            <a:ahLst/>
            <a:cxnLst/>
            <a:rect l="l" t="t" r="r" b="b"/>
            <a:pathLst>
              <a:path w="4140834" h="152400">
                <a:moveTo>
                  <a:pt x="4115841" y="101600"/>
                </a:moveTo>
                <a:lnTo>
                  <a:pt x="4115104" y="99809"/>
                </a:lnTo>
                <a:lnTo>
                  <a:pt x="4112145" y="96862"/>
                </a:lnTo>
                <a:lnTo>
                  <a:pt x="4110367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09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37"/>
                </a:lnTo>
                <a:lnTo>
                  <a:pt x="3695" y="151384"/>
                </a:lnTo>
                <a:lnTo>
                  <a:pt x="5473" y="152133"/>
                </a:lnTo>
                <a:lnTo>
                  <a:pt x="4110367" y="152133"/>
                </a:lnTo>
                <a:lnTo>
                  <a:pt x="4112145" y="151384"/>
                </a:lnTo>
                <a:lnTo>
                  <a:pt x="4115104" y="148437"/>
                </a:lnTo>
                <a:lnTo>
                  <a:pt x="4115841" y="146646"/>
                </a:lnTo>
                <a:lnTo>
                  <a:pt x="4115841" y="101600"/>
                </a:lnTo>
                <a:close/>
              </a:path>
              <a:path w="4140834" h="152400">
                <a:moveTo>
                  <a:pt x="4140822" y="5473"/>
                </a:moveTo>
                <a:lnTo>
                  <a:pt x="4140085" y="3695"/>
                </a:lnTo>
                <a:lnTo>
                  <a:pt x="4137126" y="736"/>
                </a:lnTo>
                <a:lnTo>
                  <a:pt x="4135336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73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4135336" y="56007"/>
                </a:lnTo>
                <a:lnTo>
                  <a:pt x="4137126" y="55270"/>
                </a:lnTo>
                <a:lnTo>
                  <a:pt x="4140085" y="52311"/>
                </a:lnTo>
                <a:lnTo>
                  <a:pt x="4140822" y="50533"/>
                </a:lnTo>
                <a:lnTo>
                  <a:pt x="4140822" y="5473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94328" y="3664725"/>
            <a:ext cx="184785" cy="2197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0.616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61042" y="3905805"/>
            <a:ext cx="4110990" cy="56515"/>
          </a:xfrm>
          <a:custGeom>
            <a:avLst/>
            <a:gdLst/>
            <a:ahLst/>
            <a:cxnLst/>
            <a:rect l="l" t="t" r="r" b="b"/>
            <a:pathLst>
              <a:path w="4110990" h="56514">
                <a:moveTo>
                  <a:pt x="4105070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105070" y="0"/>
                </a:lnTo>
                <a:lnTo>
                  <a:pt x="4106854" y="738"/>
                </a:lnTo>
                <a:lnTo>
                  <a:pt x="4109810" y="3694"/>
                </a:lnTo>
                <a:lnTo>
                  <a:pt x="4110549" y="5478"/>
                </a:lnTo>
                <a:lnTo>
                  <a:pt x="4110549" y="50529"/>
                </a:lnTo>
                <a:lnTo>
                  <a:pt x="4109810" y="52313"/>
                </a:lnTo>
                <a:lnTo>
                  <a:pt x="4106854" y="55269"/>
                </a:lnTo>
                <a:lnTo>
                  <a:pt x="4105070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89119" y="3889263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61042" y="4001927"/>
            <a:ext cx="4016375" cy="56515"/>
          </a:xfrm>
          <a:custGeom>
            <a:avLst/>
            <a:gdLst/>
            <a:ahLst/>
            <a:cxnLst/>
            <a:rect l="l" t="t" r="r" b="b"/>
            <a:pathLst>
              <a:path w="4016375" h="56514">
                <a:moveTo>
                  <a:pt x="4010462" y="56007"/>
                </a:moveTo>
                <a:lnTo>
                  <a:pt x="5478" y="56007"/>
                </a:lnTo>
                <a:lnTo>
                  <a:pt x="3694" y="55268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4010462" y="0"/>
                </a:lnTo>
                <a:lnTo>
                  <a:pt x="4012246" y="738"/>
                </a:lnTo>
                <a:lnTo>
                  <a:pt x="4015202" y="3694"/>
                </a:lnTo>
                <a:lnTo>
                  <a:pt x="4015941" y="5478"/>
                </a:lnTo>
                <a:lnTo>
                  <a:pt x="4015941" y="50529"/>
                </a:lnTo>
                <a:lnTo>
                  <a:pt x="4015202" y="52313"/>
                </a:lnTo>
                <a:lnTo>
                  <a:pt x="4012246" y="55268"/>
                </a:lnTo>
                <a:lnTo>
                  <a:pt x="4010462" y="56007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694464" y="3985406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0.611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661042" y="4098049"/>
            <a:ext cx="3894454" cy="56515"/>
          </a:xfrm>
          <a:custGeom>
            <a:avLst/>
            <a:gdLst/>
            <a:ahLst/>
            <a:cxnLst/>
            <a:rect l="l" t="t" r="r" b="b"/>
            <a:pathLst>
              <a:path w="3894454" h="56514">
                <a:moveTo>
                  <a:pt x="3888606" y="56007"/>
                </a:moveTo>
                <a:lnTo>
                  <a:pt x="5478" y="56007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888606" y="0"/>
                </a:lnTo>
                <a:lnTo>
                  <a:pt x="3890390" y="738"/>
                </a:lnTo>
                <a:lnTo>
                  <a:pt x="3893346" y="3694"/>
                </a:lnTo>
                <a:lnTo>
                  <a:pt x="3894085" y="5478"/>
                </a:lnTo>
                <a:lnTo>
                  <a:pt x="3894085" y="50529"/>
                </a:lnTo>
                <a:lnTo>
                  <a:pt x="3893346" y="52313"/>
                </a:lnTo>
                <a:lnTo>
                  <a:pt x="3890390" y="55269"/>
                </a:lnTo>
                <a:lnTo>
                  <a:pt x="3888606" y="56007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572574" y="4081549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0.606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661042" y="4194172"/>
            <a:ext cx="3863975" cy="56515"/>
          </a:xfrm>
          <a:custGeom>
            <a:avLst/>
            <a:gdLst/>
            <a:ahLst/>
            <a:cxnLst/>
            <a:rect l="l" t="t" r="r" b="b"/>
            <a:pathLst>
              <a:path w="3863975" h="56514">
                <a:moveTo>
                  <a:pt x="3858332" y="56007"/>
                </a:moveTo>
                <a:lnTo>
                  <a:pt x="5478" y="56007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858332" y="0"/>
                </a:lnTo>
                <a:lnTo>
                  <a:pt x="3860116" y="738"/>
                </a:lnTo>
                <a:lnTo>
                  <a:pt x="3863071" y="3694"/>
                </a:lnTo>
                <a:lnTo>
                  <a:pt x="3863810" y="5478"/>
                </a:lnTo>
                <a:lnTo>
                  <a:pt x="3863810" y="50529"/>
                </a:lnTo>
                <a:lnTo>
                  <a:pt x="3863071" y="52313"/>
                </a:lnTo>
                <a:lnTo>
                  <a:pt x="3860116" y="55269"/>
                </a:lnTo>
                <a:lnTo>
                  <a:pt x="3858332" y="56007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542362" y="4177692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0.605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661042" y="4290294"/>
            <a:ext cx="3862070" cy="56515"/>
          </a:xfrm>
          <a:custGeom>
            <a:avLst/>
            <a:gdLst/>
            <a:ahLst/>
            <a:cxnLst/>
            <a:rect l="l" t="t" r="r" b="b"/>
            <a:pathLst>
              <a:path w="3862070" h="56514">
                <a:moveTo>
                  <a:pt x="3856061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856061" y="0"/>
                </a:lnTo>
                <a:lnTo>
                  <a:pt x="3857845" y="738"/>
                </a:lnTo>
                <a:lnTo>
                  <a:pt x="3860801" y="3694"/>
                </a:lnTo>
                <a:lnTo>
                  <a:pt x="3861540" y="5478"/>
                </a:lnTo>
                <a:lnTo>
                  <a:pt x="3861540" y="50529"/>
                </a:lnTo>
                <a:lnTo>
                  <a:pt x="3860801" y="52313"/>
                </a:lnTo>
                <a:lnTo>
                  <a:pt x="3857845" y="55269"/>
                </a:lnTo>
                <a:lnTo>
                  <a:pt x="3856061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540129" y="4273686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0.605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61042" y="4387176"/>
            <a:ext cx="3686810" cy="152400"/>
          </a:xfrm>
          <a:custGeom>
            <a:avLst/>
            <a:gdLst/>
            <a:ahLst/>
            <a:cxnLst/>
            <a:rect l="l" t="t" r="r" b="b"/>
            <a:pathLst>
              <a:path w="3686809" h="152400">
                <a:moveTo>
                  <a:pt x="3661727" y="101600"/>
                </a:moveTo>
                <a:lnTo>
                  <a:pt x="3660978" y="99822"/>
                </a:lnTo>
                <a:lnTo>
                  <a:pt x="3658031" y="96862"/>
                </a:lnTo>
                <a:lnTo>
                  <a:pt x="3656241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22"/>
                </a:lnTo>
                <a:lnTo>
                  <a:pt x="0" y="101600"/>
                </a:lnTo>
                <a:lnTo>
                  <a:pt x="0" y="146659"/>
                </a:lnTo>
                <a:lnTo>
                  <a:pt x="736" y="148437"/>
                </a:lnTo>
                <a:lnTo>
                  <a:pt x="3695" y="151396"/>
                </a:lnTo>
                <a:lnTo>
                  <a:pt x="5473" y="152133"/>
                </a:lnTo>
                <a:lnTo>
                  <a:pt x="3656241" y="152133"/>
                </a:lnTo>
                <a:lnTo>
                  <a:pt x="3658031" y="151396"/>
                </a:lnTo>
                <a:lnTo>
                  <a:pt x="3660978" y="148437"/>
                </a:lnTo>
                <a:lnTo>
                  <a:pt x="3661727" y="146659"/>
                </a:lnTo>
                <a:lnTo>
                  <a:pt x="3661727" y="101600"/>
                </a:lnTo>
                <a:close/>
              </a:path>
              <a:path w="3686809" h="152400">
                <a:moveTo>
                  <a:pt x="3686695" y="5486"/>
                </a:moveTo>
                <a:lnTo>
                  <a:pt x="3685959" y="3695"/>
                </a:lnTo>
                <a:lnTo>
                  <a:pt x="3683000" y="736"/>
                </a:lnTo>
                <a:lnTo>
                  <a:pt x="3681222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86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3681222" y="56007"/>
                </a:lnTo>
                <a:lnTo>
                  <a:pt x="3683000" y="55270"/>
                </a:lnTo>
                <a:lnTo>
                  <a:pt x="3685959" y="52311"/>
                </a:lnTo>
                <a:lnTo>
                  <a:pt x="3686695" y="50533"/>
                </a:lnTo>
                <a:lnTo>
                  <a:pt x="3686695" y="5486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340253" y="4338322"/>
            <a:ext cx="184785" cy="2197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0.598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0.597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661042" y="4579418"/>
            <a:ext cx="3402329" cy="56515"/>
          </a:xfrm>
          <a:custGeom>
            <a:avLst/>
            <a:gdLst/>
            <a:ahLst/>
            <a:cxnLst/>
            <a:rect l="l" t="t" r="r" b="b"/>
            <a:pathLst>
              <a:path w="3402329" h="56514">
                <a:moveTo>
                  <a:pt x="3396642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396642" y="0"/>
                </a:lnTo>
                <a:lnTo>
                  <a:pt x="3398426" y="738"/>
                </a:lnTo>
                <a:lnTo>
                  <a:pt x="3401381" y="3694"/>
                </a:lnTo>
                <a:lnTo>
                  <a:pt x="3402120" y="5478"/>
                </a:lnTo>
                <a:lnTo>
                  <a:pt x="3402120" y="50529"/>
                </a:lnTo>
                <a:lnTo>
                  <a:pt x="3401381" y="52313"/>
                </a:lnTo>
                <a:lnTo>
                  <a:pt x="3398426" y="55269"/>
                </a:lnTo>
                <a:lnTo>
                  <a:pt x="3396642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080697" y="4562859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0.586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661042" y="4675542"/>
            <a:ext cx="3357879" cy="152400"/>
          </a:xfrm>
          <a:custGeom>
            <a:avLst/>
            <a:gdLst/>
            <a:ahLst/>
            <a:cxnLst/>
            <a:rect l="l" t="t" r="r" b="b"/>
            <a:pathLst>
              <a:path w="3357879" h="152400">
                <a:moveTo>
                  <a:pt x="3344595" y="101600"/>
                </a:moveTo>
                <a:lnTo>
                  <a:pt x="3343859" y="99822"/>
                </a:lnTo>
                <a:lnTo>
                  <a:pt x="3340900" y="96862"/>
                </a:lnTo>
                <a:lnTo>
                  <a:pt x="3339109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22"/>
                </a:lnTo>
                <a:lnTo>
                  <a:pt x="0" y="101600"/>
                </a:lnTo>
                <a:lnTo>
                  <a:pt x="0" y="146659"/>
                </a:lnTo>
                <a:lnTo>
                  <a:pt x="736" y="148437"/>
                </a:lnTo>
                <a:lnTo>
                  <a:pt x="3695" y="151396"/>
                </a:lnTo>
                <a:lnTo>
                  <a:pt x="5473" y="152133"/>
                </a:lnTo>
                <a:lnTo>
                  <a:pt x="3339109" y="152133"/>
                </a:lnTo>
                <a:lnTo>
                  <a:pt x="3340900" y="151396"/>
                </a:lnTo>
                <a:lnTo>
                  <a:pt x="3343859" y="148437"/>
                </a:lnTo>
                <a:lnTo>
                  <a:pt x="3344595" y="146659"/>
                </a:lnTo>
                <a:lnTo>
                  <a:pt x="3344595" y="101600"/>
                </a:lnTo>
                <a:close/>
              </a:path>
              <a:path w="3357879" h="152400">
                <a:moveTo>
                  <a:pt x="3357461" y="5486"/>
                </a:moveTo>
                <a:lnTo>
                  <a:pt x="3356724" y="3695"/>
                </a:lnTo>
                <a:lnTo>
                  <a:pt x="3353765" y="736"/>
                </a:lnTo>
                <a:lnTo>
                  <a:pt x="3351987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86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3351987" y="56007"/>
                </a:lnTo>
                <a:lnTo>
                  <a:pt x="3353765" y="55270"/>
                </a:lnTo>
                <a:lnTo>
                  <a:pt x="3356724" y="52311"/>
                </a:lnTo>
                <a:lnTo>
                  <a:pt x="3357461" y="50533"/>
                </a:lnTo>
                <a:lnTo>
                  <a:pt x="3357461" y="5486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023100" y="4628239"/>
            <a:ext cx="172720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0.585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0.584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661042" y="4867784"/>
            <a:ext cx="3320415" cy="56515"/>
          </a:xfrm>
          <a:custGeom>
            <a:avLst/>
            <a:gdLst/>
            <a:ahLst/>
            <a:cxnLst/>
            <a:rect l="l" t="t" r="r" b="b"/>
            <a:pathLst>
              <a:path w="3320415" h="56514">
                <a:moveTo>
                  <a:pt x="3314901" y="56007"/>
                </a:moveTo>
                <a:lnTo>
                  <a:pt x="5478" y="56007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314901" y="0"/>
                </a:lnTo>
                <a:lnTo>
                  <a:pt x="3316684" y="738"/>
                </a:lnTo>
                <a:lnTo>
                  <a:pt x="3319640" y="3694"/>
                </a:lnTo>
                <a:lnTo>
                  <a:pt x="3320379" y="5478"/>
                </a:lnTo>
                <a:lnTo>
                  <a:pt x="3320379" y="50529"/>
                </a:lnTo>
                <a:lnTo>
                  <a:pt x="3319640" y="52313"/>
                </a:lnTo>
                <a:lnTo>
                  <a:pt x="3316684" y="55269"/>
                </a:lnTo>
                <a:lnTo>
                  <a:pt x="3314901" y="56007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998990" y="4851288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0.583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661042" y="4963907"/>
            <a:ext cx="3195955" cy="56515"/>
          </a:xfrm>
          <a:custGeom>
            <a:avLst/>
            <a:gdLst/>
            <a:ahLst/>
            <a:cxnLst/>
            <a:rect l="l" t="t" r="r" b="b"/>
            <a:pathLst>
              <a:path w="3195954" h="56514">
                <a:moveTo>
                  <a:pt x="3190017" y="56008"/>
                </a:moveTo>
                <a:lnTo>
                  <a:pt x="5478" y="56008"/>
                </a:lnTo>
                <a:lnTo>
                  <a:pt x="3694" y="55268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190017" y="0"/>
                </a:lnTo>
                <a:lnTo>
                  <a:pt x="3191801" y="738"/>
                </a:lnTo>
                <a:lnTo>
                  <a:pt x="3194756" y="3694"/>
                </a:lnTo>
                <a:lnTo>
                  <a:pt x="3195496" y="5478"/>
                </a:lnTo>
                <a:lnTo>
                  <a:pt x="3195496" y="50529"/>
                </a:lnTo>
                <a:lnTo>
                  <a:pt x="3194756" y="52313"/>
                </a:lnTo>
                <a:lnTo>
                  <a:pt x="3191801" y="55268"/>
                </a:lnTo>
                <a:lnTo>
                  <a:pt x="3190017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873974" y="4947431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0.578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661042" y="5060786"/>
            <a:ext cx="3188335" cy="56515"/>
          </a:xfrm>
          <a:custGeom>
            <a:avLst/>
            <a:gdLst/>
            <a:ahLst/>
            <a:cxnLst/>
            <a:rect l="l" t="t" r="r" b="b"/>
            <a:pathLst>
              <a:path w="3188334" h="56514">
                <a:moveTo>
                  <a:pt x="3182449" y="56007"/>
                </a:moveTo>
                <a:lnTo>
                  <a:pt x="5478" y="56007"/>
                </a:lnTo>
                <a:lnTo>
                  <a:pt x="3694" y="55268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3182449" y="0"/>
                </a:lnTo>
                <a:lnTo>
                  <a:pt x="3184233" y="738"/>
                </a:lnTo>
                <a:lnTo>
                  <a:pt x="3187188" y="3694"/>
                </a:lnTo>
                <a:lnTo>
                  <a:pt x="3187927" y="5478"/>
                </a:lnTo>
                <a:lnTo>
                  <a:pt x="3187927" y="50529"/>
                </a:lnTo>
                <a:lnTo>
                  <a:pt x="3187188" y="52313"/>
                </a:lnTo>
                <a:lnTo>
                  <a:pt x="3184233" y="55268"/>
                </a:lnTo>
                <a:lnTo>
                  <a:pt x="3182449" y="56007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866533" y="5043425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0.578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661042" y="5156908"/>
            <a:ext cx="2988310" cy="56515"/>
          </a:xfrm>
          <a:custGeom>
            <a:avLst/>
            <a:gdLst/>
            <a:ahLst/>
            <a:cxnLst/>
            <a:rect l="l" t="t" r="r" b="b"/>
            <a:pathLst>
              <a:path w="2988309" h="56514">
                <a:moveTo>
                  <a:pt x="2982635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2982635" y="0"/>
                </a:lnTo>
                <a:lnTo>
                  <a:pt x="2984419" y="738"/>
                </a:lnTo>
                <a:lnTo>
                  <a:pt x="2987375" y="3694"/>
                </a:lnTo>
                <a:lnTo>
                  <a:pt x="2988114" y="5478"/>
                </a:lnTo>
                <a:lnTo>
                  <a:pt x="2988114" y="50529"/>
                </a:lnTo>
                <a:lnTo>
                  <a:pt x="2987375" y="52313"/>
                </a:lnTo>
                <a:lnTo>
                  <a:pt x="2984419" y="55269"/>
                </a:lnTo>
                <a:lnTo>
                  <a:pt x="2982635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666657" y="5140312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0.570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661042" y="5253037"/>
            <a:ext cx="2619375" cy="152400"/>
          </a:xfrm>
          <a:custGeom>
            <a:avLst/>
            <a:gdLst/>
            <a:ahLst/>
            <a:cxnLst/>
            <a:rect l="l" t="t" r="r" b="b"/>
            <a:pathLst>
              <a:path w="2619375" h="152400">
                <a:moveTo>
                  <a:pt x="2611945" y="101600"/>
                </a:moveTo>
                <a:lnTo>
                  <a:pt x="2611209" y="99822"/>
                </a:lnTo>
                <a:lnTo>
                  <a:pt x="2608249" y="96862"/>
                </a:lnTo>
                <a:lnTo>
                  <a:pt x="2606471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22"/>
                </a:lnTo>
                <a:lnTo>
                  <a:pt x="0" y="101600"/>
                </a:lnTo>
                <a:lnTo>
                  <a:pt x="0" y="146646"/>
                </a:lnTo>
                <a:lnTo>
                  <a:pt x="736" y="148437"/>
                </a:lnTo>
                <a:lnTo>
                  <a:pt x="3695" y="151396"/>
                </a:lnTo>
                <a:lnTo>
                  <a:pt x="5473" y="152133"/>
                </a:lnTo>
                <a:lnTo>
                  <a:pt x="2606471" y="152133"/>
                </a:lnTo>
                <a:lnTo>
                  <a:pt x="2608249" y="151396"/>
                </a:lnTo>
                <a:lnTo>
                  <a:pt x="2611209" y="148437"/>
                </a:lnTo>
                <a:lnTo>
                  <a:pt x="2611945" y="146646"/>
                </a:lnTo>
                <a:lnTo>
                  <a:pt x="2611945" y="101600"/>
                </a:lnTo>
                <a:close/>
              </a:path>
              <a:path w="2619375" h="152400">
                <a:moveTo>
                  <a:pt x="2618752" y="5473"/>
                </a:moveTo>
                <a:lnTo>
                  <a:pt x="2618016" y="3695"/>
                </a:lnTo>
                <a:lnTo>
                  <a:pt x="2615057" y="736"/>
                </a:lnTo>
                <a:lnTo>
                  <a:pt x="2613279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73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2613279" y="56007"/>
                </a:lnTo>
                <a:lnTo>
                  <a:pt x="2615057" y="55270"/>
                </a:lnTo>
                <a:lnTo>
                  <a:pt x="2618016" y="52311"/>
                </a:lnTo>
                <a:lnTo>
                  <a:pt x="2618752" y="50533"/>
                </a:lnTo>
                <a:lnTo>
                  <a:pt x="2618752" y="5473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290568" y="5205692"/>
            <a:ext cx="167005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0.555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0.555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661042" y="5445277"/>
            <a:ext cx="2412365" cy="152400"/>
          </a:xfrm>
          <a:custGeom>
            <a:avLst/>
            <a:gdLst/>
            <a:ahLst/>
            <a:cxnLst/>
            <a:rect l="l" t="t" r="r" b="b"/>
            <a:pathLst>
              <a:path w="2412365" h="152400">
                <a:moveTo>
                  <a:pt x="2412136" y="101600"/>
                </a:moveTo>
                <a:lnTo>
                  <a:pt x="2411399" y="99822"/>
                </a:lnTo>
                <a:lnTo>
                  <a:pt x="2408440" y="96862"/>
                </a:lnTo>
                <a:lnTo>
                  <a:pt x="2406650" y="96126"/>
                </a:lnTo>
                <a:lnTo>
                  <a:pt x="7569" y="96126"/>
                </a:lnTo>
                <a:lnTo>
                  <a:pt x="5473" y="96126"/>
                </a:lnTo>
                <a:lnTo>
                  <a:pt x="3695" y="96862"/>
                </a:lnTo>
                <a:lnTo>
                  <a:pt x="736" y="99822"/>
                </a:lnTo>
                <a:lnTo>
                  <a:pt x="0" y="101600"/>
                </a:lnTo>
                <a:lnTo>
                  <a:pt x="0" y="146659"/>
                </a:lnTo>
                <a:lnTo>
                  <a:pt x="736" y="148437"/>
                </a:lnTo>
                <a:lnTo>
                  <a:pt x="3695" y="151396"/>
                </a:lnTo>
                <a:lnTo>
                  <a:pt x="5473" y="152133"/>
                </a:lnTo>
                <a:lnTo>
                  <a:pt x="2406650" y="152133"/>
                </a:lnTo>
                <a:lnTo>
                  <a:pt x="2408440" y="151396"/>
                </a:lnTo>
                <a:lnTo>
                  <a:pt x="2411399" y="148437"/>
                </a:lnTo>
                <a:lnTo>
                  <a:pt x="2412136" y="146659"/>
                </a:lnTo>
                <a:lnTo>
                  <a:pt x="2412136" y="101600"/>
                </a:lnTo>
                <a:close/>
              </a:path>
              <a:path w="2412365" h="152400">
                <a:moveTo>
                  <a:pt x="2412136" y="5486"/>
                </a:moveTo>
                <a:lnTo>
                  <a:pt x="2411399" y="3695"/>
                </a:lnTo>
                <a:lnTo>
                  <a:pt x="2408440" y="736"/>
                </a:lnTo>
                <a:lnTo>
                  <a:pt x="2406650" y="0"/>
                </a:lnTo>
                <a:lnTo>
                  <a:pt x="7569" y="0"/>
                </a:lnTo>
                <a:lnTo>
                  <a:pt x="5473" y="0"/>
                </a:lnTo>
                <a:lnTo>
                  <a:pt x="3695" y="736"/>
                </a:lnTo>
                <a:lnTo>
                  <a:pt x="736" y="3695"/>
                </a:lnTo>
                <a:lnTo>
                  <a:pt x="0" y="5486"/>
                </a:lnTo>
                <a:lnTo>
                  <a:pt x="0" y="50533"/>
                </a:lnTo>
                <a:lnTo>
                  <a:pt x="736" y="52311"/>
                </a:lnTo>
                <a:lnTo>
                  <a:pt x="3695" y="55270"/>
                </a:lnTo>
                <a:lnTo>
                  <a:pt x="5473" y="56007"/>
                </a:lnTo>
                <a:lnTo>
                  <a:pt x="2406650" y="56007"/>
                </a:lnTo>
                <a:lnTo>
                  <a:pt x="2408440" y="55270"/>
                </a:lnTo>
                <a:lnTo>
                  <a:pt x="2411399" y="52311"/>
                </a:lnTo>
                <a:lnTo>
                  <a:pt x="2412136" y="50533"/>
                </a:lnTo>
                <a:lnTo>
                  <a:pt x="2412136" y="5486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6090692" y="5397978"/>
            <a:ext cx="160020" cy="21780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0.547</a:t>
            </a:r>
            <a:endParaRPr sz="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0.547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661042" y="5637519"/>
            <a:ext cx="1454150" cy="56515"/>
          </a:xfrm>
          <a:custGeom>
            <a:avLst/>
            <a:gdLst/>
            <a:ahLst/>
            <a:cxnLst/>
            <a:rect l="l" t="t" r="r" b="b"/>
            <a:pathLst>
              <a:path w="1454150" h="56514">
                <a:moveTo>
                  <a:pt x="1448464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1448464" y="0"/>
                </a:lnTo>
                <a:lnTo>
                  <a:pt x="1450248" y="738"/>
                </a:lnTo>
                <a:lnTo>
                  <a:pt x="1453204" y="3694"/>
                </a:lnTo>
                <a:lnTo>
                  <a:pt x="1453943" y="5478"/>
                </a:lnTo>
                <a:lnTo>
                  <a:pt x="1453943" y="50529"/>
                </a:lnTo>
                <a:lnTo>
                  <a:pt x="1453204" y="52313"/>
                </a:lnTo>
                <a:lnTo>
                  <a:pt x="1450248" y="55269"/>
                </a:lnTo>
                <a:lnTo>
                  <a:pt x="1448464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5132537" y="5621027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0.508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971255" y="1742159"/>
            <a:ext cx="657225" cy="406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5595" algn="r">
              <a:lnSpc>
                <a:spcPct val="140100"/>
              </a:lnSpc>
              <a:spcBef>
                <a:spcPts val="100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S5_proj192 S10_stride1s S4_drop_low S2_no_sched S5_proj32_enc32 </a:t>
            </a:r>
            <a:r>
              <a:rPr sz="450" dirty="0">
                <a:solidFill>
                  <a:srgbClr val="1A1A1A"/>
                </a:solidFill>
                <a:latin typeface="Consolas"/>
                <a:cs typeface="Consolas"/>
              </a:rPr>
              <a:t>A0_baseline</a:t>
            </a:r>
            <a:r>
              <a:rPr sz="450" spc="-30" dirty="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(served)</a:t>
            </a:r>
            <a:endParaRPr sz="45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215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S5_blocks1</a:t>
            </a:r>
            <a:endParaRPr sz="450">
              <a:latin typeface="Consolas"/>
              <a:cs typeface="Consolas"/>
            </a:endParaRPr>
          </a:p>
          <a:p>
            <a:pPr marL="233679" marR="5080" indent="62865" algn="r">
              <a:lnSpc>
                <a:spcPct val="140300"/>
              </a:lnSpc>
              <a:spcBef>
                <a:spcPts val="5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S4_drop_mid S7_md010 S8_noise20 S3_wd0 S2_longer_p15 S2_longer_p25 S6_mlp_concat S2_cosine S3_wd01 S3_wd003 S1_bs64_lr1e3 S8_noise10</a:t>
            </a:r>
            <a:endParaRPr sz="450">
              <a:latin typeface="Consolas"/>
              <a:cs typeface="Consolas"/>
            </a:endParaRPr>
          </a:p>
          <a:p>
            <a:pPr marL="138430">
              <a:lnSpc>
                <a:spcPct val="100000"/>
              </a:lnSpc>
              <a:spcBef>
                <a:spcPts val="219"/>
              </a:spcBef>
            </a:pPr>
            <a:r>
              <a:rPr sz="450" dirty="0">
                <a:solidFill>
                  <a:srgbClr val="1A1A1A"/>
                </a:solidFill>
                <a:latin typeface="Consolas"/>
                <a:cs typeface="Consolas"/>
              </a:rPr>
              <a:t>S9_dann01</a:t>
            </a:r>
            <a:r>
              <a:rPr sz="450" spc="-25" dirty="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(DANN)</a:t>
            </a:r>
            <a:endParaRPr sz="45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215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S10_win8s</a:t>
            </a:r>
            <a:endParaRPr sz="450">
              <a:latin typeface="Consolas"/>
              <a:cs typeface="Consolas"/>
            </a:endParaRPr>
          </a:p>
          <a:p>
            <a:pPr marL="75565" marR="5080" indent="125730" algn="r">
              <a:lnSpc>
                <a:spcPct val="140200"/>
              </a:lnSpc>
              <a:spcBef>
                <a:spcPts val="5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S7_md_eeg_only S10_norm_after_log</a:t>
            </a:r>
            <a:endParaRPr sz="450">
              <a:latin typeface="Consolas"/>
              <a:cs typeface="Consolas"/>
            </a:endParaRPr>
          </a:p>
          <a:p>
            <a:pPr marL="201930" marR="5080" indent="189230" algn="r">
              <a:lnSpc>
                <a:spcPct val="140200"/>
              </a:lnSpc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S7_md020 S5_proj48 S10_calib_norm</a:t>
            </a:r>
            <a:endParaRPr sz="450">
              <a:latin typeface="Consolas"/>
              <a:cs typeface="Consolas"/>
            </a:endParaRPr>
          </a:p>
          <a:p>
            <a:pPr marL="422909" marR="5080" indent="-63500" algn="r">
              <a:lnSpc>
                <a:spcPts val="760"/>
              </a:lnSpc>
              <a:spcBef>
                <a:spcPts val="60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S8_smooth S1_bs64</a:t>
            </a:r>
            <a:endParaRPr sz="450">
              <a:latin typeface="Consolas"/>
              <a:cs typeface="Consolas"/>
            </a:endParaRPr>
          </a:p>
          <a:p>
            <a:pPr marL="138430">
              <a:lnSpc>
                <a:spcPct val="100000"/>
              </a:lnSpc>
              <a:spcBef>
                <a:spcPts val="155"/>
              </a:spcBef>
            </a:pPr>
            <a:r>
              <a:rPr sz="450" dirty="0">
                <a:solidFill>
                  <a:srgbClr val="1A1A1A"/>
                </a:solidFill>
                <a:latin typeface="Consolas"/>
                <a:cs typeface="Consolas"/>
              </a:rPr>
              <a:t>S9_dann05</a:t>
            </a:r>
            <a:r>
              <a:rPr sz="450" spc="-25" dirty="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(DANN)</a:t>
            </a:r>
            <a:endParaRPr sz="450">
              <a:latin typeface="Consolas"/>
              <a:cs typeface="Consolas"/>
            </a:endParaRPr>
          </a:p>
          <a:p>
            <a:pPr marL="138430" marR="5080" indent="252095" algn="r">
              <a:lnSpc>
                <a:spcPct val="140300"/>
              </a:lnSpc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S1_bs128 S3_wd005 S5_blocks3 S8_noise0 S10_no_hbr </a:t>
            </a:r>
            <a:r>
              <a:rPr sz="450" dirty="0">
                <a:solidFill>
                  <a:srgbClr val="1A1A1A"/>
                </a:solidFill>
                <a:latin typeface="Consolas"/>
                <a:cs typeface="Consolas"/>
              </a:rPr>
              <a:t>S9_dann10</a:t>
            </a:r>
            <a:r>
              <a:rPr sz="450" spc="-25" dirty="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(DANN) S10_no_subj_norm</a:t>
            </a:r>
            <a:endParaRPr sz="450">
              <a:latin typeface="Consolas"/>
              <a:cs typeface="Consolas"/>
            </a:endParaRPr>
          </a:p>
          <a:p>
            <a:pPr marL="170180" marR="5080" indent="157480" algn="r">
              <a:lnSpc>
                <a:spcPct val="140200"/>
              </a:lnSpc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S6_cnn_res S1_lr1e4 S6_cnn_res_attn S6_cnn_wide S4_drop_high</a:t>
            </a:r>
            <a:endParaRPr sz="45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215"/>
              </a:spcBef>
            </a:pPr>
            <a:r>
              <a:rPr sz="450" spc="-10" dirty="0">
                <a:solidFill>
                  <a:srgbClr val="1A1A1A"/>
                </a:solidFill>
                <a:latin typeface="Consolas"/>
                <a:cs typeface="Consolas"/>
              </a:rPr>
              <a:t>S6_cnn</a:t>
            </a:r>
            <a:endParaRPr sz="450">
              <a:latin typeface="Consolas"/>
              <a:cs typeface="Consola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661042" y="5734398"/>
            <a:ext cx="713740" cy="56515"/>
          </a:xfrm>
          <a:custGeom>
            <a:avLst/>
            <a:gdLst/>
            <a:ahLst/>
            <a:cxnLst/>
            <a:rect l="l" t="t" r="r" b="b"/>
            <a:pathLst>
              <a:path w="713739" h="56514">
                <a:moveTo>
                  <a:pt x="708247" y="56008"/>
                </a:moveTo>
                <a:lnTo>
                  <a:pt x="5478" y="56008"/>
                </a:lnTo>
                <a:lnTo>
                  <a:pt x="3694" y="55269"/>
                </a:lnTo>
                <a:lnTo>
                  <a:pt x="738" y="52313"/>
                </a:lnTo>
                <a:lnTo>
                  <a:pt x="0" y="50529"/>
                </a:lnTo>
                <a:lnTo>
                  <a:pt x="0" y="5478"/>
                </a:lnTo>
                <a:lnTo>
                  <a:pt x="738" y="3694"/>
                </a:lnTo>
                <a:lnTo>
                  <a:pt x="3694" y="738"/>
                </a:lnTo>
                <a:lnTo>
                  <a:pt x="5478" y="0"/>
                </a:lnTo>
                <a:lnTo>
                  <a:pt x="7568" y="0"/>
                </a:lnTo>
                <a:lnTo>
                  <a:pt x="708247" y="0"/>
                </a:lnTo>
                <a:lnTo>
                  <a:pt x="710031" y="738"/>
                </a:lnTo>
                <a:lnTo>
                  <a:pt x="712987" y="3694"/>
                </a:lnTo>
                <a:lnTo>
                  <a:pt x="713726" y="5478"/>
                </a:lnTo>
                <a:lnTo>
                  <a:pt x="713726" y="50529"/>
                </a:lnTo>
                <a:lnTo>
                  <a:pt x="712987" y="52313"/>
                </a:lnTo>
                <a:lnTo>
                  <a:pt x="710031" y="55269"/>
                </a:lnTo>
                <a:lnTo>
                  <a:pt x="708247" y="56008"/>
                </a:lnTo>
                <a:close/>
              </a:path>
            </a:pathLst>
          </a:custGeom>
          <a:solidFill>
            <a:srgbClr val="E7C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392266" y="5717021"/>
            <a:ext cx="16002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999999"/>
                </a:solidFill>
                <a:latin typeface="Trebuchet MS"/>
                <a:cs typeface="Trebuchet MS"/>
              </a:rPr>
              <a:t>0.479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652341" y="1352613"/>
            <a:ext cx="5314315" cy="36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42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controlled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arms</a:t>
            </a:r>
            <a:r>
              <a:rPr sz="1100" b="1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vs.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the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served</a:t>
            </a:r>
            <a:r>
              <a:rPr sz="1100" b="1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baseline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—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development</a:t>
            </a:r>
            <a:r>
              <a:rPr sz="1100" b="1" spc="-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LOSO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BD582B"/>
                </a:solidFill>
                <a:latin typeface="Trebuchet MS"/>
                <a:cs typeface="Trebuchet MS"/>
              </a:rPr>
              <a:t>macro</a:t>
            </a:r>
            <a:r>
              <a:rPr sz="1100" b="1" spc="-3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BD582B"/>
                </a:solidFill>
                <a:latin typeface="Trebuchet MS"/>
                <a:cs typeface="Trebuchet MS"/>
              </a:rPr>
              <a:t>F1</a:t>
            </a:r>
            <a:endParaRPr sz="11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755"/>
              </a:spcBef>
            </a:pPr>
            <a:r>
              <a:rPr sz="500" b="1" dirty="0">
                <a:solidFill>
                  <a:srgbClr val="BD582B"/>
                </a:solidFill>
                <a:latin typeface="Trebuchet MS"/>
                <a:cs typeface="Trebuchet MS"/>
              </a:rPr>
              <a:t>baseline</a:t>
            </a:r>
            <a:r>
              <a:rPr sz="500" b="1" spc="10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500" b="1" dirty="0">
                <a:solidFill>
                  <a:srgbClr val="BD582B"/>
                </a:solidFill>
                <a:latin typeface="Trebuchet MS"/>
                <a:cs typeface="Trebuchet MS"/>
              </a:rPr>
              <a:t>(served)</a:t>
            </a:r>
            <a:r>
              <a:rPr sz="500" b="1" spc="10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500" b="1" dirty="0">
                <a:solidFill>
                  <a:srgbClr val="BD582B"/>
                </a:solidFill>
                <a:latin typeface="Trebuchet MS"/>
                <a:cs typeface="Trebuchet MS"/>
              </a:rPr>
              <a:t>=</a:t>
            </a:r>
            <a:r>
              <a:rPr sz="500" b="1" spc="110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500" b="1" spc="-10" dirty="0">
                <a:solidFill>
                  <a:srgbClr val="BD582B"/>
                </a:solidFill>
                <a:latin typeface="Trebuchet MS"/>
                <a:cs typeface="Trebuchet MS"/>
              </a:rPr>
              <a:t>0.6451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01898" y="5975381"/>
            <a:ext cx="9587865" cy="2882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695450" marR="5080" indent="-1683385">
              <a:lnSpc>
                <a:spcPct val="102899"/>
              </a:lnSpc>
              <a:spcBef>
                <a:spcPts val="70"/>
              </a:spcBef>
            </a:pP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Orange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=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at/above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baseline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·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tan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=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below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baseline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·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burnt-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orange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=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served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baseline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(A0).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None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of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42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variants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(DANN,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architecture,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capacity,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augmentation,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normalization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axes)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cleared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85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20" dirty="0">
                <a:solidFill>
                  <a:srgbClr val="878787"/>
                </a:solidFill>
                <a:latin typeface="Trebuchet MS"/>
                <a:cs typeface="Trebuchet MS"/>
              </a:rPr>
              <a:t>one-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standard-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error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acceptance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35" dirty="0">
                <a:solidFill>
                  <a:srgbClr val="878787"/>
                </a:solidFill>
                <a:latin typeface="Trebuchet MS"/>
                <a:cs typeface="Trebuchet MS"/>
              </a:rPr>
              <a:t>bar,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so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the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plain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Hybrid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network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is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what's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served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—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documented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negative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result,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not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a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gap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878787"/>
                </a:solidFill>
                <a:latin typeface="Trebuchet MS"/>
                <a:cs typeface="Trebuchet MS"/>
              </a:rPr>
              <a:t>to</a:t>
            </a:r>
            <a:r>
              <a:rPr sz="85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878787"/>
                </a:solidFill>
                <a:latin typeface="Trebuchet MS"/>
                <a:cs typeface="Trebuchet MS"/>
              </a:rPr>
              <a:t>hide.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74" name="object 74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53" y="47688"/>
            <a:ext cx="2763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Cognitive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Load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Estimation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from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EEG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878787"/>
                </a:solidFill>
                <a:latin typeface="Trebuchet MS"/>
                <a:cs typeface="Trebuchet MS"/>
              </a:rPr>
              <a:t>+</a:t>
            </a:r>
            <a:r>
              <a:rPr sz="1100" spc="-1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878787"/>
                </a:solidFill>
                <a:latin typeface="Trebuchet MS"/>
                <a:cs typeface="Trebuchet MS"/>
              </a:rPr>
              <a:t>fNIRS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30429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422" y="1840864"/>
            <a:ext cx="10003155" cy="293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70" marR="273685" indent="-205104">
              <a:lnSpc>
                <a:spcPct val="120400"/>
              </a:lnSpc>
              <a:spcBef>
                <a:spcPts val="100"/>
              </a:spcBef>
              <a:buAutoNum type="arabicPeriod"/>
              <a:tabLst>
                <a:tab pos="217170" algn="l"/>
              </a:tabLst>
            </a:pP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J.</a:t>
            </a:r>
            <a:r>
              <a:rPr sz="1350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Shin,</a:t>
            </a:r>
            <a:r>
              <a:rPr sz="1350" spc="-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A.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von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Lühmann,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B.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Blankertz,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D.-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W.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Kim,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J.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Jang,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H.-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J.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Hwang,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K.-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R.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Müller,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“Simultaneous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acquisition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of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EEG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NIRS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during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cognitive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tasks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for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open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access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dataset,”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Scientific</a:t>
            </a:r>
            <a:r>
              <a:rPr sz="1350" i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Data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vol.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5,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no.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180003,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2018.</a:t>
            </a:r>
            <a:endParaRPr sz="1350">
              <a:latin typeface="Trebuchet MS"/>
              <a:cs typeface="Trebuchet MS"/>
            </a:endParaRPr>
          </a:p>
          <a:p>
            <a:pPr marL="217170" marR="594995" indent="-205104">
              <a:lnSpc>
                <a:spcPct val="115700"/>
              </a:lnSpc>
              <a:spcBef>
                <a:spcPts val="1425"/>
              </a:spcBef>
              <a:buAutoNum type="arabicPeriod"/>
              <a:tabLst>
                <a:tab pos="217170" algn="l"/>
              </a:tabLst>
            </a:pPr>
            <a:r>
              <a:rPr sz="1350" spc="-125" dirty="0">
                <a:solidFill>
                  <a:srgbClr val="1A1A1A"/>
                </a:solidFill>
                <a:latin typeface="Trebuchet MS"/>
                <a:cs typeface="Trebuchet MS"/>
              </a:rPr>
              <a:t>Y.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 Ganin</a:t>
            </a:r>
            <a:r>
              <a:rPr sz="1350" spc="-5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5" dirty="0">
                <a:solidFill>
                  <a:srgbClr val="1A1A1A"/>
                </a:solidFill>
                <a:latin typeface="Trebuchet MS"/>
                <a:cs typeface="Trebuchet MS"/>
              </a:rPr>
              <a:t>V.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Lempitsky,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“Unsupervised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Domain</a:t>
            </a:r>
            <a:r>
              <a:rPr sz="1350" spc="-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Adaptation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by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Backpropagation,”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in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Proc.</a:t>
            </a:r>
            <a:r>
              <a:rPr sz="1350" i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32nd</a:t>
            </a:r>
            <a:r>
              <a:rPr sz="1350" i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Int.</a:t>
            </a:r>
            <a:r>
              <a:rPr sz="1350" i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Conf.</a:t>
            </a:r>
            <a:r>
              <a:rPr sz="1350" i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on</a:t>
            </a:r>
            <a:r>
              <a:rPr sz="1350" i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spc="-10" dirty="0">
                <a:solidFill>
                  <a:srgbClr val="1A1A1A"/>
                </a:solidFill>
                <a:latin typeface="Trebuchet MS"/>
                <a:cs typeface="Trebuchet MS"/>
              </a:rPr>
              <a:t>Machine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Learning</a:t>
            </a:r>
            <a:r>
              <a:rPr sz="135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(ICML)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2015,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pp.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1180–1189.</a:t>
            </a:r>
            <a:endParaRPr sz="1350">
              <a:latin typeface="Trebuchet MS"/>
              <a:cs typeface="Trebuchet MS"/>
            </a:endParaRPr>
          </a:p>
          <a:p>
            <a:pPr marL="217170" marR="513080" indent="-205104">
              <a:lnSpc>
                <a:spcPct val="115700"/>
              </a:lnSpc>
              <a:spcBef>
                <a:spcPts val="1500"/>
              </a:spcBef>
              <a:buAutoNum type="arabicPeriod"/>
              <a:tabLst>
                <a:tab pos="217170" algn="l"/>
              </a:tabLst>
            </a:pP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S.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M.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Lundberg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S.-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I.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Lee,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“A</a:t>
            </a:r>
            <a:r>
              <a:rPr sz="1350" spc="-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Unified</a:t>
            </a:r>
            <a:r>
              <a:rPr sz="1350" spc="-9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Approach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to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Interpreting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Model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Predictions,”</a:t>
            </a:r>
            <a:r>
              <a:rPr sz="1350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in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Advances</a:t>
            </a:r>
            <a:r>
              <a:rPr sz="1350" i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in</a:t>
            </a:r>
            <a:r>
              <a:rPr sz="1350" i="1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Neural</a:t>
            </a:r>
            <a:r>
              <a:rPr sz="1350" i="1" spc="-1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spc="-10" dirty="0">
                <a:solidFill>
                  <a:srgbClr val="1A1A1A"/>
                </a:solidFill>
                <a:latin typeface="Trebuchet MS"/>
                <a:cs typeface="Trebuchet MS"/>
              </a:rPr>
              <a:t>Information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Processing</a:t>
            </a:r>
            <a:r>
              <a:rPr sz="1350" i="1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Systems</a:t>
            </a:r>
            <a:r>
              <a:rPr sz="1350" i="1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(NeurIPS)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,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2017,</a:t>
            </a:r>
            <a:r>
              <a:rPr sz="1350" spc="-4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pp.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4765–4774.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1A1A1A"/>
              </a:buClr>
              <a:buFont typeface="Trebuchet MS"/>
              <a:buAutoNum type="arabicPeriod"/>
            </a:pPr>
            <a:endParaRPr sz="1350">
              <a:latin typeface="Trebuchet MS"/>
              <a:cs typeface="Trebuchet MS"/>
            </a:endParaRPr>
          </a:p>
          <a:p>
            <a:pPr marL="217804" indent="-205104">
              <a:lnSpc>
                <a:spcPct val="100000"/>
              </a:lnSpc>
              <a:buAutoNum type="arabicPeriod"/>
              <a:tabLst>
                <a:tab pos="217804" algn="l"/>
              </a:tabLst>
            </a:pP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L.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Breiman,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“Random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Forests,”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Machine</a:t>
            </a:r>
            <a:r>
              <a:rPr sz="135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Learning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,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vol.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45,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no.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1,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pp.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5–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32,</a:t>
            </a:r>
            <a:r>
              <a:rPr sz="1350" spc="-3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2001.</a:t>
            </a:r>
            <a:endParaRPr sz="1350">
              <a:latin typeface="Trebuchet MS"/>
              <a:cs typeface="Trebuchet MS"/>
            </a:endParaRPr>
          </a:p>
          <a:p>
            <a:pPr marL="217170" marR="5080" indent="-205104">
              <a:lnSpc>
                <a:spcPct val="120400"/>
              </a:lnSpc>
              <a:spcBef>
                <a:spcPts val="1350"/>
              </a:spcBef>
              <a:buAutoNum type="arabicPeriod"/>
              <a:tabLst>
                <a:tab pos="217170" algn="l"/>
              </a:tabLst>
            </a:pP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R.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M.</a:t>
            </a:r>
            <a:r>
              <a:rPr sz="1350" spc="-5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Yerkes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J.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D.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Dodson,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“The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relation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of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strength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of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stimulus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to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rapidity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of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habit-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formation,”</a:t>
            </a:r>
            <a:r>
              <a:rPr sz="1350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J.</a:t>
            </a:r>
            <a:r>
              <a:rPr sz="135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Comparative</a:t>
            </a:r>
            <a:r>
              <a:rPr sz="1350" i="1" spc="-3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spc="-10" dirty="0">
                <a:solidFill>
                  <a:srgbClr val="1A1A1A"/>
                </a:solidFill>
                <a:latin typeface="Trebuchet MS"/>
                <a:cs typeface="Trebuchet MS"/>
              </a:rPr>
              <a:t>Neurology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and</a:t>
            </a:r>
            <a:r>
              <a:rPr sz="1350" i="1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i="1" dirty="0">
                <a:solidFill>
                  <a:srgbClr val="1A1A1A"/>
                </a:solidFill>
                <a:latin typeface="Trebuchet MS"/>
                <a:cs typeface="Trebuchet MS"/>
              </a:rPr>
              <a:t>Psychology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vol.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18,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no.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5,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pp.</a:t>
            </a:r>
            <a:r>
              <a:rPr sz="1350" spc="-2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459–</a:t>
            </a:r>
            <a:r>
              <a:rPr sz="1350" dirty="0">
                <a:solidFill>
                  <a:srgbClr val="1A1A1A"/>
                </a:solidFill>
                <a:latin typeface="Trebuchet MS"/>
                <a:cs typeface="Trebuchet MS"/>
              </a:rPr>
              <a:t>482,</a:t>
            </a:r>
            <a:r>
              <a:rPr sz="1350" spc="-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Trebuchet MS"/>
                <a:cs typeface="Trebuchet MS"/>
              </a:rPr>
              <a:t>1908.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5" name="object 5" descr="PES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993" y="123825"/>
            <a:ext cx="679830" cy="962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8823" y="3146456"/>
            <a:ext cx="21139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BD582B"/>
                </a:solidFill>
                <a:latin typeface="Trebuchet MS"/>
                <a:cs typeface="Trebuchet MS"/>
              </a:rPr>
              <a:t>Thank</a:t>
            </a:r>
            <a:r>
              <a:rPr sz="3400" b="1" spc="-125" dirty="0">
                <a:solidFill>
                  <a:srgbClr val="BD582B"/>
                </a:solidFill>
                <a:latin typeface="Trebuchet MS"/>
                <a:cs typeface="Trebuchet MS"/>
              </a:rPr>
              <a:t> </a:t>
            </a:r>
            <a:r>
              <a:rPr sz="3400" b="1" spc="-75" dirty="0">
                <a:solidFill>
                  <a:srgbClr val="BD582B"/>
                </a:solidFill>
                <a:latin typeface="Trebuchet MS"/>
                <a:cs typeface="Trebuchet MS"/>
              </a:rPr>
              <a:t>You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2170</Words>
  <Application>Microsoft Office PowerPoint</Application>
  <PresentationFormat>Widescreen</PresentationFormat>
  <Paragraphs>312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Consolas</vt:lpstr>
      <vt:lpstr>Segoe UI</vt:lpstr>
      <vt:lpstr>Times New Roman</vt:lpstr>
      <vt:lpstr>Trebuchet MS</vt:lpstr>
      <vt:lpstr>Office Theme</vt:lpstr>
      <vt:lpstr>UE22CS441A – Capstone Project Phase – 3</vt:lpstr>
      <vt:lpstr>Outline</vt:lpstr>
      <vt:lpstr>Abstract and Scope</vt:lpstr>
      <vt:lpstr>Summary of Work Done in Capstone Project Phase – 2</vt:lpstr>
      <vt:lpstr>Architecture</vt:lpstr>
      <vt:lpstr>List of Tasks / Modules</vt:lpstr>
      <vt:lpstr>Individual Contribution</vt:lpstr>
      <vt:lpstr>Demonstration and Testing of Completed Modules</vt:lpstr>
      <vt:lpstr>Key Results — Confusion Matrix &amp; Per-Subject Performance</vt:lpstr>
      <vt:lpstr>Explainability — What Drives the Prediction</vt:lpstr>
      <vt:lpstr>Experiment Campaign — Rigor &amp; Negative Results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Phase 3 Review</dc:title>
  <cp:lastModifiedBy>Tejas S</cp:lastModifiedBy>
  <cp:revision>1</cp:revision>
  <dcterms:created xsi:type="dcterms:W3CDTF">2026-08-25T09:25:36Z</dcterms:created>
  <dcterms:modified xsi:type="dcterms:W3CDTF">2026-08-30T12:29:22Z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Mozilla/5.0 (Windows NT 10.0; Win64; x64) AppleWebKit/537.36 (KHTML, like Gecko) HeadlessChrome/151.0.0.0 Safari/537.36</vt:lpwstr>
  </property>
  <property fmtid="{D5CDD505-2E9C-101B-9397-08002B2CF9AE}" pid="4" name="LastSaved">
    <vt:filetime>2026-08-25T00:00:00Z</vt:filetime>
  </property>
  <property fmtid="{D5CDD505-2E9C-101B-9397-08002B2CF9AE}" pid="5" name="Producer">
    <vt:lpwstr>Skia/PDF m151</vt:lpwstr>
  </property>
</Properties>
</file>